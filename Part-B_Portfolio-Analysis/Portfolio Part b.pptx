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Mean Return (%)</c:v>
                </c:pt>
              </c:strCache>
            </c:strRef>
          </c:tx>
          <c:spPr>
            <a:solidFill>
              <a:srgbClr val="1B2A57"/>
            </a:solidFill>
            <a:effectLst/>
          </c:spPr>
          <c:invertIfNegative val="0"/>
          <c:dPt>
            <c:idx val="0"/>
            <c:invertIfNegative val="0"/>
            <c:bubble3D val="0"/>
            <c:extLst>
              <c:ext xmlns:c16="http://schemas.microsoft.com/office/drawing/2014/chart" uri="{C3380CC4-5D6E-409C-BE32-E72D297353CC}">
                <c16:uniqueId val="{00000001-DE38-4F32-9FDF-F4B678FAC254}"/>
              </c:ext>
            </c:extLst>
          </c:dPt>
          <c:dPt>
            <c:idx val="1"/>
            <c:invertIfNegative val="0"/>
            <c:bubble3D val="0"/>
            <c:extLst>
              <c:ext xmlns:c16="http://schemas.microsoft.com/office/drawing/2014/chart" uri="{C3380CC4-5D6E-409C-BE32-E72D297353CC}">
                <c16:uniqueId val="{00000003-DE38-4F32-9FDF-F4B678FAC254}"/>
              </c:ext>
            </c:extLst>
          </c:dPt>
          <c:dPt>
            <c:idx val="2"/>
            <c:invertIfNegative val="0"/>
            <c:bubble3D val="0"/>
            <c:extLst>
              <c:ext xmlns:c16="http://schemas.microsoft.com/office/drawing/2014/chart" uri="{C3380CC4-5D6E-409C-BE32-E72D297353CC}">
                <c16:uniqueId val="{00000005-DE38-4F32-9FDF-F4B678FAC254}"/>
              </c:ext>
            </c:extLst>
          </c:dPt>
          <c:dPt>
            <c:idx val="3"/>
            <c:invertIfNegative val="0"/>
            <c:bubble3D val="0"/>
            <c:extLst>
              <c:ext xmlns:c16="http://schemas.microsoft.com/office/drawing/2014/chart" uri="{C3380CC4-5D6E-409C-BE32-E72D297353CC}">
                <c16:uniqueId val="{00000007-DE38-4F32-9FDF-F4B678FAC254}"/>
              </c:ext>
            </c:extLst>
          </c:dPt>
          <c:dPt>
            <c:idx val="4"/>
            <c:invertIfNegative val="0"/>
            <c:bubble3D val="0"/>
            <c:extLst>
              <c:ext xmlns:c16="http://schemas.microsoft.com/office/drawing/2014/chart" uri="{C3380CC4-5D6E-409C-BE32-E72D297353CC}">
                <c16:uniqueId val="{00000009-DE38-4F32-9FDF-F4B678FAC254}"/>
              </c:ext>
            </c:extLst>
          </c:dPt>
          <c:dPt>
            <c:idx val="5"/>
            <c:invertIfNegative val="0"/>
            <c:bubble3D val="0"/>
            <c:extLst>
              <c:ext xmlns:c16="http://schemas.microsoft.com/office/drawing/2014/chart" uri="{C3380CC4-5D6E-409C-BE32-E72D297353CC}">
                <c16:uniqueId val="{0000000B-DE38-4F32-9FDF-F4B678FAC254}"/>
              </c:ext>
            </c:extLst>
          </c:dPt>
          <c:dPt>
            <c:idx val="6"/>
            <c:invertIfNegative val="0"/>
            <c:bubble3D val="0"/>
            <c:extLst>
              <c:ext xmlns:c16="http://schemas.microsoft.com/office/drawing/2014/chart" uri="{C3380CC4-5D6E-409C-BE32-E72D297353CC}">
                <c16:uniqueId val="{0000000D-DE38-4F32-9FDF-F4B678FAC254}"/>
              </c:ext>
            </c:extLst>
          </c:dPt>
          <c:dPt>
            <c:idx val="7"/>
            <c:invertIfNegative val="0"/>
            <c:bubble3D val="0"/>
            <c:extLst>
              <c:ext xmlns:c16="http://schemas.microsoft.com/office/drawing/2014/chart" uri="{C3380CC4-5D6E-409C-BE32-E72D297353CC}">
                <c16:uniqueId val="{0000000F-DE38-4F32-9FDF-F4B678FAC254}"/>
              </c:ext>
            </c:extLst>
          </c:dPt>
          <c:dPt>
            <c:idx val="8"/>
            <c:invertIfNegative val="0"/>
            <c:bubble3D val="0"/>
            <c:extLst>
              <c:ext xmlns:c16="http://schemas.microsoft.com/office/drawing/2014/chart" uri="{C3380CC4-5D6E-409C-BE32-E72D297353CC}">
                <c16:uniqueId val="{00000011-DE38-4F32-9FDF-F4B678FAC254}"/>
              </c:ext>
            </c:extLst>
          </c:dPt>
          <c:dPt>
            <c:idx val="9"/>
            <c:invertIfNegative val="0"/>
            <c:bubble3D val="0"/>
            <c:extLst>
              <c:ext xmlns:c16="http://schemas.microsoft.com/office/drawing/2014/chart" uri="{C3380CC4-5D6E-409C-BE32-E72D297353CC}">
                <c16:uniqueId val="{00000013-DE38-4F32-9FDF-F4B678FAC254}"/>
              </c:ext>
            </c:extLst>
          </c:dPt>
          <c:dPt>
            <c:idx val="10"/>
            <c:invertIfNegative val="0"/>
            <c:bubble3D val="0"/>
            <c:extLst>
              <c:ext xmlns:c16="http://schemas.microsoft.com/office/drawing/2014/chart" uri="{C3380CC4-5D6E-409C-BE32-E72D297353CC}">
                <c16:uniqueId val="{00000015-DE38-4F32-9FDF-F4B678FAC254}"/>
              </c:ext>
            </c:extLst>
          </c:dPt>
          <c:dPt>
            <c:idx val="11"/>
            <c:invertIfNegative val="0"/>
            <c:bubble3D val="0"/>
            <c:extLst>
              <c:ext xmlns:c16="http://schemas.microsoft.com/office/drawing/2014/chart" uri="{C3380CC4-5D6E-409C-BE32-E72D297353CC}">
                <c16:uniqueId val="{00000017-DE38-4F32-9FDF-F4B678FAC254}"/>
              </c:ext>
            </c:extLst>
          </c:dPt>
          <c:dPt>
            <c:idx val="12"/>
            <c:invertIfNegative val="0"/>
            <c:bubble3D val="0"/>
            <c:extLst>
              <c:ext xmlns:c16="http://schemas.microsoft.com/office/drawing/2014/chart" uri="{C3380CC4-5D6E-409C-BE32-E72D297353CC}">
                <c16:uniqueId val="{00000019-DE38-4F32-9FDF-F4B678FAC254}"/>
              </c:ext>
            </c:extLst>
          </c:dPt>
          <c:dPt>
            <c:idx val="13"/>
            <c:invertIfNegative val="0"/>
            <c:bubble3D val="0"/>
            <c:extLst>
              <c:ext xmlns:c16="http://schemas.microsoft.com/office/drawing/2014/chart" uri="{C3380CC4-5D6E-409C-BE32-E72D297353CC}">
                <c16:uniqueId val="{0000001B-DE38-4F32-9FDF-F4B678FAC254}"/>
              </c:ext>
            </c:extLst>
          </c:dPt>
          <c:dPt>
            <c:idx val="14"/>
            <c:invertIfNegative val="0"/>
            <c:bubble3D val="0"/>
            <c:spPr>
              <a:solidFill>
                <a:srgbClr val="B8934A"/>
              </a:solidFill>
              <a:effectLst/>
            </c:spPr>
            <c:extLst>
              <c:ext xmlns:c16="http://schemas.microsoft.com/office/drawing/2014/chart" uri="{C3380CC4-5D6E-409C-BE32-E72D297353CC}">
                <c16:uniqueId val="{0000001D-DE38-4F32-9FDF-F4B678FAC254}"/>
              </c:ext>
            </c:extLst>
          </c:dPt>
          <c:dPt>
            <c:idx val="15"/>
            <c:invertIfNegative val="0"/>
            <c:bubble3D val="0"/>
            <c:spPr>
              <a:solidFill>
                <a:srgbClr val="8FA0C7"/>
              </a:solidFill>
              <a:effectLst/>
            </c:spPr>
            <c:extLst>
              <c:ext xmlns:c16="http://schemas.microsoft.com/office/drawing/2014/chart" uri="{C3380CC4-5D6E-409C-BE32-E72D297353CC}">
                <c16:uniqueId val="{0000001F-DE38-4F32-9FDF-F4B678FAC254}"/>
              </c:ext>
            </c:extLst>
          </c:dPt>
          <c:dLbls>
            <c:numFmt formatCode="0.00" sourceLinked="0"/>
            <c:spPr>
              <a:noFill/>
              <a:ln>
                <a:noFill/>
              </a:ln>
              <a:effectLst/>
            </c:spPr>
            <c:txPr>
              <a:bodyPr/>
              <a:lstStyle/>
              <a:p>
                <a:pPr>
                  <a:defRPr sz="850" b="0" i="0" u="none" strike="noStrike">
                    <a:solidFill>
                      <a:srgbClr val="1B2A5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Sheet1!$A$2:$A$17</c:f>
              <c:strCache>
                <c:ptCount val="16"/>
                <c:pt idx="0">
                  <c:v>Bharti Airtel</c:v>
                </c:pt>
                <c:pt idx="1">
                  <c:v>Adani Power</c:v>
                </c:pt>
                <c:pt idx="2">
                  <c:v>Infosys</c:v>
                </c:pt>
                <c:pt idx="3">
                  <c:v>ICICI Bank</c:v>
                </c:pt>
                <c:pt idx="4">
                  <c:v>NTPC</c:v>
                </c:pt>
                <c:pt idx="5">
                  <c:v>Viaz Tyres</c:v>
                </c:pt>
                <c:pt idx="6">
                  <c:v>CEAT</c:v>
                </c:pt>
                <c:pt idx="7">
                  <c:v>Maruti Suzuki</c:v>
                </c:pt>
                <c:pt idx="8">
                  <c:v>TVS Motors</c:v>
                </c:pt>
                <c:pt idx="9">
                  <c:v>Hero MotoCorp</c:v>
                </c:pt>
                <c:pt idx="10">
                  <c:v>Tata Motors</c:v>
                </c:pt>
                <c:pt idx="11">
                  <c:v>L&amp;T</c:v>
                </c:pt>
                <c:pt idx="12">
                  <c:v>BLKI</c:v>
                </c:pt>
                <c:pt idx="13">
                  <c:v>JSW Steel</c:v>
                </c:pt>
                <c:pt idx="14">
                  <c:v>NIFTY 50</c:v>
                </c:pt>
                <c:pt idx="15">
                  <c:v>HUL</c:v>
                </c:pt>
              </c:strCache>
            </c:strRef>
          </c:cat>
          <c:val>
            <c:numRef>
              <c:f>Sheet1!$B$2:$B$17</c:f>
              <c:numCache>
                <c:formatCode>General</c:formatCode>
                <c:ptCount val="16"/>
                <c:pt idx="0">
                  <c:v>3.7</c:v>
                </c:pt>
                <c:pt idx="1">
                  <c:v>2.42</c:v>
                </c:pt>
                <c:pt idx="2">
                  <c:v>1.85</c:v>
                </c:pt>
                <c:pt idx="3">
                  <c:v>1.81</c:v>
                </c:pt>
                <c:pt idx="4">
                  <c:v>1.8</c:v>
                </c:pt>
                <c:pt idx="5">
                  <c:v>1.75</c:v>
                </c:pt>
                <c:pt idx="6">
                  <c:v>1.72</c:v>
                </c:pt>
                <c:pt idx="7">
                  <c:v>1.71</c:v>
                </c:pt>
                <c:pt idx="8">
                  <c:v>1.69</c:v>
                </c:pt>
                <c:pt idx="9">
                  <c:v>1.33</c:v>
                </c:pt>
                <c:pt idx="10">
                  <c:v>1.0900000000000001</c:v>
                </c:pt>
                <c:pt idx="11">
                  <c:v>1.03</c:v>
                </c:pt>
                <c:pt idx="12">
                  <c:v>1.01</c:v>
                </c:pt>
                <c:pt idx="13">
                  <c:v>0.67</c:v>
                </c:pt>
                <c:pt idx="14">
                  <c:v>0.65</c:v>
                </c:pt>
                <c:pt idx="15">
                  <c:v>0.62</c:v>
                </c:pt>
              </c:numCache>
            </c:numRef>
          </c:val>
          <c:extLst>
            <c:ext xmlns:c16="http://schemas.microsoft.com/office/drawing/2014/chart" uri="{C3380CC4-5D6E-409C-BE32-E72D297353CC}">
              <c16:uniqueId val="{00000020-DE38-4F32-9FDF-F4B678FAC25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2A5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9DFEC"/>
              </a:solidFill>
              <a:prstDash val="solid"/>
              <a:round/>
            </a:ln>
          </c:spPr>
        </c:majorGridlines>
        <c:title>
          <c:tx>
            <c:rich>
              <a:bodyPr/>
              <a:lstStyle/>
              <a:p>
                <a:pPr>
                  <a:defRPr b="0" i="0" u="none" strike="noStrike">
                    <a:solidFill>
                      <a:srgbClr val="000000"/>
                    </a:solidFill>
                    <a:latin typeface="Arial"/>
                  </a:defRPr>
                </a:pPr>
                <a:r>
                  <a:rPr lang="en-IN" b="0" i="0" u="none" strike="noStrike">
                    <a:solidFill>
                      <a:srgbClr val="000000"/>
                    </a:solidFill>
                    <a:latin typeface="Arial"/>
                  </a:rPr>
                  <a:t>Mean Monthly Return (%)</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788"/>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Beta</c:v>
                </c:pt>
              </c:strCache>
            </c:strRef>
          </c:tx>
          <c:spPr>
            <a:solidFill>
              <a:srgbClr val="1B2A57"/>
            </a:solidFill>
            <a:effectLst/>
          </c:spPr>
          <c:invertIfNegative val="0"/>
          <c:dPt>
            <c:idx val="0"/>
            <c:invertIfNegative val="0"/>
            <c:bubble3D val="0"/>
            <c:extLst>
              <c:ext xmlns:c16="http://schemas.microsoft.com/office/drawing/2014/chart" uri="{C3380CC4-5D6E-409C-BE32-E72D297353CC}">
                <c16:uniqueId val="{00000001-CA4E-4B05-83B8-0B77B44CD4E8}"/>
              </c:ext>
            </c:extLst>
          </c:dPt>
          <c:dPt>
            <c:idx val="1"/>
            <c:invertIfNegative val="0"/>
            <c:bubble3D val="0"/>
            <c:extLst>
              <c:ext xmlns:c16="http://schemas.microsoft.com/office/drawing/2014/chart" uri="{C3380CC4-5D6E-409C-BE32-E72D297353CC}">
                <c16:uniqueId val="{00000003-CA4E-4B05-83B8-0B77B44CD4E8}"/>
              </c:ext>
            </c:extLst>
          </c:dPt>
          <c:dPt>
            <c:idx val="2"/>
            <c:invertIfNegative val="0"/>
            <c:bubble3D val="0"/>
            <c:extLst>
              <c:ext xmlns:c16="http://schemas.microsoft.com/office/drawing/2014/chart" uri="{C3380CC4-5D6E-409C-BE32-E72D297353CC}">
                <c16:uniqueId val="{00000005-CA4E-4B05-83B8-0B77B44CD4E8}"/>
              </c:ext>
            </c:extLst>
          </c:dPt>
          <c:dPt>
            <c:idx val="3"/>
            <c:invertIfNegative val="0"/>
            <c:bubble3D val="0"/>
            <c:extLst>
              <c:ext xmlns:c16="http://schemas.microsoft.com/office/drawing/2014/chart" uri="{C3380CC4-5D6E-409C-BE32-E72D297353CC}">
                <c16:uniqueId val="{00000007-CA4E-4B05-83B8-0B77B44CD4E8}"/>
              </c:ext>
            </c:extLst>
          </c:dPt>
          <c:dPt>
            <c:idx val="4"/>
            <c:invertIfNegative val="0"/>
            <c:bubble3D val="0"/>
            <c:extLst>
              <c:ext xmlns:c16="http://schemas.microsoft.com/office/drawing/2014/chart" uri="{C3380CC4-5D6E-409C-BE32-E72D297353CC}">
                <c16:uniqueId val="{00000009-CA4E-4B05-83B8-0B77B44CD4E8}"/>
              </c:ext>
            </c:extLst>
          </c:dPt>
          <c:dPt>
            <c:idx val="5"/>
            <c:invertIfNegative val="0"/>
            <c:bubble3D val="0"/>
            <c:extLst>
              <c:ext xmlns:c16="http://schemas.microsoft.com/office/drawing/2014/chart" uri="{C3380CC4-5D6E-409C-BE32-E72D297353CC}">
                <c16:uniqueId val="{0000000B-CA4E-4B05-83B8-0B77B44CD4E8}"/>
              </c:ext>
            </c:extLst>
          </c:dPt>
          <c:dPt>
            <c:idx val="6"/>
            <c:invertIfNegative val="0"/>
            <c:bubble3D val="0"/>
            <c:extLst>
              <c:ext xmlns:c16="http://schemas.microsoft.com/office/drawing/2014/chart" uri="{C3380CC4-5D6E-409C-BE32-E72D297353CC}">
                <c16:uniqueId val="{0000000D-CA4E-4B05-83B8-0B77B44CD4E8}"/>
              </c:ext>
            </c:extLst>
          </c:dPt>
          <c:dPt>
            <c:idx val="7"/>
            <c:invertIfNegative val="0"/>
            <c:bubble3D val="0"/>
            <c:extLst>
              <c:ext xmlns:c16="http://schemas.microsoft.com/office/drawing/2014/chart" uri="{C3380CC4-5D6E-409C-BE32-E72D297353CC}">
                <c16:uniqueId val="{0000000F-CA4E-4B05-83B8-0B77B44CD4E8}"/>
              </c:ext>
            </c:extLst>
          </c:dPt>
          <c:dPt>
            <c:idx val="8"/>
            <c:invertIfNegative val="0"/>
            <c:bubble3D val="0"/>
            <c:extLst>
              <c:ext xmlns:c16="http://schemas.microsoft.com/office/drawing/2014/chart" uri="{C3380CC4-5D6E-409C-BE32-E72D297353CC}">
                <c16:uniqueId val="{00000011-CA4E-4B05-83B8-0B77B44CD4E8}"/>
              </c:ext>
            </c:extLst>
          </c:dPt>
          <c:dPt>
            <c:idx val="9"/>
            <c:invertIfNegative val="0"/>
            <c:bubble3D val="0"/>
            <c:extLst>
              <c:ext xmlns:c16="http://schemas.microsoft.com/office/drawing/2014/chart" uri="{C3380CC4-5D6E-409C-BE32-E72D297353CC}">
                <c16:uniqueId val="{00000013-CA4E-4B05-83B8-0B77B44CD4E8}"/>
              </c:ext>
            </c:extLst>
          </c:dPt>
          <c:dPt>
            <c:idx val="10"/>
            <c:invertIfNegative val="0"/>
            <c:bubble3D val="0"/>
            <c:spPr>
              <a:solidFill>
                <a:srgbClr val="8FA0C7"/>
              </a:solidFill>
              <a:effectLst/>
            </c:spPr>
            <c:extLst>
              <c:ext xmlns:c16="http://schemas.microsoft.com/office/drawing/2014/chart" uri="{C3380CC4-5D6E-409C-BE32-E72D297353CC}">
                <c16:uniqueId val="{00000015-CA4E-4B05-83B8-0B77B44CD4E8}"/>
              </c:ext>
            </c:extLst>
          </c:dPt>
          <c:dPt>
            <c:idx val="11"/>
            <c:invertIfNegative val="0"/>
            <c:bubble3D val="0"/>
            <c:spPr>
              <a:solidFill>
                <a:srgbClr val="8FA0C7"/>
              </a:solidFill>
              <a:effectLst/>
            </c:spPr>
            <c:extLst>
              <c:ext xmlns:c16="http://schemas.microsoft.com/office/drawing/2014/chart" uri="{C3380CC4-5D6E-409C-BE32-E72D297353CC}">
                <c16:uniqueId val="{00000017-CA4E-4B05-83B8-0B77B44CD4E8}"/>
              </c:ext>
            </c:extLst>
          </c:dPt>
          <c:dPt>
            <c:idx val="12"/>
            <c:invertIfNegative val="0"/>
            <c:bubble3D val="0"/>
            <c:spPr>
              <a:solidFill>
                <a:srgbClr val="8FA0C7"/>
              </a:solidFill>
              <a:effectLst/>
            </c:spPr>
            <c:extLst>
              <c:ext xmlns:c16="http://schemas.microsoft.com/office/drawing/2014/chart" uri="{C3380CC4-5D6E-409C-BE32-E72D297353CC}">
                <c16:uniqueId val="{00000019-CA4E-4B05-83B8-0B77B44CD4E8}"/>
              </c:ext>
            </c:extLst>
          </c:dPt>
          <c:dPt>
            <c:idx val="13"/>
            <c:invertIfNegative val="0"/>
            <c:bubble3D val="0"/>
            <c:spPr>
              <a:solidFill>
                <a:srgbClr val="8FA0C7"/>
              </a:solidFill>
              <a:effectLst/>
            </c:spPr>
            <c:extLst>
              <c:ext xmlns:c16="http://schemas.microsoft.com/office/drawing/2014/chart" uri="{C3380CC4-5D6E-409C-BE32-E72D297353CC}">
                <c16:uniqueId val="{0000001B-CA4E-4B05-83B8-0B77B44CD4E8}"/>
              </c:ext>
            </c:extLst>
          </c:dPt>
          <c:dPt>
            <c:idx val="14"/>
            <c:invertIfNegative val="0"/>
            <c:bubble3D val="0"/>
            <c:spPr>
              <a:solidFill>
                <a:srgbClr val="8FA0C7"/>
              </a:solidFill>
              <a:effectLst/>
            </c:spPr>
            <c:extLst>
              <c:ext xmlns:c16="http://schemas.microsoft.com/office/drawing/2014/chart" uri="{C3380CC4-5D6E-409C-BE32-E72D297353CC}">
                <c16:uniqueId val="{0000001D-CA4E-4B05-83B8-0B77B44CD4E8}"/>
              </c:ext>
            </c:extLst>
          </c:dPt>
          <c:dLbls>
            <c:numFmt formatCode="0.000" sourceLinked="0"/>
            <c:spPr>
              <a:noFill/>
              <a:ln>
                <a:noFill/>
              </a:ln>
              <a:effectLst/>
            </c:spPr>
            <c:txPr>
              <a:bodyPr/>
              <a:lstStyle/>
              <a:p>
                <a:pPr>
                  <a:defRPr sz="850" b="0" i="0" u="none" strike="noStrike">
                    <a:solidFill>
                      <a:srgbClr val="1B2A5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Sheet1!$A$2:$A$16</c:f>
              <c:strCache>
                <c:ptCount val="15"/>
                <c:pt idx="0">
                  <c:v>HUL</c:v>
                </c:pt>
                <c:pt idx="1">
                  <c:v>Tata Motors</c:v>
                </c:pt>
                <c:pt idx="2">
                  <c:v>CEAT</c:v>
                </c:pt>
                <c:pt idx="3">
                  <c:v>TVS Motors</c:v>
                </c:pt>
                <c:pt idx="4">
                  <c:v>Hero MotoCorp</c:v>
                </c:pt>
                <c:pt idx="5">
                  <c:v>Infosys</c:v>
                </c:pt>
                <c:pt idx="6">
                  <c:v>Maruti Suzuki</c:v>
                </c:pt>
                <c:pt idx="7">
                  <c:v>NTPC</c:v>
                </c:pt>
                <c:pt idx="8">
                  <c:v>L&amp;T</c:v>
                </c:pt>
                <c:pt idx="9">
                  <c:v>JSW Steel</c:v>
                </c:pt>
                <c:pt idx="10">
                  <c:v>Bharti Airtel</c:v>
                </c:pt>
                <c:pt idx="11">
                  <c:v>Viaz Tyres</c:v>
                </c:pt>
                <c:pt idx="12">
                  <c:v>BLKI</c:v>
                </c:pt>
                <c:pt idx="13">
                  <c:v>Adani Power</c:v>
                </c:pt>
                <c:pt idx="14">
                  <c:v>ICICI Bank</c:v>
                </c:pt>
              </c:strCache>
            </c:strRef>
          </c:cat>
          <c:val>
            <c:numRef>
              <c:f>Sheet1!$B$2:$B$16</c:f>
              <c:numCache>
                <c:formatCode>General</c:formatCode>
                <c:ptCount val="15"/>
                <c:pt idx="0">
                  <c:v>1.7929999999999999</c:v>
                </c:pt>
                <c:pt idx="1">
                  <c:v>1.7909999999999999</c:v>
                </c:pt>
                <c:pt idx="2">
                  <c:v>1.766</c:v>
                </c:pt>
                <c:pt idx="3">
                  <c:v>1.5589999999999999</c:v>
                </c:pt>
                <c:pt idx="4">
                  <c:v>1.4770000000000001</c:v>
                </c:pt>
                <c:pt idx="5">
                  <c:v>1.331</c:v>
                </c:pt>
                <c:pt idx="6">
                  <c:v>1.32</c:v>
                </c:pt>
                <c:pt idx="7">
                  <c:v>1.1890000000000001</c:v>
                </c:pt>
                <c:pt idx="8">
                  <c:v>1.169</c:v>
                </c:pt>
                <c:pt idx="9">
                  <c:v>1.119</c:v>
                </c:pt>
                <c:pt idx="10">
                  <c:v>0.89400000000000002</c:v>
                </c:pt>
                <c:pt idx="11">
                  <c:v>0.871</c:v>
                </c:pt>
                <c:pt idx="12">
                  <c:v>0.73499999999999999</c:v>
                </c:pt>
                <c:pt idx="13">
                  <c:v>0.52400000000000002</c:v>
                </c:pt>
                <c:pt idx="14">
                  <c:v>0.46600000000000003</c:v>
                </c:pt>
              </c:numCache>
            </c:numRef>
          </c:val>
          <c:extLst>
            <c:ext xmlns:c16="http://schemas.microsoft.com/office/drawing/2014/chart" uri="{C3380CC4-5D6E-409C-BE32-E72D297353CC}">
              <c16:uniqueId val="{0000001E-CA4E-4B05-83B8-0B77B44CD4E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2A5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9DFEC"/>
              </a:solidFill>
              <a:prstDash val="solid"/>
              <a:round/>
            </a:ln>
          </c:spPr>
        </c:majorGridlines>
        <c:title>
          <c:tx>
            <c:rich>
              <a:bodyPr/>
              <a:lstStyle/>
              <a:p>
                <a:pPr>
                  <a:defRPr b="0" i="0" u="none" strike="noStrike">
                    <a:solidFill>
                      <a:srgbClr val="000000"/>
                    </a:solidFill>
                    <a:latin typeface="Arial"/>
                  </a:defRPr>
                </a:pPr>
                <a:r>
                  <a:rPr lang="en-IN" b="0" i="0" u="none" strike="noStrike">
                    <a:solidFill>
                      <a:srgbClr val="000000"/>
                    </a:solidFill>
                    <a:latin typeface="Arial"/>
                  </a:rPr>
                  <a:t>Beta (</a:t>
                </a:r>
                <a:r>
                  <a:rPr lang="el-GR" b="0" i="0" u="none" strike="noStrike">
                    <a:solidFill>
                      <a:srgbClr val="000000"/>
                    </a:solidFill>
                    <a:latin typeface="Arial"/>
                  </a:rPr>
                  <a:t>β)</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788"/>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Excess Return (%)</c:v>
                </c:pt>
              </c:strCache>
            </c:strRef>
          </c:tx>
          <c:spPr>
            <a:solidFill>
              <a:srgbClr val="B8934A"/>
            </a:solidFill>
            <a:effectLst/>
          </c:spPr>
          <c:invertIfNegative val="0"/>
          <c:dPt>
            <c:idx val="0"/>
            <c:invertIfNegative val="0"/>
            <c:bubble3D val="0"/>
            <c:extLst>
              <c:ext xmlns:c16="http://schemas.microsoft.com/office/drawing/2014/chart" uri="{C3380CC4-5D6E-409C-BE32-E72D297353CC}">
                <c16:uniqueId val="{00000001-6947-4E02-84DD-816FED902EBA}"/>
              </c:ext>
            </c:extLst>
          </c:dPt>
          <c:dPt>
            <c:idx val="1"/>
            <c:invertIfNegative val="0"/>
            <c:bubble3D val="0"/>
            <c:extLst>
              <c:ext xmlns:c16="http://schemas.microsoft.com/office/drawing/2014/chart" uri="{C3380CC4-5D6E-409C-BE32-E72D297353CC}">
                <c16:uniqueId val="{00000003-6947-4E02-84DD-816FED902EBA}"/>
              </c:ext>
            </c:extLst>
          </c:dPt>
          <c:dPt>
            <c:idx val="2"/>
            <c:invertIfNegative val="0"/>
            <c:bubble3D val="0"/>
            <c:spPr>
              <a:solidFill>
                <a:srgbClr val="1B2A57"/>
              </a:solidFill>
              <a:effectLst/>
            </c:spPr>
            <c:extLst>
              <c:ext xmlns:c16="http://schemas.microsoft.com/office/drawing/2014/chart" uri="{C3380CC4-5D6E-409C-BE32-E72D297353CC}">
                <c16:uniqueId val="{00000005-6947-4E02-84DD-816FED902EBA}"/>
              </c:ext>
            </c:extLst>
          </c:dPt>
          <c:dPt>
            <c:idx val="3"/>
            <c:invertIfNegative val="0"/>
            <c:bubble3D val="0"/>
            <c:extLst>
              <c:ext xmlns:c16="http://schemas.microsoft.com/office/drawing/2014/chart" uri="{C3380CC4-5D6E-409C-BE32-E72D297353CC}">
                <c16:uniqueId val="{00000007-6947-4E02-84DD-816FED902EBA}"/>
              </c:ext>
            </c:extLst>
          </c:dPt>
          <c:dPt>
            <c:idx val="4"/>
            <c:invertIfNegative val="0"/>
            <c:bubble3D val="0"/>
            <c:spPr>
              <a:solidFill>
                <a:srgbClr val="1B2A57"/>
              </a:solidFill>
              <a:effectLst/>
            </c:spPr>
            <c:extLst>
              <c:ext xmlns:c16="http://schemas.microsoft.com/office/drawing/2014/chart" uri="{C3380CC4-5D6E-409C-BE32-E72D297353CC}">
                <c16:uniqueId val="{00000009-6947-4E02-84DD-816FED902EBA}"/>
              </c:ext>
            </c:extLst>
          </c:dPt>
          <c:dPt>
            <c:idx val="5"/>
            <c:invertIfNegative val="0"/>
            <c:bubble3D val="0"/>
            <c:extLst>
              <c:ext xmlns:c16="http://schemas.microsoft.com/office/drawing/2014/chart" uri="{C3380CC4-5D6E-409C-BE32-E72D297353CC}">
                <c16:uniqueId val="{0000000B-6947-4E02-84DD-816FED902EBA}"/>
              </c:ext>
            </c:extLst>
          </c:dPt>
          <c:dPt>
            <c:idx val="6"/>
            <c:invertIfNegative val="0"/>
            <c:bubble3D val="0"/>
            <c:spPr>
              <a:solidFill>
                <a:srgbClr val="1B2A57"/>
              </a:solidFill>
              <a:effectLst/>
            </c:spPr>
            <c:extLst>
              <c:ext xmlns:c16="http://schemas.microsoft.com/office/drawing/2014/chart" uri="{C3380CC4-5D6E-409C-BE32-E72D297353CC}">
                <c16:uniqueId val="{0000000D-6947-4E02-84DD-816FED902EBA}"/>
              </c:ext>
            </c:extLst>
          </c:dPt>
          <c:dPt>
            <c:idx val="7"/>
            <c:invertIfNegative val="0"/>
            <c:bubble3D val="0"/>
            <c:spPr>
              <a:solidFill>
                <a:srgbClr val="1B2A57"/>
              </a:solidFill>
              <a:effectLst/>
            </c:spPr>
            <c:extLst>
              <c:ext xmlns:c16="http://schemas.microsoft.com/office/drawing/2014/chart" uri="{C3380CC4-5D6E-409C-BE32-E72D297353CC}">
                <c16:uniqueId val="{0000000F-6947-4E02-84DD-816FED902EBA}"/>
              </c:ext>
            </c:extLst>
          </c:dPt>
          <c:dPt>
            <c:idx val="8"/>
            <c:invertIfNegative val="0"/>
            <c:bubble3D val="0"/>
            <c:spPr>
              <a:solidFill>
                <a:srgbClr val="1B2A57"/>
              </a:solidFill>
              <a:effectLst/>
            </c:spPr>
            <c:extLst>
              <c:ext xmlns:c16="http://schemas.microsoft.com/office/drawing/2014/chart" uri="{C3380CC4-5D6E-409C-BE32-E72D297353CC}">
                <c16:uniqueId val="{00000011-6947-4E02-84DD-816FED902EBA}"/>
              </c:ext>
            </c:extLst>
          </c:dPt>
          <c:dPt>
            <c:idx val="9"/>
            <c:invertIfNegative val="0"/>
            <c:bubble3D val="0"/>
            <c:spPr>
              <a:solidFill>
                <a:srgbClr val="1B2A57"/>
              </a:solidFill>
              <a:effectLst/>
            </c:spPr>
            <c:extLst>
              <c:ext xmlns:c16="http://schemas.microsoft.com/office/drawing/2014/chart" uri="{C3380CC4-5D6E-409C-BE32-E72D297353CC}">
                <c16:uniqueId val="{00000013-6947-4E02-84DD-816FED902EBA}"/>
              </c:ext>
            </c:extLst>
          </c:dPt>
          <c:dPt>
            <c:idx val="10"/>
            <c:invertIfNegative val="0"/>
            <c:bubble3D val="0"/>
            <c:spPr>
              <a:solidFill>
                <a:srgbClr val="1B2A57"/>
              </a:solidFill>
              <a:effectLst/>
            </c:spPr>
            <c:extLst>
              <c:ext xmlns:c16="http://schemas.microsoft.com/office/drawing/2014/chart" uri="{C3380CC4-5D6E-409C-BE32-E72D297353CC}">
                <c16:uniqueId val="{00000015-6947-4E02-84DD-816FED902EBA}"/>
              </c:ext>
            </c:extLst>
          </c:dPt>
          <c:dPt>
            <c:idx val="11"/>
            <c:invertIfNegative val="0"/>
            <c:bubble3D val="0"/>
            <c:spPr>
              <a:solidFill>
                <a:srgbClr val="1B2A57"/>
              </a:solidFill>
              <a:effectLst/>
            </c:spPr>
            <c:extLst>
              <c:ext xmlns:c16="http://schemas.microsoft.com/office/drawing/2014/chart" uri="{C3380CC4-5D6E-409C-BE32-E72D297353CC}">
                <c16:uniqueId val="{00000017-6947-4E02-84DD-816FED902EBA}"/>
              </c:ext>
            </c:extLst>
          </c:dPt>
          <c:dPt>
            <c:idx val="12"/>
            <c:invertIfNegative val="0"/>
            <c:bubble3D val="0"/>
            <c:spPr>
              <a:solidFill>
                <a:srgbClr val="1B2A57"/>
              </a:solidFill>
              <a:effectLst/>
            </c:spPr>
            <c:extLst>
              <c:ext xmlns:c16="http://schemas.microsoft.com/office/drawing/2014/chart" uri="{C3380CC4-5D6E-409C-BE32-E72D297353CC}">
                <c16:uniqueId val="{00000019-6947-4E02-84DD-816FED902EBA}"/>
              </c:ext>
            </c:extLst>
          </c:dPt>
          <c:dPt>
            <c:idx val="13"/>
            <c:invertIfNegative val="0"/>
            <c:bubble3D val="0"/>
            <c:spPr>
              <a:solidFill>
                <a:srgbClr val="1B2A57"/>
              </a:solidFill>
              <a:effectLst/>
            </c:spPr>
            <c:extLst>
              <c:ext xmlns:c16="http://schemas.microsoft.com/office/drawing/2014/chart" uri="{C3380CC4-5D6E-409C-BE32-E72D297353CC}">
                <c16:uniqueId val="{0000001B-6947-4E02-84DD-816FED902EBA}"/>
              </c:ext>
            </c:extLst>
          </c:dPt>
          <c:dPt>
            <c:idx val="14"/>
            <c:invertIfNegative val="0"/>
            <c:bubble3D val="0"/>
            <c:spPr>
              <a:solidFill>
                <a:srgbClr val="1B2A57"/>
              </a:solidFill>
              <a:effectLst/>
            </c:spPr>
            <c:extLst>
              <c:ext xmlns:c16="http://schemas.microsoft.com/office/drawing/2014/chart" uri="{C3380CC4-5D6E-409C-BE32-E72D297353CC}">
                <c16:uniqueId val="{0000001D-6947-4E02-84DD-816FED902EBA}"/>
              </c:ext>
            </c:extLst>
          </c:dPt>
          <c:dLbls>
            <c:numFmt formatCode="0.00" sourceLinked="0"/>
            <c:spPr>
              <a:noFill/>
              <a:ln>
                <a:noFill/>
              </a:ln>
              <a:effectLst/>
            </c:spPr>
            <c:txPr>
              <a:bodyPr/>
              <a:lstStyle/>
              <a:p>
                <a:pPr>
                  <a:defRPr sz="850" b="0" i="0" u="none" strike="noStrike">
                    <a:solidFill>
                      <a:srgbClr val="1B2A5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Sheet1!$A$2:$A$16</c:f>
              <c:strCache>
                <c:ptCount val="15"/>
                <c:pt idx="0">
                  <c:v>Bharti Airtel</c:v>
                </c:pt>
                <c:pt idx="1">
                  <c:v>Adani Power</c:v>
                </c:pt>
                <c:pt idx="2">
                  <c:v>Infosys</c:v>
                </c:pt>
                <c:pt idx="3">
                  <c:v>ICICI Bank</c:v>
                </c:pt>
                <c:pt idx="4">
                  <c:v>NTPC</c:v>
                </c:pt>
                <c:pt idx="5">
                  <c:v>Viaz Tyres</c:v>
                </c:pt>
                <c:pt idx="6">
                  <c:v>CEAT</c:v>
                </c:pt>
                <c:pt idx="7">
                  <c:v>Maruti Suzuki</c:v>
                </c:pt>
                <c:pt idx="8">
                  <c:v>TVS Motors</c:v>
                </c:pt>
                <c:pt idx="9">
                  <c:v>Hero MotoCorp</c:v>
                </c:pt>
                <c:pt idx="10">
                  <c:v>Tata Motors</c:v>
                </c:pt>
                <c:pt idx="11">
                  <c:v>L&amp;T</c:v>
                </c:pt>
                <c:pt idx="12">
                  <c:v>BLKI</c:v>
                </c:pt>
                <c:pt idx="13">
                  <c:v>JSW Steel</c:v>
                </c:pt>
                <c:pt idx="14">
                  <c:v>HUL</c:v>
                </c:pt>
              </c:strCache>
            </c:strRef>
          </c:cat>
          <c:val>
            <c:numRef>
              <c:f>Sheet1!$B$2:$B$16</c:f>
              <c:numCache>
                <c:formatCode>General</c:formatCode>
                <c:ptCount val="15"/>
                <c:pt idx="0">
                  <c:v>3.19</c:v>
                </c:pt>
                <c:pt idx="1">
                  <c:v>1.92</c:v>
                </c:pt>
                <c:pt idx="2">
                  <c:v>1.35</c:v>
                </c:pt>
                <c:pt idx="3">
                  <c:v>1.31</c:v>
                </c:pt>
                <c:pt idx="4">
                  <c:v>1.3</c:v>
                </c:pt>
                <c:pt idx="5">
                  <c:v>1.25</c:v>
                </c:pt>
                <c:pt idx="6">
                  <c:v>1.22</c:v>
                </c:pt>
                <c:pt idx="7">
                  <c:v>1.21</c:v>
                </c:pt>
                <c:pt idx="8">
                  <c:v>1.19</c:v>
                </c:pt>
                <c:pt idx="9">
                  <c:v>0.83</c:v>
                </c:pt>
                <c:pt idx="10">
                  <c:v>0.59</c:v>
                </c:pt>
                <c:pt idx="11">
                  <c:v>0.53</c:v>
                </c:pt>
                <c:pt idx="12">
                  <c:v>0.51</c:v>
                </c:pt>
                <c:pt idx="13">
                  <c:v>0.17</c:v>
                </c:pt>
                <c:pt idx="14">
                  <c:v>0.12</c:v>
                </c:pt>
              </c:numCache>
            </c:numRef>
          </c:val>
          <c:extLst>
            <c:ext xmlns:c16="http://schemas.microsoft.com/office/drawing/2014/chart" uri="{C3380CC4-5D6E-409C-BE32-E72D297353CC}">
              <c16:uniqueId val="{0000001E-6947-4E02-84DD-816FED902E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2A5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9DFEC"/>
              </a:solidFill>
              <a:prstDash val="solid"/>
              <a:round/>
            </a:ln>
          </c:spPr>
        </c:majorGridlines>
        <c:title>
          <c:tx>
            <c:rich>
              <a:bodyPr/>
              <a:lstStyle/>
              <a:p>
                <a:pPr>
                  <a:defRPr b="0" i="0" u="none" strike="noStrike">
                    <a:solidFill>
                      <a:srgbClr val="000000"/>
                    </a:solidFill>
                    <a:latin typeface="Arial"/>
                  </a:defRPr>
                </a:pPr>
                <a:r>
                  <a:rPr lang="en-IN" b="0" i="0" u="none" strike="noStrike">
                    <a:solidFill>
                      <a:srgbClr val="000000"/>
                    </a:solidFill>
                    <a:latin typeface="Arial"/>
                  </a:rPr>
                  <a:t>Ri − RF (%)</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788"/>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Excess Return to Beta Ratio</c:v>
                </c:pt>
              </c:strCache>
            </c:strRef>
          </c:tx>
          <c:spPr>
            <a:solidFill>
              <a:srgbClr val="B8934A"/>
            </a:solidFill>
            <a:effectLst/>
          </c:spPr>
          <c:invertIfNegative val="0"/>
          <c:dPt>
            <c:idx val="0"/>
            <c:invertIfNegative val="0"/>
            <c:bubble3D val="0"/>
            <c:extLst>
              <c:ext xmlns:c16="http://schemas.microsoft.com/office/drawing/2014/chart" uri="{C3380CC4-5D6E-409C-BE32-E72D297353CC}">
                <c16:uniqueId val="{00000001-2DD0-440D-8060-B2A3B6AD9275}"/>
              </c:ext>
            </c:extLst>
          </c:dPt>
          <c:dPt>
            <c:idx val="1"/>
            <c:invertIfNegative val="0"/>
            <c:bubble3D val="0"/>
            <c:extLst>
              <c:ext xmlns:c16="http://schemas.microsoft.com/office/drawing/2014/chart" uri="{C3380CC4-5D6E-409C-BE32-E72D297353CC}">
                <c16:uniqueId val="{00000003-2DD0-440D-8060-B2A3B6AD9275}"/>
              </c:ext>
            </c:extLst>
          </c:dPt>
          <c:dPt>
            <c:idx val="2"/>
            <c:invertIfNegative val="0"/>
            <c:bubble3D val="0"/>
            <c:extLst>
              <c:ext xmlns:c16="http://schemas.microsoft.com/office/drawing/2014/chart" uri="{C3380CC4-5D6E-409C-BE32-E72D297353CC}">
                <c16:uniqueId val="{00000005-2DD0-440D-8060-B2A3B6AD9275}"/>
              </c:ext>
            </c:extLst>
          </c:dPt>
          <c:dPt>
            <c:idx val="3"/>
            <c:invertIfNegative val="0"/>
            <c:bubble3D val="0"/>
            <c:extLst>
              <c:ext xmlns:c16="http://schemas.microsoft.com/office/drawing/2014/chart" uri="{C3380CC4-5D6E-409C-BE32-E72D297353CC}">
                <c16:uniqueId val="{00000007-2DD0-440D-8060-B2A3B6AD9275}"/>
              </c:ext>
            </c:extLst>
          </c:dPt>
          <c:dPt>
            <c:idx val="4"/>
            <c:invertIfNegative val="0"/>
            <c:bubble3D val="0"/>
            <c:spPr>
              <a:solidFill>
                <a:srgbClr val="1B2A57"/>
              </a:solidFill>
              <a:effectLst/>
            </c:spPr>
            <c:extLst>
              <c:ext xmlns:c16="http://schemas.microsoft.com/office/drawing/2014/chart" uri="{C3380CC4-5D6E-409C-BE32-E72D297353CC}">
                <c16:uniqueId val="{00000009-2DD0-440D-8060-B2A3B6AD9275}"/>
              </c:ext>
            </c:extLst>
          </c:dPt>
          <c:dPt>
            <c:idx val="5"/>
            <c:invertIfNegative val="0"/>
            <c:bubble3D val="0"/>
            <c:spPr>
              <a:solidFill>
                <a:srgbClr val="1B2A57"/>
              </a:solidFill>
              <a:effectLst/>
            </c:spPr>
            <c:extLst>
              <c:ext xmlns:c16="http://schemas.microsoft.com/office/drawing/2014/chart" uri="{C3380CC4-5D6E-409C-BE32-E72D297353CC}">
                <c16:uniqueId val="{0000000B-2DD0-440D-8060-B2A3B6AD9275}"/>
              </c:ext>
            </c:extLst>
          </c:dPt>
          <c:dPt>
            <c:idx val="6"/>
            <c:invertIfNegative val="0"/>
            <c:bubble3D val="0"/>
            <c:spPr>
              <a:solidFill>
                <a:srgbClr val="1B2A57"/>
              </a:solidFill>
              <a:effectLst/>
            </c:spPr>
            <c:extLst>
              <c:ext xmlns:c16="http://schemas.microsoft.com/office/drawing/2014/chart" uri="{C3380CC4-5D6E-409C-BE32-E72D297353CC}">
                <c16:uniqueId val="{0000000D-2DD0-440D-8060-B2A3B6AD9275}"/>
              </c:ext>
            </c:extLst>
          </c:dPt>
          <c:dPt>
            <c:idx val="7"/>
            <c:invertIfNegative val="0"/>
            <c:bubble3D val="0"/>
            <c:spPr>
              <a:solidFill>
                <a:srgbClr val="1B2A57"/>
              </a:solidFill>
              <a:effectLst/>
            </c:spPr>
            <c:extLst>
              <c:ext xmlns:c16="http://schemas.microsoft.com/office/drawing/2014/chart" uri="{C3380CC4-5D6E-409C-BE32-E72D297353CC}">
                <c16:uniqueId val="{0000000F-2DD0-440D-8060-B2A3B6AD9275}"/>
              </c:ext>
            </c:extLst>
          </c:dPt>
          <c:dPt>
            <c:idx val="8"/>
            <c:invertIfNegative val="0"/>
            <c:bubble3D val="0"/>
            <c:spPr>
              <a:solidFill>
                <a:srgbClr val="1B2A57"/>
              </a:solidFill>
              <a:effectLst/>
            </c:spPr>
            <c:extLst>
              <c:ext xmlns:c16="http://schemas.microsoft.com/office/drawing/2014/chart" uri="{C3380CC4-5D6E-409C-BE32-E72D297353CC}">
                <c16:uniqueId val="{00000011-2DD0-440D-8060-B2A3B6AD9275}"/>
              </c:ext>
            </c:extLst>
          </c:dPt>
          <c:dPt>
            <c:idx val="9"/>
            <c:invertIfNegative val="0"/>
            <c:bubble3D val="0"/>
            <c:spPr>
              <a:solidFill>
                <a:srgbClr val="1B2A57"/>
              </a:solidFill>
              <a:effectLst/>
            </c:spPr>
            <c:extLst>
              <c:ext xmlns:c16="http://schemas.microsoft.com/office/drawing/2014/chart" uri="{C3380CC4-5D6E-409C-BE32-E72D297353CC}">
                <c16:uniqueId val="{00000013-2DD0-440D-8060-B2A3B6AD9275}"/>
              </c:ext>
            </c:extLst>
          </c:dPt>
          <c:dPt>
            <c:idx val="10"/>
            <c:invertIfNegative val="0"/>
            <c:bubble3D val="0"/>
            <c:spPr>
              <a:solidFill>
                <a:srgbClr val="1B2A57"/>
              </a:solidFill>
              <a:effectLst/>
            </c:spPr>
            <c:extLst>
              <c:ext xmlns:c16="http://schemas.microsoft.com/office/drawing/2014/chart" uri="{C3380CC4-5D6E-409C-BE32-E72D297353CC}">
                <c16:uniqueId val="{00000015-2DD0-440D-8060-B2A3B6AD9275}"/>
              </c:ext>
            </c:extLst>
          </c:dPt>
          <c:dPt>
            <c:idx val="11"/>
            <c:invertIfNegative val="0"/>
            <c:bubble3D val="0"/>
            <c:spPr>
              <a:solidFill>
                <a:srgbClr val="1B2A57"/>
              </a:solidFill>
              <a:effectLst/>
            </c:spPr>
            <c:extLst>
              <c:ext xmlns:c16="http://schemas.microsoft.com/office/drawing/2014/chart" uri="{C3380CC4-5D6E-409C-BE32-E72D297353CC}">
                <c16:uniqueId val="{00000017-2DD0-440D-8060-B2A3B6AD9275}"/>
              </c:ext>
            </c:extLst>
          </c:dPt>
          <c:dPt>
            <c:idx val="12"/>
            <c:invertIfNegative val="0"/>
            <c:bubble3D val="0"/>
            <c:spPr>
              <a:solidFill>
                <a:srgbClr val="1B2A57"/>
              </a:solidFill>
              <a:effectLst/>
            </c:spPr>
            <c:extLst>
              <c:ext xmlns:c16="http://schemas.microsoft.com/office/drawing/2014/chart" uri="{C3380CC4-5D6E-409C-BE32-E72D297353CC}">
                <c16:uniqueId val="{00000019-2DD0-440D-8060-B2A3B6AD9275}"/>
              </c:ext>
            </c:extLst>
          </c:dPt>
          <c:dPt>
            <c:idx val="13"/>
            <c:invertIfNegative val="0"/>
            <c:bubble3D val="0"/>
            <c:spPr>
              <a:solidFill>
                <a:srgbClr val="1B2A57"/>
              </a:solidFill>
              <a:effectLst/>
            </c:spPr>
            <c:extLst>
              <c:ext xmlns:c16="http://schemas.microsoft.com/office/drawing/2014/chart" uri="{C3380CC4-5D6E-409C-BE32-E72D297353CC}">
                <c16:uniqueId val="{0000001B-2DD0-440D-8060-B2A3B6AD9275}"/>
              </c:ext>
            </c:extLst>
          </c:dPt>
          <c:dPt>
            <c:idx val="14"/>
            <c:invertIfNegative val="0"/>
            <c:bubble3D val="0"/>
            <c:spPr>
              <a:solidFill>
                <a:srgbClr val="1B2A57"/>
              </a:solidFill>
              <a:effectLst/>
            </c:spPr>
            <c:extLst>
              <c:ext xmlns:c16="http://schemas.microsoft.com/office/drawing/2014/chart" uri="{C3380CC4-5D6E-409C-BE32-E72D297353CC}">
                <c16:uniqueId val="{0000001D-2DD0-440D-8060-B2A3B6AD9275}"/>
              </c:ext>
            </c:extLst>
          </c:dPt>
          <c:dLbls>
            <c:numFmt formatCode="0.0000" sourceLinked="0"/>
            <c:spPr>
              <a:noFill/>
              <a:ln>
                <a:noFill/>
              </a:ln>
              <a:effectLst/>
            </c:spPr>
            <c:txPr>
              <a:bodyPr/>
              <a:lstStyle/>
              <a:p>
                <a:pPr>
                  <a:defRPr sz="850" b="0" i="0" u="none" strike="noStrike">
                    <a:solidFill>
                      <a:srgbClr val="1B2A5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Sheet1!$A$2:$A$16</c:f>
              <c:strCache>
                <c:ptCount val="15"/>
                <c:pt idx="0">
                  <c:v>1. Adani Power</c:v>
                </c:pt>
                <c:pt idx="1">
                  <c:v>2. Bharti Airtel</c:v>
                </c:pt>
                <c:pt idx="2">
                  <c:v>3. ICICI Bank</c:v>
                </c:pt>
                <c:pt idx="3">
                  <c:v>4. Viaz Tyres</c:v>
                </c:pt>
                <c:pt idx="4">
                  <c:v>5. NTPC</c:v>
                </c:pt>
                <c:pt idx="5">
                  <c:v>6. Infosys</c:v>
                </c:pt>
                <c:pt idx="6">
                  <c:v>7. Maruti Suzuki</c:v>
                </c:pt>
                <c:pt idx="7">
                  <c:v>8. TVS Motors</c:v>
                </c:pt>
                <c:pt idx="8">
                  <c:v>9. BLKI</c:v>
                </c:pt>
                <c:pt idx="9">
                  <c:v>10. CEAT</c:v>
                </c:pt>
                <c:pt idx="10">
                  <c:v>11. Hero MotoCorp</c:v>
                </c:pt>
                <c:pt idx="11">
                  <c:v>12. L&amp;T</c:v>
                </c:pt>
                <c:pt idx="12">
                  <c:v>13. Tata Motors</c:v>
                </c:pt>
                <c:pt idx="13">
                  <c:v>14. JSW Steel</c:v>
                </c:pt>
                <c:pt idx="14">
                  <c:v>15. HUL</c:v>
                </c:pt>
              </c:strCache>
            </c:strRef>
          </c:cat>
          <c:val>
            <c:numRef>
              <c:f>Sheet1!$B$2:$B$16</c:f>
              <c:numCache>
                <c:formatCode>General</c:formatCode>
                <c:ptCount val="15"/>
                <c:pt idx="0">
                  <c:v>3.6541999999999998E-2</c:v>
                </c:pt>
                <c:pt idx="1">
                  <c:v>3.5707000000000003E-2</c:v>
                </c:pt>
                <c:pt idx="2">
                  <c:v>2.8139999999999998E-2</c:v>
                </c:pt>
                <c:pt idx="3">
                  <c:v>1.4326E-2</c:v>
                </c:pt>
                <c:pt idx="4">
                  <c:v>1.0919E-2</c:v>
                </c:pt>
                <c:pt idx="5">
                  <c:v>1.0151E-2</c:v>
                </c:pt>
                <c:pt idx="6">
                  <c:v>9.1409999999999998E-3</c:v>
                </c:pt>
                <c:pt idx="7">
                  <c:v>7.6090000000000003E-3</c:v>
                </c:pt>
                <c:pt idx="8">
                  <c:v>6.9810000000000002E-3</c:v>
                </c:pt>
                <c:pt idx="9">
                  <c:v>6.9119999999999997E-3</c:v>
                </c:pt>
                <c:pt idx="10">
                  <c:v>5.607E-3</c:v>
                </c:pt>
                <c:pt idx="11">
                  <c:v>4.5599999999999998E-3</c:v>
                </c:pt>
                <c:pt idx="12">
                  <c:v>3.2859999999999999E-3</c:v>
                </c:pt>
                <c:pt idx="13">
                  <c:v>1.5460000000000001E-3</c:v>
                </c:pt>
                <c:pt idx="14">
                  <c:v>6.6E-4</c:v>
                </c:pt>
              </c:numCache>
            </c:numRef>
          </c:val>
          <c:extLst>
            <c:ext xmlns:c16="http://schemas.microsoft.com/office/drawing/2014/chart" uri="{C3380CC4-5D6E-409C-BE32-E72D297353CC}">
              <c16:uniqueId val="{0000001E-2DD0-440D-8060-B2A3B6AD92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2A5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9DFEC"/>
              </a:solidFill>
              <a:prstDash val="solid"/>
              <a:round/>
            </a:ln>
          </c:spPr>
        </c:majorGridlines>
        <c:title>
          <c:tx>
            <c:rich>
              <a:bodyPr/>
              <a:lstStyle/>
              <a:p>
                <a:pPr>
                  <a:defRPr b="0" i="0" u="none" strike="noStrike">
                    <a:solidFill>
                      <a:srgbClr val="000000"/>
                    </a:solidFill>
                    <a:latin typeface="Arial"/>
                  </a:defRPr>
                </a:pPr>
                <a:r>
                  <a:rPr lang="en-IN" b="0" i="0" u="none" strike="noStrike">
                    <a:solidFill>
                      <a:srgbClr val="000000"/>
                    </a:solidFill>
                    <a:latin typeface="Arial"/>
                  </a:rPr>
                  <a:t>(Ri − RF) / </a:t>
                </a:r>
                <a:r>
                  <a:rPr lang="el-GR" b="0" i="0" u="none" strike="noStrike">
                    <a:solidFill>
                      <a:srgbClr val="000000"/>
                    </a:solidFill>
                    <a:latin typeface="Arial"/>
                  </a:rPr>
                  <a:t>β</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788"/>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Portfolio Weight</c:v>
                </c:pt>
              </c:strCache>
            </c:strRef>
          </c:tx>
          <c:spPr>
            <a:solidFill>
              <a:schemeClr val="accent1"/>
            </a:solidFill>
            <a:ln w="9525" cap="flat">
              <a:solidFill>
                <a:srgbClr val="F9F9F9"/>
              </a:solidFill>
              <a:prstDash val="solid"/>
              <a:round/>
            </a:ln>
            <a:effectLst/>
          </c:spPr>
          <c:dPt>
            <c:idx val="0"/>
            <c:bubble3D val="0"/>
            <c:spPr>
              <a:solidFill>
                <a:srgbClr val="B8934A"/>
              </a:solidFill>
              <a:effectLst/>
            </c:spPr>
            <c:extLst>
              <c:ext xmlns:c16="http://schemas.microsoft.com/office/drawing/2014/chart" uri="{C3380CC4-5D6E-409C-BE32-E72D297353CC}">
                <c16:uniqueId val="{00000001-4A82-49D7-81B5-923FC883C5F8}"/>
              </c:ext>
            </c:extLst>
          </c:dPt>
          <c:dPt>
            <c:idx val="1"/>
            <c:bubble3D val="0"/>
            <c:spPr>
              <a:solidFill>
                <a:srgbClr val="2E3F73"/>
              </a:solidFill>
              <a:effectLst/>
            </c:spPr>
            <c:extLst>
              <c:ext xmlns:c16="http://schemas.microsoft.com/office/drawing/2014/chart" uri="{C3380CC4-5D6E-409C-BE32-E72D297353CC}">
                <c16:uniqueId val="{00000003-4A82-49D7-81B5-923FC883C5F8}"/>
              </c:ext>
            </c:extLst>
          </c:dPt>
          <c:dPt>
            <c:idx val="2"/>
            <c:bubble3D val="0"/>
            <c:spPr>
              <a:solidFill>
                <a:srgbClr val="6D82B8"/>
              </a:solidFill>
              <a:effectLst/>
            </c:spPr>
            <c:extLst>
              <c:ext xmlns:c16="http://schemas.microsoft.com/office/drawing/2014/chart" uri="{C3380CC4-5D6E-409C-BE32-E72D297353CC}">
                <c16:uniqueId val="{00000005-4A82-49D7-81B5-923FC883C5F8}"/>
              </c:ext>
            </c:extLst>
          </c:dPt>
          <c:dPt>
            <c:idx val="3"/>
            <c:bubble3D val="0"/>
            <c:spPr>
              <a:solidFill>
                <a:srgbClr val="CADCFC"/>
              </a:solidFill>
              <a:effectLst/>
            </c:spPr>
            <c:extLst>
              <c:ext xmlns:c16="http://schemas.microsoft.com/office/drawing/2014/chart" uri="{C3380CC4-5D6E-409C-BE32-E72D297353CC}">
                <c16:uniqueId val="{00000007-4A82-49D7-81B5-923FC883C5F8}"/>
              </c:ext>
            </c:extLst>
          </c:dPt>
          <c:dLbls>
            <c:dLbl>
              <c:idx val="0"/>
              <c:layout/>
              <c:numFmt formatCode="0.0&quot;%&quot;" sourceLinked="0"/>
              <c:spPr/>
              <c:txPr>
                <a:bodyPr/>
                <a:lstStyle/>
                <a:p>
                  <a:pPr>
                    <a:defRPr sz="1100" b="0" i="0" u="none" strike="noStrike">
                      <a:solidFill>
                        <a:srgbClr val="FFFFFF"/>
                      </a:solidFill>
                      <a:latin typeface="Arial"/>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4A82-49D7-81B5-923FC883C5F8}"/>
                </c:ext>
              </c:extLst>
            </c:dLbl>
            <c:dLbl>
              <c:idx val="1"/>
              <c:layout/>
              <c:numFmt formatCode="0.0&quot;%&quot;" sourceLinked="0"/>
              <c:spPr/>
              <c:txPr>
                <a:bodyPr/>
                <a:lstStyle/>
                <a:p>
                  <a:pPr>
                    <a:defRPr sz="1100" b="0" i="0" u="none" strike="noStrike">
                      <a:solidFill>
                        <a:srgbClr val="FFFFFF"/>
                      </a:solidFill>
                      <a:latin typeface="Arial"/>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A82-49D7-81B5-923FC883C5F8}"/>
                </c:ext>
              </c:extLst>
            </c:dLbl>
            <c:dLbl>
              <c:idx val="2"/>
              <c:layout/>
              <c:numFmt formatCode="0.0&quot;%&quot;" sourceLinked="0"/>
              <c:spPr/>
              <c:txPr>
                <a:bodyPr/>
                <a:lstStyle/>
                <a:p>
                  <a:pPr>
                    <a:defRPr sz="1100" b="0" i="0" u="none" strike="noStrike">
                      <a:solidFill>
                        <a:srgbClr val="FFFFFF"/>
                      </a:solidFill>
                      <a:latin typeface="Arial"/>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4A82-49D7-81B5-923FC883C5F8}"/>
                </c:ext>
              </c:extLst>
            </c:dLbl>
            <c:dLbl>
              <c:idx val="3"/>
              <c:layout/>
              <c:numFmt formatCode="0.0&quot;%&quot;" sourceLinked="0"/>
              <c:spPr/>
              <c:txPr>
                <a:bodyPr/>
                <a:lstStyle/>
                <a:p>
                  <a:pPr>
                    <a:defRPr sz="1100" b="0" i="0" u="none" strike="noStrike">
                      <a:solidFill>
                        <a:srgbClr val="FFFFFF"/>
                      </a:solidFill>
                      <a:latin typeface="Arial"/>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4A82-49D7-81B5-923FC883C5F8}"/>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ICICI Bank</c:v>
                </c:pt>
                <c:pt idx="1">
                  <c:v>Bharti Airtel</c:v>
                </c:pt>
                <c:pt idx="2">
                  <c:v>Adani Power</c:v>
                </c:pt>
                <c:pt idx="3">
                  <c:v>Viaz Tyres</c:v>
                </c:pt>
              </c:strCache>
            </c:strRef>
          </c:cat>
          <c:val>
            <c:numRef>
              <c:f>Sheet1!$B$2:$B$5</c:f>
              <c:numCache>
                <c:formatCode>General</c:formatCode>
                <c:ptCount val="4"/>
                <c:pt idx="0">
                  <c:v>53.5</c:v>
                </c:pt>
                <c:pt idx="1">
                  <c:v>39.700000000000003</c:v>
                </c:pt>
                <c:pt idx="2">
                  <c:v>5.5</c:v>
                </c:pt>
                <c:pt idx="3">
                  <c:v>1.4</c:v>
                </c:pt>
              </c:numCache>
            </c:numRef>
          </c:val>
          <c:extLst>
            <c:ext xmlns:c16="http://schemas.microsoft.com/office/drawing/2014/chart" uri="{C3380CC4-5D6E-409C-BE32-E72D297353CC}">
              <c16:uniqueId val="{00000008-4A82-49D7-81B5-923FC883C5F8}"/>
            </c:ext>
          </c:extLst>
        </c:ser>
        <c:dLbls>
          <c:showLegendKey val="0"/>
          <c:showVal val="0"/>
          <c:showCatName val="0"/>
          <c:showSerName val="0"/>
          <c:showPercent val="0"/>
          <c:showBubbleSize val="0"/>
          <c:showLeaderLines val="0"/>
        </c:dLbls>
        <c:firstSliceAng val="0"/>
      </c:pieChart>
      <c:spPr>
        <a:solidFill>
          <a:srgbClr val="121D3E"/>
        </a:solidFill>
        <a:ln w="12700" cap="flat">
          <a:solidFill>
            <a:srgbClr val="121D3E"/>
          </a:solidFill>
        </a:ln>
        <a:effectLst/>
      </c:spPr>
    </c:plotArea>
    <c:legend>
      <c:legendPos val="b"/>
      <c:layout/>
      <c:overlay val="0"/>
      <c:txPr>
        <a:bodyPr/>
        <a:lstStyle/>
        <a:p>
          <a:pPr>
            <a:defRPr sz="1050">
              <a:solidFill>
                <a:srgbClr val="FFFFFF"/>
              </a:solidFill>
            </a:defRPr>
          </a:pPr>
          <a:endParaRPr lang="en-US"/>
        </a:p>
      </c:txPr>
    </c:legend>
    <c:plotVisOnly val="1"/>
    <c:dispBlanksAs val="span"/>
    <c:showDLblsOverMax val="1"/>
  </c:chart>
  <c:spPr>
    <a:solidFill>
      <a:srgbClr val="121D3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585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D3E"/>
        </a:solidFill>
        <a:effectLst/>
      </p:bgPr>
    </p:bg>
    <p:spTree>
      <p:nvGrpSpPr>
        <p:cNvPr id="1" name=""/>
        <p:cNvGrpSpPr/>
        <p:nvPr/>
      </p:nvGrpSpPr>
      <p:grpSpPr>
        <a:xfrm>
          <a:off x="0" y="0"/>
          <a:ext cx="0" cy="0"/>
          <a:chOff x="0" y="0"/>
          <a:chExt cx="0" cy="0"/>
        </a:xfrm>
      </p:grpSpPr>
      <p:sp>
        <p:nvSpPr>
          <p:cNvPr id="2" name="Shape 0"/>
          <p:cNvSpPr/>
          <p:nvPr/>
        </p:nvSpPr>
        <p:spPr>
          <a:xfrm>
            <a:off x="7863840" y="548640"/>
            <a:ext cx="3840480" cy="0"/>
          </a:xfrm>
          <a:prstGeom prst="line">
            <a:avLst/>
          </a:prstGeom>
          <a:noFill/>
          <a:ln w="9525">
            <a:solidFill>
              <a:srgbClr val="2E3F73"/>
            </a:solidFill>
            <a:prstDash val="solid"/>
          </a:ln>
        </p:spPr>
      </p:sp>
      <p:sp>
        <p:nvSpPr>
          <p:cNvPr id="3" name="Shape 1"/>
          <p:cNvSpPr/>
          <p:nvPr/>
        </p:nvSpPr>
        <p:spPr>
          <a:xfrm>
            <a:off x="7863840" y="1508760"/>
            <a:ext cx="3840480" cy="0"/>
          </a:xfrm>
          <a:prstGeom prst="line">
            <a:avLst/>
          </a:prstGeom>
          <a:noFill/>
          <a:ln w="9525">
            <a:solidFill>
              <a:srgbClr val="2E3F73"/>
            </a:solidFill>
            <a:prstDash val="solid"/>
          </a:ln>
        </p:spPr>
      </p:sp>
      <p:sp>
        <p:nvSpPr>
          <p:cNvPr id="4" name="Shape 2"/>
          <p:cNvSpPr/>
          <p:nvPr/>
        </p:nvSpPr>
        <p:spPr>
          <a:xfrm>
            <a:off x="7863840" y="2468880"/>
            <a:ext cx="3840480" cy="0"/>
          </a:xfrm>
          <a:prstGeom prst="line">
            <a:avLst/>
          </a:prstGeom>
          <a:noFill/>
          <a:ln w="9525">
            <a:solidFill>
              <a:srgbClr val="2E3F73"/>
            </a:solidFill>
            <a:prstDash val="solid"/>
          </a:ln>
        </p:spPr>
      </p:sp>
      <p:sp>
        <p:nvSpPr>
          <p:cNvPr id="5" name="Shape 3"/>
          <p:cNvSpPr/>
          <p:nvPr/>
        </p:nvSpPr>
        <p:spPr>
          <a:xfrm>
            <a:off x="7863840" y="3429000"/>
            <a:ext cx="3840480" cy="0"/>
          </a:xfrm>
          <a:prstGeom prst="line">
            <a:avLst/>
          </a:prstGeom>
          <a:noFill/>
          <a:ln w="9525">
            <a:solidFill>
              <a:srgbClr val="2E3F73"/>
            </a:solidFill>
            <a:prstDash val="solid"/>
          </a:ln>
        </p:spPr>
      </p:sp>
      <p:sp>
        <p:nvSpPr>
          <p:cNvPr id="6" name="Shape 4"/>
          <p:cNvSpPr/>
          <p:nvPr/>
        </p:nvSpPr>
        <p:spPr>
          <a:xfrm>
            <a:off x="7863840" y="4389120"/>
            <a:ext cx="3840480" cy="0"/>
          </a:xfrm>
          <a:prstGeom prst="line">
            <a:avLst/>
          </a:prstGeom>
          <a:noFill/>
          <a:ln w="9525">
            <a:solidFill>
              <a:srgbClr val="2E3F73"/>
            </a:solidFill>
            <a:prstDash val="solid"/>
          </a:ln>
        </p:spPr>
      </p:sp>
      <p:sp>
        <p:nvSpPr>
          <p:cNvPr id="7" name="Shape 5"/>
          <p:cNvSpPr/>
          <p:nvPr/>
        </p:nvSpPr>
        <p:spPr>
          <a:xfrm>
            <a:off x="7863840" y="5349240"/>
            <a:ext cx="3840480" cy="0"/>
          </a:xfrm>
          <a:prstGeom prst="line">
            <a:avLst/>
          </a:prstGeom>
          <a:noFill/>
          <a:ln w="9525">
            <a:solidFill>
              <a:srgbClr val="2E3F73"/>
            </a:solidFill>
            <a:prstDash val="solid"/>
          </a:ln>
        </p:spPr>
      </p:sp>
      <p:sp>
        <p:nvSpPr>
          <p:cNvPr id="8" name="Shape 6"/>
          <p:cNvSpPr/>
          <p:nvPr/>
        </p:nvSpPr>
        <p:spPr>
          <a:xfrm>
            <a:off x="8138160" y="2834640"/>
            <a:ext cx="251460" cy="457200"/>
          </a:xfrm>
          <a:prstGeom prst="rect">
            <a:avLst/>
          </a:prstGeom>
          <a:solidFill>
            <a:srgbClr val="B8934A"/>
          </a:solidFill>
          <a:ln/>
        </p:spPr>
      </p:sp>
      <p:sp>
        <p:nvSpPr>
          <p:cNvPr id="9" name="Shape 7"/>
          <p:cNvSpPr/>
          <p:nvPr/>
        </p:nvSpPr>
        <p:spPr>
          <a:xfrm>
            <a:off x="8444484" y="2834640"/>
            <a:ext cx="786384" cy="457200"/>
          </a:xfrm>
          <a:prstGeom prst="rect">
            <a:avLst/>
          </a:prstGeom>
          <a:solidFill>
            <a:srgbClr val="CADCFC"/>
          </a:solidFill>
          <a:ln/>
        </p:spPr>
      </p:sp>
      <p:sp>
        <p:nvSpPr>
          <p:cNvPr id="10" name="Shape 8"/>
          <p:cNvSpPr/>
          <p:nvPr/>
        </p:nvSpPr>
        <p:spPr>
          <a:xfrm>
            <a:off x="9285732" y="2834640"/>
            <a:ext cx="1042416" cy="457200"/>
          </a:xfrm>
          <a:prstGeom prst="rect">
            <a:avLst/>
          </a:prstGeom>
          <a:solidFill>
            <a:srgbClr val="2E3F73"/>
          </a:solidFill>
          <a:ln/>
        </p:spPr>
      </p:sp>
      <p:sp>
        <p:nvSpPr>
          <p:cNvPr id="11" name="Shape 9"/>
          <p:cNvSpPr/>
          <p:nvPr/>
        </p:nvSpPr>
        <p:spPr>
          <a:xfrm>
            <a:off x="10383012" y="2834640"/>
            <a:ext cx="1394460" cy="457200"/>
          </a:xfrm>
          <a:prstGeom prst="rect">
            <a:avLst/>
          </a:prstGeom>
          <a:solidFill>
            <a:srgbClr val="3E5590"/>
          </a:solidFill>
          <a:ln/>
        </p:spPr>
      </p:sp>
      <p:sp>
        <p:nvSpPr>
          <p:cNvPr id="12" name="Shape 10"/>
          <p:cNvSpPr/>
          <p:nvPr/>
        </p:nvSpPr>
        <p:spPr>
          <a:xfrm>
            <a:off x="11832336" y="2834640"/>
            <a:ext cx="1920240" cy="457200"/>
          </a:xfrm>
          <a:prstGeom prst="rect">
            <a:avLst/>
          </a:prstGeom>
          <a:solidFill>
            <a:srgbClr val="6D82B8"/>
          </a:solidFill>
          <a:ln/>
        </p:spPr>
      </p:sp>
      <p:sp>
        <p:nvSpPr>
          <p:cNvPr id="13" name="Shape 11"/>
          <p:cNvSpPr/>
          <p:nvPr/>
        </p:nvSpPr>
        <p:spPr>
          <a:xfrm>
            <a:off x="7863840" y="5394960"/>
            <a:ext cx="3840480" cy="0"/>
          </a:xfrm>
          <a:prstGeom prst="line">
            <a:avLst/>
          </a:prstGeom>
          <a:noFill/>
          <a:ln w="12700">
            <a:solidFill>
              <a:srgbClr val="CADCFC"/>
            </a:solidFill>
            <a:prstDash val="solid"/>
          </a:ln>
        </p:spPr>
      </p:sp>
      <p:sp>
        <p:nvSpPr>
          <p:cNvPr id="14" name="Text 12"/>
          <p:cNvSpPr txBox="1"/>
          <p:nvPr/>
        </p:nvSpPr>
        <p:spPr>
          <a:xfrm>
            <a:off x="685800" y="2240280"/>
            <a:ext cx="7772400" cy="457200"/>
          </a:xfrm>
          <a:prstGeom prst="rect">
            <a:avLst/>
          </a:prstGeom>
          <a:noFill/>
          <a:ln/>
        </p:spPr>
        <p:txBody>
          <a:bodyPr wrap="square" lIns="0" tIns="0" rIns="0" bIns="0" rtlCol="0" anchor="ctr"/>
          <a:lstStyle/>
          <a:p>
            <a:pPr marL="0" indent="0">
              <a:buNone/>
            </a:pPr>
            <a:r>
              <a:rPr lang="en-US" sz="1400" b="1" kern="0" spc="300" dirty="0">
                <a:solidFill>
                  <a:srgbClr val="B8934A"/>
                </a:solidFill>
                <a:latin typeface="Calibri" pitchFamily="34" charset="0"/>
                <a:ea typeface="Calibri" pitchFamily="34" charset="-122"/>
                <a:cs typeface="Calibri" pitchFamily="34" charset="-120"/>
              </a:rPr>
              <a:t>STRATEGIC INVESTMENT MANAGEMENT</a:t>
            </a:r>
            <a:endParaRPr lang="en-US" sz="1400" dirty="0"/>
          </a:p>
        </p:txBody>
      </p:sp>
      <p:sp>
        <p:nvSpPr>
          <p:cNvPr id="15" name="Text 13"/>
          <p:cNvSpPr txBox="1"/>
          <p:nvPr/>
        </p:nvSpPr>
        <p:spPr>
          <a:xfrm>
            <a:off x="685800" y="2651760"/>
            <a:ext cx="8686800" cy="141732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Part B: Portfolio Risk &amp;</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Investment Selection</a:t>
            </a:r>
            <a:endParaRPr lang="en-US" sz="4000" dirty="0"/>
          </a:p>
        </p:txBody>
      </p:sp>
      <p:sp>
        <p:nvSpPr>
          <p:cNvPr id="16" name="Shape 14"/>
          <p:cNvSpPr/>
          <p:nvPr/>
        </p:nvSpPr>
        <p:spPr>
          <a:xfrm>
            <a:off x="713232" y="4114800"/>
            <a:ext cx="2377440" cy="0"/>
          </a:xfrm>
          <a:prstGeom prst="line">
            <a:avLst/>
          </a:prstGeom>
          <a:noFill/>
          <a:ln w="25400">
            <a:solidFill>
              <a:srgbClr val="B8934A"/>
            </a:solidFill>
            <a:prstDash val="solid"/>
          </a:ln>
        </p:spPr>
      </p:sp>
      <p:sp>
        <p:nvSpPr>
          <p:cNvPr id="17" name="Text 15"/>
          <p:cNvSpPr txBox="1"/>
          <p:nvPr/>
        </p:nvSpPr>
        <p:spPr>
          <a:xfrm>
            <a:off x="685800" y="4279392"/>
            <a:ext cx="7498080" cy="45720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Portfolio Construction, Risk-Adjusted Performance &amp; Security Ranking</a:t>
            </a:r>
            <a:endParaRPr lang="en-US" sz="1600" dirty="0"/>
          </a:p>
        </p:txBody>
      </p:sp>
      <p:sp>
        <p:nvSpPr>
          <p:cNvPr id="18" name="Text 16"/>
          <p:cNvSpPr txBox="1"/>
          <p:nvPr/>
        </p:nvSpPr>
        <p:spPr>
          <a:xfrm>
            <a:off x="685800" y="6172200"/>
            <a:ext cx="7772400" cy="274320"/>
          </a:xfrm>
          <a:prstGeom prst="rect">
            <a:avLst/>
          </a:prstGeom>
          <a:noFill/>
          <a:ln/>
        </p:spPr>
        <p:txBody>
          <a:bodyPr wrap="square" lIns="0" tIns="0" rIns="0" bIns="0" rtlCol="0" anchor="ctr"/>
          <a:lstStyle/>
          <a:p>
            <a:pPr marL="0" indent="0">
              <a:buNone/>
            </a:pPr>
            <a:r>
              <a:rPr lang="en-US" sz="1000" b="1" kern="0" spc="200" dirty="0">
                <a:solidFill>
                  <a:srgbClr val="8A94B8"/>
                </a:solidFill>
                <a:latin typeface="Calibri" pitchFamily="34" charset="0"/>
                <a:ea typeface="Calibri" pitchFamily="34" charset="-122"/>
                <a:cs typeface="Calibri" pitchFamily="34" charset="-120"/>
              </a:rPr>
              <a:t>15-STOCK PORTFOLIO  •  SECURITY RANKING  •  MICROSOFT EXCEL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700" b="1" dirty="0">
                <a:solidFill>
                  <a:srgbClr val="1B2A57"/>
                </a:solidFill>
                <a:latin typeface="Cambria" pitchFamily="34" charset="0"/>
                <a:ea typeface="Cambria" pitchFamily="34" charset="-122"/>
                <a:cs typeface="Cambria" pitchFamily="34" charset="-120"/>
              </a:rPr>
              <a:t>Portfolio Analysis Objective</a:t>
            </a:r>
            <a:endParaRPr lang="en-US" sz="2700" dirty="0"/>
          </a:p>
        </p:txBody>
      </p:sp>
      <p:sp>
        <p:nvSpPr>
          <p:cNvPr id="4" name="Shape 2"/>
          <p:cNvSpPr/>
          <p:nvPr/>
        </p:nvSpPr>
        <p:spPr>
          <a:xfrm>
            <a:off x="548640" y="1225296"/>
            <a:ext cx="11091672" cy="0"/>
          </a:xfrm>
          <a:prstGeom prst="line">
            <a:avLst/>
          </a:prstGeom>
          <a:noFill/>
          <a:ln w="12700">
            <a:solidFill>
              <a:srgbClr val="D9DFEC"/>
            </a:solidFill>
            <a:prstDash val="solid"/>
          </a:ln>
        </p:spPr>
      </p:sp>
      <p:sp>
        <p:nvSpPr>
          <p:cNvPr id="5" name="Text 3"/>
          <p:cNvSpPr txBox="1"/>
          <p:nvPr/>
        </p:nvSpPr>
        <p:spPr>
          <a:xfrm>
            <a:off x="548640" y="1444752"/>
            <a:ext cx="6492240" cy="310896"/>
          </a:xfrm>
          <a:prstGeom prst="rect">
            <a:avLst/>
          </a:prstGeom>
          <a:noFill/>
          <a:ln/>
        </p:spPr>
        <p:txBody>
          <a:bodyPr wrap="square" lIns="0" tIns="0" rIns="0" bIns="0" rtlCol="0" anchor="ctr"/>
          <a:lstStyle/>
          <a:p>
            <a:pPr marL="0" indent="0">
              <a:buNone/>
            </a:pPr>
            <a:r>
              <a:rPr lang="en-US" sz="1500" b="1" dirty="0">
                <a:solidFill>
                  <a:srgbClr val="1B2A57"/>
                </a:solidFill>
                <a:latin typeface="Cambria" pitchFamily="34" charset="0"/>
                <a:ea typeface="Cambria" pitchFamily="34" charset="-122"/>
                <a:cs typeface="Cambria" pitchFamily="34" charset="-120"/>
              </a:rPr>
              <a:t>Purpose</a:t>
            </a:r>
            <a:endParaRPr lang="en-US" sz="1500" dirty="0"/>
          </a:p>
        </p:txBody>
      </p:sp>
      <p:sp>
        <p:nvSpPr>
          <p:cNvPr id="6" name="Text 4"/>
          <p:cNvSpPr txBox="1"/>
          <p:nvPr/>
        </p:nvSpPr>
        <p:spPr>
          <a:xfrm>
            <a:off x="548640" y="1773936"/>
            <a:ext cx="6492240" cy="1234440"/>
          </a:xfrm>
          <a:prstGeom prst="rect">
            <a:avLst/>
          </a:prstGeom>
          <a:noFill/>
          <a:ln/>
        </p:spPr>
        <p:txBody>
          <a:bodyPr wrap="square" lIns="0" tIns="0" rIns="0" bIns="0" rtlCol="0" anchor="ctr"/>
          <a:lstStyle/>
          <a:p>
            <a:pPr marL="0" indent="0">
              <a:lnSpc>
                <a:spcPct val="122000"/>
              </a:lnSpc>
              <a:buNone/>
            </a:pPr>
            <a:r>
              <a:rPr lang="en-US" sz="1300" dirty="0">
                <a:solidFill>
                  <a:srgbClr val="1B2A57"/>
                </a:solidFill>
                <a:latin typeface="Calibri" pitchFamily="34" charset="0"/>
                <a:ea typeface="Calibri" pitchFamily="34" charset="-122"/>
                <a:cs typeface="Calibri" pitchFamily="34" charset="-120"/>
              </a:rPr>
              <a:t>This study builds an equity portfolio from 15 diversified Indian stocks and evaluates their performance against the NIFTY 50 index. Monthly returns, beta, excess return and risk-adjusted return are used to rank securities and construct an optimal portfolio.</a:t>
            </a:r>
            <a:endParaRPr lang="en-US" sz="1300" dirty="0"/>
          </a:p>
        </p:txBody>
      </p:sp>
      <p:sp>
        <p:nvSpPr>
          <p:cNvPr id="7" name="Text 5"/>
          <p:cNvSpPr txBox="1"/>
          <p:nvPr/>
        </p:nvSpPr>
        <p:spPr>
          <a:xfrm>
            <a:off x="548640" y="3063240"/>
            <a:ext cx="6492240" cy="310896"/>
          </a:xfrm>
          <a:prstGeom prst="rect">
            <a:avLst/>
          </a:prstGeom>
          <a:noFill/>
          <a:ln/>
        </p:spPr>
        <p:txBody>
          <a:bodyPr wrap="square" lIns="0" tIns="0" rIns="0" bIns="0" rtlCol="0" anchor="ctr"/>
          <a:lstStyle/>
          <a:p>
            <a:pPr marL="0" indent="0">
              <a:buNone/>
            </a:pPr>
            <a:r>
              <a:rPr lang="en-US" sz="1500" b="1" dirty="0">
                <a:solidFill>
                  <a:srgbClr val="1B2A57"/>
                </a:solidFill>
                <a:latin typeface="Cambria" pitchFamily="34" charset="0"/>
                <a:ea typeface="Cambria" pitchFamily="34" charset="-122"/>
                <a:cs typeface="Cambria" pitchFamily="34" charset="-120"/>
              </a:rPr>
              <a:t>Why Diversification</a:t>
            </a:r>
            <a:endParaRPr lang="en-US" sz="1500" dirty="0"/>
          </a:p>
        </p:txBody>
      </p:sp>
      <p:sp>
        <p:nvSpPr>
          <p:cNvPr id="8" name="Text 6"/>
          <p:cNvSpPr txBox="1"/>
          <p:nvPr/>
        </p:nvSpPr>
        <p:spPr>
          <a:xfrm>
            <a:off x="548640" y="3392424"/>
            <a:ext cx="6492240" cy="914400"/>
          </a:xfrm>
          <a:prstGeom prst="rect">
            <a:avLst/>
          </a:prstGeom>
          <a:noFill/>
          <a:ln/>
        </p:spPr>
        <p:txBody>
          <a:bodyPr wrap="square" lIns="0" tIns="0" rIns="0" bIns="0" rtlCol="0" anchor="ctr"/>
          <a:lstStyle/>
          <a:p>
            <a:pPr marL="0" indent="0">
              <a:lnSpc>
                <a:spcPct val="122000"/>
              </a:lnSpc>
              <a:buNone/>
            </a:pPr>
            <a:r>
              <a:rPr lang="en-US" sz="1300" dirty="0">
                <a:solidFill>
                  <a:srgbClr val="1B2A57"/>
                </a:solidFill>
                <a:latin typeface="Calibri" pitchFamily="34" charset="0"/>
                <a:ea typeface="Calibri" pitchFamily="34" charset="-122"/>
                <a:cs typeface="Calibri" pitchFamily="34" charset="-120"/>
              </a:rPr>
              <a:t>Spreading investment across 15 stocks in different sectors reduces unsystematic (company-specific) risk, so portfolio performance depends more on broad market movement than on any single stock.</a:t>
            </a:r>
            <a:endParaRPr lang="en-US" sz="1300" dirty="0"/>
          </a:p>
        </p:txBody>
      </p:sp>
      <p:sp>
        <p:nvSpPr>
          <p:cNvPr id="9" name="Text 7"/>
          <p:cNvSpPr txBox="1"/>
          <p:nvPr/>
        </p:nvSpPr>
        <p:spPr>
          <a:xfrm>
            <a:off x="548640" y="4370832"/>
            <a:ext cx="6492240" cy="310896"/>
          </a:xfrm>
          <a:prstGeom prst="rect">
            <a:avLst/>
          </a:prstGeom>
          <a:noFill/>
          <a:ln/>
        </p:spPr>
        <p:txBody>
          <a:bodyPr wrap="square" lIns="0" tIns="0" rIns="0" bIns="0" rtlCol="0" anchor="ctr"/>
          <a:lstStyle/>
          <a:p>
            <a:pPr marL="0" indent="0">
              <a:buNone/>
            </a:pPr>
            <a:r>
              <a:rPr lang="en-US" sz="1500" b="1" dirty="0">
                <a:solidFill>
                  <a:srgbClr val="1B2A57"/>
                </a:solidFill>
                <a:latin typeface="Cambria" pitchFamily="34" charset="0"/>
                <a:ea typeface="Cambria" pitchFamily="34" charset="-122"/>
                <a:cs typeface="Cambria" pitchFamily="34" charset="-120"/>
              </a:rPr>
              <a:t>Objective</a:t>
            </a:r>
            <a:endParaRPr lang="en-US" sz="1500" dirty="0"/>
          </a:p>
        </p:txBody>
      </p:sp>
      <p:sp>
        <p:nvSpPr>
          <p:cNvPr id="10" name="Text 8"/>
          <p:cNvSpPr txBox="1"/>
          <p:nvPr/>
        </p:nvSpPr>
        <p:spPr>
          <a:xfrm>
            <a:off x="548640" y="4700016"/>
            <a:ext cx="6492240" cy="173736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1B2A57"/>
                </a:solidFill>
                <a:latin typeface="Calibri" pitchFamily="34" charset="0"/>
                <a:ea typeface="Calibri" pitchFamily="34" charset="-122"/>
                <a:cs typeface="Calibri" pitchFamily="34" charset="-120"/>
              </a:rPr>
              <a:t>Use NIFTY 50 as the market benchmark for all beta and excess-return calculations</a:t>
            </a:r>
            <a:endParaRPr lang="en-US" sz="1250" dirty="0"/>
          </a:p>
          <a:p>
            <a:pPr marL="177800" indent="-177800">
              <a:spcAft>
                <a:spcPts val="800"/>
              </a:spcAft>
              <a:buSzPct val="100000"/>
              <a:buChar char="•"/>
            </a:pPr>
            <a:r>
              <a:rPr lang="en-US" sz="1250" dirty="0">
                <a:solidFill>
                  <a:srgbClr val="1B2A57"/>
                </a:solidFill>
                <a:latin typeface="Calibri" pitchFamily="34" charset="0"/>
                <a:ea typeface="Calibri" pitchFamily="34" charset="-122"/>
                <a:cs typeface="Calibri" pitchFamily="34" charset="-120"/>
              </a:rPr>
              <a:t>Evaluate each security on risk (beta) and reward (excess return) together</a:t>
            </a:r>
            <a:endParaRPr lang="en-US" sz="1250" dirty="0"/>
          </a:p>
          <a:p>
            <a:pPr marL="177800" indent="-177800">
              <a:spcAft>
                <a:spcPts val="800"/>
              </a:spcAft>
              <a:buSzPct val="100000"/>
              <a:buChar char="•"/>
            </a:pPr>
            <a:r>
              <a:rPr lang="en-US" sz="1250" dirty="0">
                <a:solidFill>
                  <a:srgbClr val="1B2A57"/>
                </a:solidFill>
                <a:latin typeface="Calibri" pitchFamily="34" charset="0"/>
                <a:ea typeface="Calibri" pitchFamily="34" charset="-122"/>
                <a:cs typeface="Calibri" pitchFamily="34" charset="-120"/>
              </a:rPr>
              <a:t>Rank securities by risk-adjusted performance to guide selection</a:t>
            </a:r>
            <a:endParaRPr lang="en-US" sz="1250" dirty="0"/>
          </a:p>
          <a:p>
            <a:pPr marL="177800" indent="-177800">
              <a:spcAft>
                <a:spcPts val="800"/>
              </a:spcAft>
              <a:buSzPct val="100000"/>
              <a:buChar char="•"/>
            </a:pPr>
            <a:r>
              <a:rPr lang="en-US" sz="1250" dirty="0">
                <a:solidFill>
                  <a:srgbClr val="1B2A57"/>
                </a:solidFill>
                <a:latin typeface="Calibri" pitchFamily="34" charset="0"/>
                <a:ea typeface="Calibri" pitchFamily="34" charset="-122"/>
                <a:cs typeface="Calibri" pitchFamily="34" charset="-120"/>
              </a:rPr>
              <a:t>Construct an optimal, diversified portfolio from the top-ranked securities</a:t>
            </a:r>
            <a:endParaRPr lang="en-US" sz="1250" dirty="0"/>
          </a:p>
        </p:txBody>
      </p:sp>
      <p:sp>
        <p:nvSpPr>
          <p:cNvPr id="11" name="Shape 9"/>
          <p:cNvSpPr/>
          <p:nvPr/>
        </p:nvSpPr>
        <p:spPr>
          <a:xfrm>
            <a:off x="7360920" y="1444752"/>
            <a:ext cx="4251960" cy="4754880"/>
          </a:xfrm>
          <a:prstGeom prst="rect">
            <a:avLst/>
          </a:prstGeom>
          <a:solidFill>
            <a:srgbClr val="1B2A57"/>
          </a:solidFill>
          <a:ln/>
        </p:spPr>
      </p:sp>
      <p:sp>
        <p:nvSpPr>
          <p:cNvPr id="12" name="Text 10"/>
          <p:cNvSpPr txBox="1"/>
          <p:nvPr/>
        </p:nvSpPr>
        <p:spPr>
          <a:xfrm>
            <a:off x="7635240" y="1691640"/>
            <a:ext cx="374904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MARKET BENCHMARK</a:t>
            </a:r>
            <a:endParaRPr lang="en-US" sz="1050" dirty="0"/>
          </a:p>
        </p:txBody>
      </p:sp>
      <p:sp>
        <p:nvSpPr>
          <p:cNvPr id="13" name="Text 11"/>
          <p:cNvSpPr txBox="1"/>
          <p:nvPr/>
        </p:nvSpPr>
        <p:spPr>
          <a:xfrm>
            <a:off x="7635240" y="1965960"/>
            <a:ext cx="374904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NIFTY 50</a:t>
            </a:r>
            <a:endParaRPr lang="en-US" sz="3000" dirty="0"/>
          </a:p>
        </p:txBody>
      </p:sp>
      <p:sp>
        <p:nvSpPr>
          <p:cNvPr id="14" name="Shape 12"/>
          <p:cNvSpPr/>
          <p:nvPr/>
        </p:nvSpPr>
        <p:spPr>
          <a:xfrm>
            <a:off x="7635240" y="2606040"/>
            <a:ext cx="3703320" cy="0"/>
          </a:xfrm>
          <a:prstGeom prst="line">
            <a:avLst/>
          </a:prstGeom>
          <a:noFill/>
          <a:ln w="19050">
            <a:solidFill>
              <a:srgbClr val="2E3F73"/>
            </a:solidFill>
            <a:prstDash val="solid"/>
          </a:ln>
        </p:spPr>
      </p:sp>
      <p:sp>
        <p:nvSpPr>
          <p:cNvPr id="15" name="Text 13"/>
          <p:cNvSpPr txBox="1"/>
          <p:nvPr/>
        </p:nvSpPr>
        <p:spPr>
          <a:xfrm>
            <a:off x="7635240" y="2834640"/>
            <a:ext cx="3703320" cy="2011680"/>
          </a:xfrm>
          <a:prstGeom prst="rect">
            <a:avLst/>
          </a:prstGeom>
          <a:noFill/>
          <a:ln/>
        </p:spPr>
        <p:txBody>
          <a:bodyPr wrap="square" lIns="0" tIns="0" rIns="0" bIns="0" rtlCol="0" anchor="ctr"/>
          <a:lstStyle/>
          <a:p>
            <a:pPr marL="0" indent="0">
              <a:lnSpc>
                <a:spcPct val="125000"/>
              </a:lnSpc>
              <a:buNone/>
            </a:pPr>
            <a:r>
              <a:rPr lang="en-US" sz="1200" dirty="0">
                <a:solidFill>
                  <a:srgbClr val="CADCFC"/>
                </a:solidFill>
                <a:latin typeface="Calibri" pitchFamily="34" charset="0"/>
                <a:ea typeface="Calibri" pitchFamily="34" charset="-122"/>
                <a:cs typeface="Calibri" pitchFamily="34" charset="-120"/>
              </a:rPr>
              <a:t>Every stock's monthly returns are measured against the NIFTY 50 to compute beta (market sensitivity) and excess return (performance above the risk-free reference). This provides a consistent, market-relative basis for comparing 15 stocks across different sectors and selecting the strongest risk-adjusted performers.</a:t>
            </a:r>
            <a:endParaRPr lang="en-US" sz="1200" dirty="0"/>
          </a:p>
        </p:txBody>
      </p:sp>
      <p:sp>
        <p:nvSpPr>
          <p:cNvPr id="16" name="Shape 14"/>
          <p:cNvSpPr/>
          <p:nvPr/>
        </p:nvSpPr>
        <p:spPr>
          <a:xfrm>
            <a:off x="7635240" y="5074920"/>
            <a:ext cx="3703320" cy="0"/>
          </a:xfrm>
          <a:prstGeom prst="line">
            <a:avLst/>
          </a:prstGeom>
          <a:noFill/>
          <a:ln w="19050">
            <a:solidFill>
              <a:srgbClr val="2E3F73"/>
            </a:solidFill>
            <a:prstDash val="solid"/>
          </a:ln>
        </p:spPr>
      </p:sp>
      <p:sp>
        <p:nvSpPr>
          <p:cNvPr id="17" name="Text 15"/>
          <p:cNvSpPr txBox="1"/>
          <p:nvPr/>
        </p:nvSpPr>
        <p:spPr>
          <a:xfrm>
            <a:off x="7635240" y="5230368"/>
            <a:ext cx="1828800" cy="256032"/>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PORTFOLIO SIZE</a:t>
            </a:r>
            <a:endParaRPr lang="en-US" sz="950" dirty="0"/>
          </a:p>
        </p:txBody>
      </p:sp>
      <p:sp>
        <p:nvSpPr>
          <p:cNvPr id="18" name="Text 16"/>
          <p:cNvSpPr txBox="1"/>
          <p:nvPr/>
        </p:nvSpPr>
        <p:spPr>
          <a:xfrm>
            <a:off x="7635240" y="5468112"/>
            <a:ext cx="1828800" cy="548640"/>
          </a:xfrm>
          <a:prstGeom prst="rect">
            <a:avLst/>
          </a:prstGeom>
          <a:noFill/>
          <a:ln/>
        </p:spPr>
        <p:txBody>
          <a:bodyPr wrap="square" lIns="0" tIns="0" rIns="0" bIns="0" rtlCol="0" anchor="ctr"/>
          <a:lstStyle/>
          <a:p>
            <a:pPr marL="0" indent="0">
              <a:buNone/>
            </a:pPr>
            <a:r>
              <a:rPr lang="en-US" sz="2800" b="1" dirty="0">
                <a:solidFill>
                  <a:srgbClr val="B8934A"/>
                </a:solidFill>
                <a:latin typeface="Cambria" pitchFamily="34" charset="0"/>
                <a:ea typeface="Cambria" pitchFamily="34" charset="-122"/>
                <a:cs typeface="Cambria" pitchFamily="34" charset="-120"/>
              </a:rPr>
              <a:t>15</a:t>
            </a:r>
            <a:endParaRPr lang="en-US" sz="2800" dirty="0"/>
          </a:p>
        </p:txBody>
      </p:sp>
      <p:sp>
        <p:nvSpPr>
          <p:cNvPr id="19" name="Text 17"/>
          <p:cNvSpPr txBox="1"/>
          <p:nvPr/>
        </p:nvSpPr>
        <p:spPr>
          <a:xfrm>
            <a:off x="9509760" y="5230368"/>
            <a:ext cx="1828800" cy="256032"/>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STUDY PERIOD</a:t>
            </a:r>
            <a:endParaRPr lang="en-US" sz="950" dirty="0"/>
          </a:p>
        </p:txBody>
      </p:sp>
      <p:sp>
        <p:nvSpPr>
          <p:cNvPr id="20" name="Text 18"/>
          <p:cNvSpPr txBox="1"/>
          <p:nvPr/>
        </p:nvSpPr>
        <p:spPr>
          <a:xfrm>
            <a:off x="9509760" y="5468112"/>
            <a:ext cx="182880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Monthly</a:t>
            </a:r>
            <a:endParaRPr lang="en-US" sz="1800" dirty="0"/>
          </a:p>
        </p:txBody>
      </p:sp>
      <p:sp>
        <p:nvSpPr>
          <p:cNvPr id="21" name="Text 19"/>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22" name="Text 20"/>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PORTFOLIO UNIVERSE</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700" b="1" dirty="0">
                <a:solidFill>
                  <a:srgbClr val="1B2A57"/>
                </a:solidFill>
                <a:latin typeface="Cambria" pitchFamily="34" charset="0"/>
                <a:ea typeface="Cambria" pitchFamily="34" charset="-122"/>
                <a:cs typeface="Cambria" pitchFamily="34" charset="-120"/>
              </a:rPr>
              <a:t>15 Selected Stocks &amp; Benchmark</a:t>
            </a:r>
            <a:endParaRPr lang="en-US" sz="2700" dirty="0"/>
          </a:p>
        </p:txBody>
      </p:sp>
      <p:sp>
        <p:nvSpPr>
          <p:cNvPr id="4" name="Shape 2"/>
          <p:cNvSpPr/>
          <p:nvPr/>
        </p:nvSpPr>
        <p:spPr>
          <a:xfrm>
            <a:off x="548640" y="1225296"/>
            <a:ext cx="11091672" cy="0"/>
          </a:xfrm>
          <a:prstGeom prst="line">
            <a:avLst/>
          </a:prstGeom>
          <a:noFill/>
          <a:ln w="12700">
            <a:solidFill>
              <a:srgbClr val="D9DFEC"/>
            </a:solidFill>
            <a:prstDash val="solid"/>
          </a:ln>
        </p:spPr>
      </p:sp>
      <p:sp>
        <p:nvSpPr>
          <p:cNvPr id="5" name="Shape 3"/>
          <p:cNvSpPr/>
          <p:nvPr/>
        </p:nvSpPr>
        <p:spPr>
          <a:xfrm>
            <a:off x="548640" y="1481328"/>
            <a:ext cx="3611880" cy="566928"/>
          </a:xfrm>
          <a:prstGeom prst="rect">
            <a:avLst/>
          </a:prstGeom>
          <a:solidFill>
            <a:srgbClr val="F5F7FB"/>
          </a:solidFill>
          <a:ln w="9525">
            <a:solidFill>
              <a:srgbClr val="D9DFEC"/>
            </a:solidFill>
            <a:prstDash val="solid"/>
          </a:ln>
        </p:spPr>
      </p:sp>
      <p:sp>
        <p:nvSpPr>
          <p:cNvPr id="6" name="Shape 4"/>
          <p:cNvSpPr/>
          <p:nvPr/>
        </p:nvSpPr>
        <p:spPr>
          <a:xfrm>
            <a:off x="676656" y="1618488"/>
            <a:ext cx="292608" cy="292608"/>
          </a:xfrm>
          <a:prstGeom prst="ellipse">
            <a:avLst/>
          </a:prstGeom>
          <a:solidFill>
            <a:srgbClr val="1B2A57"/>
          </a:solidFill>
          <a:ln/>
        </p:spPr>
      </p:sp>
      <p:sp>
        <p:nvSpPr>
          <p:cNvPr id="7" name="Text 5"/>
          <p:cNvSpPr txBox="1"/>
          <p:nvPr/>
        </p:nvSpPr>
        <p:spPr>
          <a:xfrm>
            <a:off x="676656" y="16002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8" name="Text 6"/>
          <p:cNvSpPr txBox="1"/>
          <p:nvPr/>
        </p:nvSpPr>
        <p:spPr>
          <a:xfrm>
            <a:off x="1060704" y="1563624"/>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Tata Motors</a:t>
            </a:r>
            <a:endParaRPr lang="en-US" sz="1350" dirty="0"/>
          </a:p>
        </p:txBody>
      </p:sp>
      <p:sp>
        <p:nvSpPr>
          <p:cNvPr id="9" name="Shape 7"/>
          <p:cNvSpPr/>
          <p:nvPr/>
        </p:nvSpPr>
        <p:spPr>
          <a:xfrm>
            <a:off x="548640" y="2139696"/>
            <a:ext cx="3611880" cy="566928"/>
          </a:xfrm>
          <a:prstGeom prst="rect">
            <a:avLst/>
          </a:prstGeom>
          <a:solidFill>
            <a:srgbClr val="F5F7FB"/>
          </a:solidFill>
          <a:ln w="9525">
            <a:solidFill>
              <a:srgbClr val="D9DFEC"/>
            </a:solidFill>
            <a:prstDash val="solid"/>
          </a:ln>
        </p:spPr>
      </p:sp>
      <p:sp>
        <p:nvSpPr>
          <p:cNvPr id="10" name="Shape 8"/>
          <p:cNvSpPr/>
          <p:nvPr/>
        </p:nvSpPr>
        <p:spPr>
          <a:xfrm>
            <a:off x="676656" y="2276856"/>
            <a:ext cx="292608" cy="292608"/>
          </a:xfrm>
          <a:prstGeom prst="ellipse">
            <a:avLst/>
          </a:prstGeom>
          <a:solidFill>
            <a:srgbClr val="1B2A57"/>
          </a:solidFill>
          <a:ln/>
        </p:spPr>
      </p:sp>
      <p:sp>
        <p:nvSpPr>
          <p:cNvPr id="11" name="Text 9"/>
          <p:cNvSpPr txBox="1"/>
          <p:nvPr/>
        </p:nvSpPr>
        <p:spPr>
          <a:xfrm>
            <a:off x="676656" y="225856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2" name="Text 10"/>
          <p:cNvSpPr txBox="1"/>
          <p:nvPr/>
        </p:nvSpPr>
        <p:spPr>
          <a:xfrm>
            <a:off x="1060704" y="2221992"/>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ICICI Bank</a:t>
            </a:r>
            <a:endParaRPr lang="en-US" sz="1350" dirty="0"/>
          </a:p>
        </p:txBody>
      </p:sp>
      <p:sp>
        <p:nvSpPr>
          <p:cNvPr id="13" name="Shape 11"/>
          <p:cNvSpPr/>
          <p:nvPr/>
        </p:nvSpPr>
        <p:spPr>
          <a:xfrm>
            <a:off x="548640" y="2798064"/>
            <a:ext cx="3611880" cy="566928"/>
          </a:xfrm>
          <a:prstGeom prst="rect">
            <a:avLst/>
          </a:prstGeom>
          <a:solidFill>
            <a:srgbClr val="F5F7FB"/>
          </a:solidFill>
          <a:ln w="9525">
            <a:solidFill>
              <a:srgbClr val="D9DFEC"/>
            </a:solidFill>
            <a:prstDash val="solid"/>
          </a:ln>
        </p:spPr>
      </p:sp>
      <p:sp>
        <p:nvSpPr>
          <p:cNvPr id="14" name="Shape 12"/>
          <p:cNvSpPr/>
          <p:nvPr/>
        </p:nvSpPr>
        <p:spPr>
          <a:xfrm>
            <a:off x="676656" y="2935224"/>
            <a:ext cx="292608" cy="292608"/>
          </a:xfrm>
          <a:prstGeom prst="ellipse">
            <a:avLst/>
          </a:prstGeom>
          <a:solidFill>
            <a:srgbClr val="1B2A57"/>
          </a:solidFill>
          <a:ln/>
        </p:spPr>
      </p:sp>
      <p:sp>
        <p:nvSpPr>
          <p:cNvPr id="15" name="Text 13"/>
          <p:cNvSpPr txBox="1"/>
          <p:nvPr/>
        </p:nvSpPr>
        <p:spPr>
          <a:xfrm>
            <a:off x="676656" y="29169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6" name="Text 14"/>
          <p:cNvSpPr txBox="1"/>
          <p:nvPr/>
        </p:nvSpPr>
        <p:spPr>
          <a:xfrm>
            <a:off x="1060704" y="2880360"/>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Adani Power</a:t>
            </a:r>
            <a:endParaRPr lang="en-US" sz="1350" dirty="0"/>
          </a:p>
        </p:txBody>
      </p:sp>
      <p:sp>
        <p:nvSpPr>
          <p:cNvPr id="17" name="Shape 15"/>
          <p:cNvSpPr/>
          <p:nvPr/>
        </p:nvSpPr>
        <p:spPr>
          <a:xfrm>
            <a:off x="548640" y="3456432"/>
            <a:ext cx="3611880" cy="566928"/>
          </a:xfrm>
          <a:prstGeom prst="rect">
            <a:avLst/>
          </a:prstGeom>
          <a:solidFill>
            <a:srgbClr val="F5F7FB"/>
          </a:solidFill>
          <a:ln w="9525">
            <a:solidFill>
              <a:srgbClr val="D9DFEC"/>
            </a:solidFill>
            <a:prstDash val="solid"/>
          </a:ln>
        </p:spPr>
      </p:sp>
      <p:sp>
        <p:nvSpPr>
          <p:cNvPr id="18" name="Shape 16"/>
          <p:cNvSpPr/>
          <p:nvPr/>
        </p:nvSpPr>
        <p:spPr>
          <a:xfrm>
            <a:off x="676656" y="3593592"/>
            <a:ext cx="292608" cy="292608"/>
          </a:xfrm>
          <a:prstGeom prst="ellipse">
            <a:avLst/>
          </a:prstGeom>
          <a:solidFill>
            <a:srgbClr val="1B2A57"/>
          </a:solidFill>
          <a:ln/>
        </p:spPr>
      </p:sp>
      <p:sp>
        <p:nvSpPr>
          <p:cNvPr id="19" name="Text 17"/>
          <p:cNvSpPr txBox="1"/>
          <p:nvPr/>
        </p:nvSpPr>
        <p:spPr>
          <a:xfrm>
            <a:off x="676656" y="357530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0" name="Text 18"/>
          <p:cNvSpPr txBox="1"/>
          <p:nvPr/>
        </p:nvSpPr>
        <p:spPr>
          <a:xfrm>
            <a:off x="1060704" y="3538728"/>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Maruti Suzuki</a:t>
            </a:r>
            <a:endParaRPr lang="en-US" sz="1350" dirty="0"/>
          </a:p>
        </p:txBody>
      </p:sp>
      <p:sp>
        <p:nvSpPr>
          <p:cNvPr id="21" name="Shape 19"/>
          <p:cNvSpPr/>
          <p:nvPr/>
        </p:nvSpPr>
        <p:spPr>
          <a:xfrm>
            <a:off x="548640" y="4114800"/>
            <a:ext cx="3611880" cy="566928"/>
          </a:xfrm>
          <a:prstGeom prst="rect">
            <a:avLst/>
          </a:prstGeom>
          <a:solidFill>
            <a:srgbClr val="F5F7FB"/>
          </a:solidFill>
          <a:ln w="9525">
            <a:solidFill>
              <a:srgbClr val="D9DFEC"/>
            </a:solidFill>
            <a:prstDash val="solid"/>
          </a:ln>
        </p:spPr>
      </p:sp>
      <p:sp>
        <p:nvSpPr>
          <p:cNvPr id="22" name="Shape 20"/>
          <p:cNvSpPr/>
          <p:nvPr/>
        </p:nvSpPr>
        <p:spPr>
          <a:xfrm>
            <a:off x="676656" y="4251960"/>
            <a:ext cx="292608" cy="292608"/>
          </a:xfrm>
          <a:prstGeom prst="ellipse">
            <a:avLst/>
          </a:prstGeom>
          <a:solidFill>
            <a:srgbClr val="1B2A57"/>
          </a:solidFill>
          <a:ln/>
        </p:spPr>
      </p:sp>
      <p:sp>
        <p:nvSpPr>
          <p:cNvPr id="23" name="Text 21"/>
          <p:cNvSpPr txBox="1"/>
          <p:nvPr/>
        </p:nvSpPr>
        <p:spPr>
          <a:xfrm>
            <a:off x="676656" y="423367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a:t>
            </a:r>
            <a:endParaRPr lang="en-US" sz="1200" dirty="0"/>
          </a:p>
        </p:txBody>
      </p:sp>
      <p:sp>
        <p:nvSpPr>
          <p:cNvPr id="24" name="Text 22"/>
          <p:cNvSpPr txBox="1"/>
          <p:nvPr/>
        </p:nvSpPr>
        <p:spPr>
          <a:xfrm>
            <a:off x="1060704" y="4197096"/>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CEAT</a:t>
            </a:r>
            <a:endParaRPr lang="en-US" sz="1350" dirty="0"/>
          </a:p>
        </p:txBody>
      </p:sp>
      <p:sp>
        <p:nvSpPr>
          <p:cNvPr id="25" name="Shape 23"/>
          <p:cNvSpPr/>
          <p:nvPr/>
        </p:nvSpPr>
        <p:spPr>
          <a:xfrm>
            <a:off x="4343400" y="1481328"/>
            <a:ext cx="3611880" cy="566928"/>
          </a:xfrm>
          <a:prstGeom prst="rect">
            <a:avLst/>
          </a:prstGeom>
          <a:solidFill>
            <a:srgbClr val="F5F7FB"/>
          </a:solidFill>
          <a:ln w="9525">
            <a:solidFill>
              <a:srgbClr val="D9DFEC"/>
            </a:solidFill>
            <a:prstDash val="solid"/>
          </a:ln>
        </p:spPr>
      </p:sp>
      <p:sp>
        <p:nvSpPr>
          <p:cNvPr id="26" name="Shape 24"/>
          <p:cNvSpPr/>
          <p:nvPr/>
        </p:nvSpPr>
        <p:spPr>
          <a:xfrm>
            <a:off x="4471416" y="1618488"/>
            <a:ext cx="292608" cy="292608"/>
          </a:xfrm>
          <a:prstGeom prst="ellipse">
            <a:avLst/>
          </a:prstGeom>
          <a:solidFill>
            <a:srgbClr val="1B2A57"/>
          </a:solidFill>
          <a:ln/>
        </p:spPr>
      </p:sp>
      <p:sp>
        <p:nvSpPr>
          <p:cNvPr id="27" name="Text 25"/>
          <p:cNvSpPr txBox="1"/>
          <p:nvPr/>
        </p:nvSpPr>
        <p:spPr>
          <a:xfrm>
            <a:off x="4471416" y="16002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t>
            </a:r>
            <a:endParaRPr lang="en-US" sz="1200" dirty="0"/>
          </a:p>
        </p:txBody>
      </p:sp>
      <p:sp>
        <p:nvSpPr>
          <p:cNvPr id="28" name="Text 26"/>
          <p:cNvSpPr txBox="1"/>
          <p:nvPr/>
        </p:nvSpPr>
        <p:spPr>
          <a:xfrm>
            <a:off x="4855464" y="1563624"/>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BLKI</a:t>
            </a:r>
            <a:endParaRPr lang="en-US" sz="1350" dirty="0"/>
          </a:p>
        </p:txBody>
      </p:sp>
      <p:sp>
        <p:nvSpPr>
          <p:cNvPr id="29" name="Shape 27"/>
          <p:cNvSpPr/>
          <p:nvPr/>
        </p:nvSpPr>
        <p:spPr>
          <a:xfrm>
            <a:off x="4343400" y="2139696"/>
            <a:ext cx="3611880" cy="566928"/>
          </a:xfrm>
          <a:prstGeom prst="rect">
            <a:avLst/>
          </a:prstGeom>
          <a:solidFill>
            <a:srgbClr val="F5F7FB"/>
          </a:solidFill>
          <a:ln w="9525">
            <a:solidFill>
              <a:srgbClr val="D9DFEC"/>
            </a:solidFill>
            <a:prstDash val="solid"/>
          </a:ln>
        </p:spPr>
      </p:sp>
      <p:sp>
        <p:nvSpPr>
          <p:cNvPr id="30" name="Shape 28"/>
          <p:cNvSpPr/>
          <p:nvPr/>
        </p:nvSpPr>
        <p:spPr>
          <a:xfrm>
            <a:off x="4471416" y="2276856"/>
            <a:ext cx="292608" cy="292608"/>
          </a:xfrm>
          <a:prstGeom prst="ellipse">
            <a:avLst/>
          </a:prstGeom>
          <a:solidFill>
            <a:srgbClr val="1B2A57"/>
          </a:solidFill>
          <a:ln/>
        </p:spPr>
      </p:sp>
      <p:sp>
        <p:nvSpPr>
          <p:cNvPr id="31" name="Text 29"/>
          <p:cNvSpPr txBox="1"/>
          <p:nvPr/>
        </p:nvSpPr>
        <p:spPr>
          <a:xfrm>
            <a:off x="4471416" y="225856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32" name="Text 30"/>
          <p:cNvSpPr txBox="1"/>
          <p:nvPr/>
        </p:nvSpPr>
        <p:spPr>
          <a:xfrm>
            <a:off x="4855464" y="2221992"/>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JSW Steel</a:t>
            </a:r>
            <a:endParaRPr lang="en-US" sz="1350" dirty="0"/>
          </a:p>
        </p:txBody>
      </p:sp>
      <p:sp>
        <p:nvSpPr>
          <p:cNvPr id="33" name="Shape 31"/>
          <p:cNvSpPr/>
          <p:nvPr/>
        </p:nvSpPr>
        <p:spPr>
          <a:xfrm>
            <a:off x="4343400" y="2798064"/>
            <a:ext cx="3611880" cy="566928"/>
          </a:xfrm>
          <a:prstGeom prst="rect">
            <a:avLst/>
          </a:prstGeom>
          <a:solidFill>
            <a:srgbClr val="F5F7FB"/>
          </a:solidFill>
          <a:ln w="9525">
            <a:solidFill>
              <a:srgbClr val="D9DFEC"/>
            </a:solidFill>
            <a:prstDash val="solid"/>
          </a:ln>
        </p:spPr>
      </p:sp>
      <p:sp>
        <p:nvSpPr>
          <p:cNvPr id="34" name="Shape 32"/>
          <p:cNvSpPr/>
          <p:nvPr/>
        </p:nvSpPr>
        <p:spPr>
          <a:xfrm>
            <a:off x="4471416" y="2935224"/>
            <a:ext cx="292608" cy="292608"/>
          </a:xfrm>
          <a:prstGeom prst="ellipse">
            <a:avLst/>
          </a:prstGeom>
          <a:solidFill>
            <a:srgbClr val="1B2A57"/>
          </a:solidFill>
          <a:ln/>
        </p:spPr>
      </p:sp>
      <p:sp>
        <p:nvSpPr>
          <p:cNvPr id="35" name="Text 33"/>
          <p:cNvSpPr txBox="1"/>
          <p:nvPr/>
        </p:nvSpPr>
        <p:spPr>
          <a:xfrm>
            <a:off x="4471416" y="29169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a:t>
            </a:r>
            <a:endParaRPr lang="en-US" sz="1200" dirty="0"/>
          </a:p>
        </p:txBody>
      </p:sp>
      <p:sp>
        <p:nvSpPr>
          <p:cNvPr id="36" name="Text 34"/>
          <p:cNvSpPr txBox="1"/>
          <p:nvPr/>
        </p:nvSpPr>
        <p:spPr>
          <a:xfrm>
            <a:off x="4855464" y="2880360"/>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TVS Motors</a:t>
            </a:r>
            <a:endParaRPr lang="en-US" sz="1350" dirty="0"/>
          </a:p>
        </p:txBody>
      </p:sp>
      <p:sp>
        <p:nvSpPr>
          <p:cNvPr id="37" name="Shape 35"/>
          <p:cNvSpPr/>
          <p:nvPr/>
        </p:nvSpPr>
        <p:spPr>
          <a:xfrm>
            <a:off x="4343400" y="3456432"/>
            <a:ext cx="3611880" cy="566928"/>
          </a:xfrm>
          <a:prstGeom prst="rect">
            <a:avLst/>
          </a:prstGeom>
          <a:solidFill>
            <a:srgbClr val="F5F7FB"/>
          </a:solidFill>
          <a:ln w="9525">
            <a:solidFill>
              <a:srgbClr val="D9DFEC"/>
            </a:solidFill>
            <a:prstDash val="solid"/>
          </a:ln>
        </p:spPr>
      </p:sp>
      <p:sp>
        <p:nvSpPr>
          <p:cNvPr id="38" name="Shape 36"/>
          <p:cNvSpPr/>
          <p:nvPr/>
        </p:nvSpPr>
        <p:spPr>
          <a:xfrm>
            <a:off x="4471416" y="3593592"/>
            <a:ext cx="292608" cy="292608"/>
          </a:xfrm>
          <a:prstGeom prst="ellipse">
            <a:avLst/>
          </a:prstGeom>
          <a:solidFill>
            <a:srgbClr val="1B2A57"/>
          </a:solidFill>
          <a:ln/>
        </p:spPr>
      </p:sp>
      <p:sp>
        <p:nvSpPr>
          <p:cNvPr id="39" name="Text 37"/>
          <p:cNvSpPr txBox="1"/>
          <p:nvPr/>
        </p:nvSpPr>
        <p:spPr>
          <a:xfrm>
            <a:off x="4471416" y="357530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a:t>
            </a:r>
            <a:endParaRPr lang="en-US" sz="1200" dirty="0"/>
          </a:p>
        </p:txBody>
      </p:sp>
      <p:sp>
        <p:nvSpPr>
          <p:cNvPr id="40" name="Text 38"/>
          <p:cNvSpPr txBox="1"/>
          <p:nvPr/>
        </p:nvSpPr>
        <p:spPr>
          <a:xfrm>
            <a:off x="4855464" y="3538728"/>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L&amp;T</a:t>
            </a:r>
            <a:endParaRPr lang="en-US" sz="1350" dirty="0"/>
          </a:p>
        </p:txBody>
      </p:sp>
      <p:sp>
        <p:nvSpPr>
          <p:cNvPr id="41" name="Shape 39"/>
          <p:cNvSpPr/>
          <p:nvPr/>
        </p:nvSpPr>
        <p:spPr>
          <a:xfrm>
            <a:off x="4343400" y="4114800"/>
            <a:ext cx="3611880" cy="566928"/>
          </a:xfrm>
          <a:prstGeom prst="rect">
            <a:avLst/>
          </a:prstGeom>
          <a:solidFill>
            <a:srgbClr val="F5F7FB"/>
          </a:solidFill>
          <a:ln w="9525">
            <a:solidFill>
              <a:srgbClr val="D9DFEC"/>
            </a:solidFill>
            <a:prstDash val="solid"/>
          </a:ln>
        </p:spPr>
      </p:sp>
      <p:sp>
        <p:nvSpPr>
          <p:cNvPr id="42" name="Shape 40"/>
          <p:cNvSpPr/>
          <p:nvPr/>
        </p:nvSpPr>
        <p:spPr>
          <a:xfrm>
            <a:off x="4471416" y="4251960"/>
            <a:ext cx="292608" cy="292608"/>
          </a:xfrm>
          <a:prstGeom prst="ellipse">
            <a:avLst/>
          </a:prstGeom>
          <a:solidFill>
            <a:srgbClr val="1B2A57"/>
          </a:solidFill>
          <a:ln/>
        </p:spPr>
      </p:sp>
      <p:sp>
        <p:nvSpPr>
          <p:cNvPr id="43" name="Text 41"/>
          <p:cNvSpPr txBox="1"/>
          <p:nvPr/>
        </p:nvSpPr>
        <p:spPr>
          <a:xfrm>
            <a:off x="4471416" y="423367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J</a:t>
            </a:r>
            <a:endParaRPr lang="en-US" sz="1200" dirty="0"/>
          </a:p>
        </p:txBody>
      </p:sp>
      <p:sp>
        <p:nvSpPr>
          <p:cNvPr id="44" name="Text 42"/>
          <p:cNvSpPr txBox="1"/>
          <p:nvPr/>
        </p:nvSpPr>
        <p:spPr>
          <a:xfrm>
            <a:off x="4855464" y="4197096"/>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Bharti Airtel</a:t>
            </a:r>
            <a:endParaRPr lang="en-US" sz="1350" dirty="0"/>
          </a:p>
        </p:txBody>
      </p:sp>
      <p:sp>
        <p:nvSpPr>
          <p:cNvPr id="45" name="Shape 43"/>
          <p:cNvSpPr/>
          <p:nvPr/>
        </p:nvSpPr>
        <p:spPr>
          <a:xfrm>
            <a:off x="8138160" y="1481328"/>
            <a:ext cx="3611880" cy="566928"/>
          </a:xfrm>
          <a:prstGeom prst="rect">
            <a:avLst/>
          </a:prstGeom>
          <a:solidFill>
            <a:srgbClr val="F5F7FB"/>
          </a:solidFill>
          <a:ln w="9525">
            <a:solidFill>
              <a:srgbClr val="D9DFEC"/>
            </a:solidFill>
            <a:prstDash val="solid"/>
          </a:ln>
        </p:spPr>
      </p:sp>
      <p:sp>
        <p:nvSpPr>
          <p:cNvPr id="46" name="Shape 44"/>
          <p:cNvSpPr/>
          <p:nvPr/>
        </p:nvSpPr>
        <p:spPr>
          <a:xfrm>
            <a:off x="8266176" y="1618488"/>
            <a:ext cx="292608" cy="292608"/>
          </a:xfrm>
          <a:prstGeom prst="ellipse">
            <a:avLst/>
          </a:prstGeom>
          <a:solidFill>
            <a:srgbClr val="1B2A57"/>
          </a:solidFill>
          <a:ln/>
        </p:spPr>
      </p:sp>
      <p:sp>
        <p:nvSpPr>
          <p:cNvPr id="47" name="Text 45"/>
          <p:cNvSpPr txBox="1"/>
          <p:nvPr/>
        </p:nvSpPr>
        <p:spPr>
          <a:xfrm>
            <a:off x="8266176" y="16002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a:t>
            </a:r>
            <a:endParaRPr lang="en-US" sz="1200" dirty="0"/>
          </a:p>
        </p:txBody>
      </p:sp>
      <p:sp>
        <p:nvSpPr>
          <p:cNvPr id="48" name="Text 46"/>
          <p:cNvSpPr txBox="1"/>
          <p:nvPr/>
        </p:nvSpPr>
        <p:spPr>
          <a:xfrm>
            <a:off x="8650224" y="1563624"/>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Infosys</a:t>
            </a:r>
            <a:endParaRPr lang="en-US" sz="1350" dirty="0"/>
          </a:p>
        </p:txBody>
      </p:sp>
      <p:sp>
        <p:nvSpPr>
          <p:cNvPr id="49" name="Shape 47"/>
          <p:cNvSpPr/>
          <p:nvPr/>
        </p:nvSpPr>
        <p:spPr>
          <a:xfrm>
            <a:off x="8138160" y="2139696"/>
            <a:ext cx="3611880" cy="566928"/>
          </a:xfrm>
          <a:prstGeom prst="rect">
            <a:avLst/>
          </a:prstGeom>
          <a:solidFill>
            <a:srgbClr val="F5F7FB"/>
          </a:solidFill>
          <a:ln w="9525">
            <a:solidFill>
              <a:srgbClr val="D9DFEC"/>
            </a:solidFill>
            <a:prstDash val="solid"/>
          </a:ln>
        </p:spPr>
      </p:sp>
      <p:sp>
        <p:nvSpPr>
          <p:cNvPr id="50" name="Shape 48"/>
          <p:cNvSpPr/>
          <p:nvPr/>
        </p:nvSpPr>
        <p:spPr>
          <a:xfrm>
            <a:off x="8266176" y="2276856"/>
            <a:ext cx="292608" cy="292608"/>
          </a:xfrm>
          <a:prstGeom prst="ellipse">
            <a:avLst/>
          </a:prstGeom>
          <a:solidFill>
            <a:srgbClr val="1B2A57"/>
          </a:solidFill>
          <a:ln/>
        </p:spPr>
      </p:sp>
      <p:sp>
        <p:nvSpPr>
          <p:cNvPr id="51" name="Text 49"/>
          <p:cNvSpPr txBox="1"/>
          <p:nvPr/>
        </p:nvSpPr>
        <p:spPr>
          <a:xfrm>
            <a:off x="8266176" y="225856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t>
            </a:r>
            <a:endParaRPr lang="en-US" sz="1200" dirty="0"/>
          </a:p>
        </p:txBody>
      </p:sp>
      <p:sp>
        <p:nvSpPr>
          <p:cNvPr id="52" name="Text 50"/>
          <p:cNvSpPr txBox="1"/>
          <p:nvPr/>
        </p:nvSpPr>
        <p:spPr>
          <a:xfrm>
            <a:off x="8650224" y="2221992"/>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Viaz Tyres</a:t>
            </a:r>
            <a:endParaRPr lang="en-US" sz="1350" dirty="0"/>
          </a:p>
        </p:txBody>
      </p:sp>
      <p:sp>
        <p:nvSpPr>
          <p:cNvPr id="53" name="Shape 51"/>
          <p:cNvSpPr/>
          <p:nvPr/>
        </p:nvSpPr>
        <p:spPr>
          <a:xfrm>
            <a:off x="8138160" y="2798064"/>
            <a:ext cx="3611880" cy="566928"/>
          </a:xfrm>
          <a:prstGeom prst="rect">
            <a:avLst/>
          </a:prstGeom>
          <a:solidFill>
            <a:srgbClr val="F5F7FB"/>
          </a:solidFill>
          <a:ln w="9525">
            <a:solidFill>
              <a:srgbClr val="D9DFEC"/>
            </a:solidFill>
            <a:prstDash val="solid"/>
          </a:ln>
        </p:spPr>
      </p:sp>
      <p:sp>
        <p:nvSpPr>
          <p:cNvPr id="54" name="Shape 52"/>
          <p:cNvSpPr/>
          <p:nvPr/>
        </p:nvSpPr>
        <p:spPr>
          <a:xfrm>
            <a:off x="8266176" y="2935224"/>
            <a:ext cx="292608" cy="292608"/>
          </a:xfrm>
          <a:prstGeom prst="ellipse">
            <a:avLst/>
          </a:prstGeom>
          <a:solidFill>
            <a:srgbClr val="1B2A57"/>
          </a:solidFill>
          <a:ln/>
        </p:spPr>
      </p:sp>
      <p:sp>
        <p:nvSpPr>
          <p:cNvPr id="55" name="Text 53"/>
          <p:cNvSpPr txBox="1"/>
          <p:nvPr/>
        </p:nvSpPr>
        <p:spPr>
          <a:xfrm>
            <a:off x="8266176" y="29169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56" name="Text 54"/>
          <p:cNvSpPr txBox="1"/>
          <p:nvPr/>
        </p:nvSpPr>
        <p:spPr>
          <a:xfrm>
            <a:off x="8650224" y="2880360"/>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NTPC</a:t>
            </a:r>
            <a:endParaRPr lang="en-US" sz="1350" dirty="0"/>
          </a:p>
        </p:txBody>
      </p:sp>
      <p:sp>
        <p:nvSpPr>
          <p:cNvPr id="57" name="Shape 55"/>
          <p:cNvSpPr/>
          <p:nvPr/>
        </p:nvSpPr>
        <p:spPr>
          <a:xfrm>
            <a:off x="8138160" y="3456432"/>
            <a:ext cx="3611880" cy="566928"/>
          </a:xfrm>
          <a:prstGeom prst="rect">
            <a:avLst/>
          </a:prstGeom>
          <a:solidFill>
            <a:srgbClr val="F5F7FB"/>
          </a:solidFill>
          <a:ln w="9525">
            <a:solidFill>
              <a:srgbClr val="D9DFEC"/>
            </a:solidFill>
            <a:prstDash val="solid"/>
          </a:ln>
        </p:spPr>
      </p:sp>
      <p:sp>
        <p:nvSpPr>
          <p:cNvPr id="58" name="Shape 56"/>
          <p:cNvSpPr/>
          <p:nvPr/>
        </p:nvSpPr>
        <p:spPr>
          <a:xfrm>
            <a:off x="8266176" y="3593592"/>
            <a:ext cx="292608" cy="292608"/>
          </a:xfrm>
          <a:prstGeom prst="ellipse">
            <a:avLst/>
          </a:prstGeom>
          <a:solidFill>
            <a:srgbClr val="1B2A57"/>
          </a:solidFill>
          <a:ln/>
        </p:spPr>
      </p:sp>
      <p:sp>
        <p:nvSpPr>
          <p:cNvPr id="59" name="Text 57"/>
          <p:cNvSpPr txBox="1"/>
          <p:nvPr/>
        </p:nvSpPr>
        <p:spPr>
          <a:xfrm>
            <a:off x="8266176" y="357530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a:t>
            </a:r>
            <a:endParaRPr lang="en-US" sz="1200" dirty="0"/>
          </a:p>
        </p:txBody>
      </p:sp>
      <p:sp>
        <p:nvSpPr>
          <p:cNvPr id="60" name="Text 58"/>
          <p:cNvSpPr txBox="1"/>
          <p:nvPr/>
        </p:nvSpPr>
        <p:spPr>
          <a:xfrm>
            <a:off x="8650224" y="3538728"/>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Hero MotoCorp</a:t>
            </a:r>
            <a:endParaRPr lang="en-US" sz="1350" dirty="0"/>
          </a:p>
        </p:txBody>
      </p:sp>
      <p:sp>
        <p:nvSpPr>
          <p:cNvPr id="61" name="Shape 59"/>
          <p:cNvSpPr/>
          <p:nvPr/>
        </p:nvSpPr>
        <p:spPr>
          <a:xfrm>
            <a:off x="8138160" y="4114800"/>
            <a:ext cx="3611880" cy="566928"/>
          </a:xfrm>
          <a:prstGeom prst="rect">
            <a:avLst/>
          </a:prstGeom>
          <a:solidFill>
            <a:srgbClr val="F5F7FB"/>
          </a:solidFill>
          <a:ln w="9525">
            <a:solidFill>
              <a:srgbClr val="D9DFEC"/>
            </a:solidFill>
            <a:prstDash val="solid"/>
          </a:ln>
        </p:spPr>
      </p:sp>
      <p:sp>
        <p:nvSpPr>
          <p:cNvPr id="62" name="Shape 60"/>
          <p:cNvSpPr/>
          <p:nvPr/>
        </p:nvSpPr>
        <p:spPr>
          <a:xfrm>
            <a:off x="8266176" y="4251960"/>
            <a:ext cx="292608" cy="292608"/>
          </a:xfrm>
          <a:prstGeom prst="ellipse">
            <a:avLst/>
          </a:prstGeom>
          <a:solidFill>
            <a:srgbClr val="1B2A57"/>
          </a:solidFill>
          <a:ln/>
        </p:spPr>
      </p:sp>
      <p:sp>
        <p:nvSpPr>
          <p:cNvPr id="63" name="Text 61"/>
          <p:cNvSpPr txBox="1"/>
          <p:nvPr/>
        </p:nvSpPr>
        <p:spPr>
          <a:xfrm>
            <a:off x="8266176" y="423367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64" name="Text 62"/>
          <p:cNvSpPr txBox="1"/>
          <p:nvPr/>
        </p:nvSpPr>
        <p:spPr>
          <a:xfrm>
            <a:off x="8650224" y="4197096"/>
            <a:ext cx="3017520" cy="402336"/>
          </a:xfrm>
          <a:prstGeom prst="rect">
            <a:avLst/>
          </a:prstGeom>
          <a:noFill/>
          <a:ln/>
        </p:spPr>
        <p:txBody>
          <a:bodyPr wrap="square" lIns="0" tIns="0" rIns="0" bIns="0" rtlCol="0" anchor="ctr"/>
          <a:lstStyle/>
          <a:p>
            <a:pPr marL="0" indent="0">
              <a:buNone/>
            </a:pPr>
            <a:r>
              <a:rPr lang="en-US" sz="1350" b="1" dirty="0">
                <a:solidFill>
                  <a:srgbClr val="1B2A57"/>
                </a:solidFill>
                <a:latin typeface="Calibri" pitchFamily="34" charset="0"/>
                <a:ea typeface="Calibri" pitchFamily="34" charset="-122"/>
                <a:cs typeface="Calibri" pitchFamily="34" charset="-120"/>
              </a:rPr>
              <a:t>HUL</a:t>
            </a:r>
            <a:endParaRPr lang="en-US" sz="1350" dirty="0"/>
          </a:p>
        </p:txBody>
      </p:sp>
      <p:sp>
        <p:nvSpPr>
          <p:cNvPr id="65" name="Shape 63"/>
          <p:cNvSpPr/>
          <p:nvPr/>
        </p:nvSpPr>
        <p:spPr>
          <a:xfrm>
            <a:off x="548640" y="4892040"/>
            <a:ext cx="11091672" cy="777240"/>
          </a:xfrm>
          <a:prstGeom prst="rect">
            <a:avLst/>
          </a:prstGeom>
          <a:solidFill>
            <a:srgbClr val="1B2A57"/>
          </a:solidFill>
          <a:ln/>
        </p:spPr>
      </p:sp>
      <p:sp>
        <p:nvSpPr>
          <p:cNvPr id="66" name="Text 64"/>
          <p:cNvSpPr txBox="1"/>
          <p:nvPr/>
        </p:nvSpPr>
        <p:spPr>
          <a:xfrm>
            <a:off x="822960" y="4892040"/>
            <a:ext cx="3108960" cy="7772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MARKET BENCHMARK:  </a:t>
            </a:r>
            <a:endParaRPr lang="en-US" sz="1200" dirty="0"/>
          </a:p>
        </p:txBody>
      </p:sp>
      <p:sp>
        <p:nvSpPr>
          <p:cNvPr id="67" name="Text 65"/>
          <p:cNvSpPr txBox="1"/>
          <p:nvPr/>
        </p:nvSpPr>
        <p:spPr>
          <a:xfrm>
            <a:off x="3566160" y="4892040"/>
            <a:ext cx="2377440" cy="777240"/>
          </a:xfrm>
          <a:prstGeom prst="rect">
            <a:avLst/>
          </a:prstGeom>
          <a:noFill/>
          <a:ln/>
        </p:spPr>
        <p:txBody>
          <a:bodyPr wrap="square" lIns="0" tIns="0" rIns="0" bIns="0" rtlCol="0" anchor="ctr"/>
          <a:lstStyle/>
          <a:p>
            <a:pPr marL="0" indent="0">
              <a:buNone/>
            </a:pPr>
            <a:r>
              <a:rPr lang="en-US" sz="2000" b="1" dirty="0">
                <a:solidFill>
                  <a:srgbClr val="B8934A"/>
                </a:solidFill>
                <a:latin typeface="Cambria" pitchFamily="34" charset="0"/>
                <a:ea typeface="Cambria" pitchFamily="34" charset="-122"/>
                <a:cs typeface="Cambria" pitchFamily="34" charset="-120"/>
              </a:rPr>
              <a:t>NIFTY 50</a:t>
            </a:r>
            <a:endParaRPr lang="en-US" sz="2000" dirty="0"/>
          </a:p>
        </p:txBody>
      </p:sp>
      <p:sp>
        <p:nvSpPr>
          <p:cNvPr id="68" name="Text 66"/>
          <p:cNvSpPr txBox="1"/>
          <p:nvPr/>
        </p:nvSpPr>
        <p:spPr>
          <a:xfrm>
            <a:off x="6126480" y="4892040"/>
            <a:ext cx="5212080" cy="77724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Study Period: January 2024 – January 2025   |   Frequency: Monthly   |   Securities: 15 + benchmark</a:t>
            </a:r>
            <a:endParaRPr lang="en-US" sz="1150" dirty="0"/>
          </a:p>
        </p:txBody>
      </p:sp>
      <p:sp>
        <p:nvSpPr>
          <p:cNvPr id="69" name="Text 67"/>
          <p:cNvSpPr txBox="1"/>
          <p:nvPr/>
        </p:nvSpPr>
        <p:spPr>
          <a:xfrm>
            <a:off x="548640" y="5806440"/>
            <a:ext cx="11064240" cy="457200"/>
          </a:xfrm>
          <a:prstGeom prst="rect">
            <a:avLst/>
          </a:prstGeom>
          <a:noFill/>
          <a:ln/>
        </p:spPr>
        <p:txBody>
          <a:bodyPr wrap="square" lIns="0" tIns="0" rIns="0" bIns="0" rtlCol="0" anchor="ctr"/>
          <a:lstStyle/>
          <a:p>
            <a:pPr marL="0" indent="0">
              <a:buNone/>
            </a:pPr>
            <a:r>
              <a:rPr lang="en-US" sz="1150" i="1" dirty="0">
                <a:solidFill>
                  <a:srgbClr val="5C6788"/>
                </a:solidFill>
                <a:latin typeface="Calibri" pitchFamily="34" charset="0"/>
                <a:ea typeface="Calibri" pitchFamily="34" charset="-122"/>
                <a:cs typeface="Calibri" pitchFamily="34" charset="-120"/>
              </a:rPr>
              <a:t>15 stocks were selected across diverse Indian businesses to diversify unsystematic risk before evaluating each against the NIFTY 50 benchmark.</a:t>
            </a:r>
            <a:endParaRPr lang="en-US" sz="1150" dirty="0"/>
          </a:p>
        </p:txBody>
      </p:sp>
      <p:sp>
        <p:nvSpPr>
          <p:cNvPr id="70" name="Text 68"/>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71" name="Text 69"/>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700" b="1" dirty="0">
                <a:solidFill>
                  <a:srgbClr val="1B2A57"/>
                </a:solidFill>
                <a:latin typeface="Cambria" pitchFamily="34" charset="0"/>
                <a:ea typeface="Cambria" pitchFamily="34" charset="-122"/>
                <a:cs typeface="Cambria" pitchFamily="34" charset="-120"/>
              </a:rPr>
              <a:t>Portfolio Analytical Framework</a:t>
            </a:r>
            <a:endParaRPr lang="en-US" sz="2700" dirty="0"/>
          </a:p>
        </p:txBody>
      </p:sp>
      <p:sp>
        <p:nvSpPr>
          <p:cNvPr id="4" name="Shape 2"/>
          <p:cNvSpPr/>
          <p:nvPr/>
        </p:nvSpPr>
        <p:spPr>
          <a:xfrm>
            <a:off x="548640" y="1225296"/>
            <a:ext cx="11091672" cy="0"/>
          </a:xfrm>
          <a:prstGeom prst="line">
            <a:avLst/>
          </a:prstGeom>
          <a:noFill/>
          <a:ln w="12700">
            <a:solidFill>
              <a:srgbClr val="D9DFEC"/>
            </a:solidFill>
            <a:prstDash val="solid"/>
          </a:ln>
        </p:spPr>
      </p:sp>
      <p:sp>
        <p:nvSpPr>
          <p:cNvPr id="5" name="Shape 3"/>
          <p:cNvSpPr/>
          <p:nvPr/>
        </p:nvSpPr>
        <p:spPr>
          <a:xfrm>
            <a:off x="548640" y="1783080"/>
            <a:ext cx="1298448" cy="1554480"/>
          </a:xfrm>
          <a:prstGeom prst="rect">
            <a:avLst/>
          </a:prstGeom>
          <a:solidFill>
            <a:srgbClr val="F5F7FB"/>
          </a:solidFill>
          <a:ln w="12700">
            <a:solidFill>
              <a:srgbClr val="D9DFEC"/>
            </a:solidFill>
            <a:prstDash val="solid"/>
          </a:ln>
        </p:spPr>
      </p:sp>
      <p:sp>
        <p:nvSpPr>
          <p:cNvPr id="6" name="Shape 4"/>
          <p:cNvSpPr/>
          <p:nvPr/>
        </p:nvSpPr>
        <p:spPr>
          <a:xfrm>
            <a:off x="1060704" y="1911096"/>
            <a:ext cx="274320" cy="274320"/>
          </a:xfrm>
          <a:prstGeom prst="ellipse">
            <a:avLst/>
          </a:prstGeom>
          <a:solidFill>
            <a:srgbClr val="1B2A57"/>
          </a:solidFill>
          <a:ln/>
        </p:spPr>
      </p:sp>
      <p:sp>
        <p:nvSpPr>
          <p:cNvPr id="7" name="Text 5"/>
          <p:cNvSpPr txBox="1"/>
          <p:nvPr/>
        </p:nvSpPr>
        <p:spPr>
          <a:xfrm>
            <a:off x="1060704" y="191109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txBox="1"/>
          <p:nvPr/>
        </p:nvSpPr>
        <p:spPr>
          <a:xfrm>
            <a:off x="603504" y="2258568"/>
            <a:ext cx="1188720" cy="475488"/>
          </a:xfrm>
          <a:prstGeom prst="rect">
            <a:avLst/>
          </a:prstGeom>
          <a:noFill/>
          <a:ln/>
        </p:spPr>
        <p:txBody>
          <a:bodyPr wrap="square" lIns="0" tIns="0" rIns="0" bIns="0" rtlCol="0" anchor="t"/>
          <a:lstStyle/>
          <a:p>
            <a:pPr marL="0" indent="0" algn="ctr">
              <a:buNone/>
            </a:pPr>
            <a:r>
              <a:rPr lang="en-US" sz="1000" b="1" dirty="0">
                <a:solidFill>
                  <a:srgbClr val="1B2A57"/>
                </a:solidFill>
                <a:latin typeface="Calibri" pitchFamily="34" charset="0"/>
                <a:ea typeface="Calibri" pitchFamily="34" charset="-122"/>
                <a:cs typeface="Calibri" pitchFamily="34" charset="-120"/>
              </a:rPr>
              <a:t>Historical Stock Data</a:t>
            </a:r>
            <a:endParaRPr lang="en-US" sz="1000" dirty="0"/>
          </a:p>
        </p:txBody>
      </p:sp>
      <p:sp>
        <p:nvSpPr>
          <p:cNvPr id="9" name="Text 7"/>
          <p:cNvSpPr txBox="1"/>
          <p:nvPr/>
        </p:nvSpPr>
        <p:spPr>
          <a:xfrm>
            <a:off x="603504" y="2743200"/>
            <a:ext cx="1188720" cy="548640"/>
          </a:xfrm>
          <a:prstGeom prst="rect">
            <a:avLst/>
          </a:prstGeom>
          <a:noFill/>
          <a:ln/>
        </p:spPr>
        <p:txBody>
          <a:bodyPr wrap="square" lIns="0" tIns="0" rIns="0" bIns="0" rtlCol="0" anchor="t"/>
          <a:lstStyle/>
          <a:p>
            <a:pPr marL="0" indent="0" algn="ctr">
              <a:buNone/>
            </a:pPr>
            <a:r>
              <a:rPr lang="en-US" sz="760" dirty="0">
                <a:solidFill>
                  <a:srgbClr val="5C6788"/>
                </a:solidFill>
                <a:latin typeface="Calibri" pitchFamily="34" charset="0"/>
                <a:ea typeface="Calibri" pitchFamily="34" charset="-122"/>
                <a:cs typeface="Calibri" pitchFamily="34" charset="-120"/>
              </a:rPr>
              <a:t>Monthly prices collected for 15 stocks and NIFTY 50</a:t>
            </a:r>
            <a:endParaRPr lang="en-US" sz="760" dirty="0"/>
          </a:p>
        </p:txBody>
      </p:sp>
      <p:sp>
        <p:nvSpPr>
          <p:cNvPr id="10" name="Text 8"/>
          <p:cNvSpPr txBox="1"/>
          <p:nvPr/>
        </p:nvSpPr>
        <p:spPr>
          <a:xfrm>
            <a:off x="1848917" y="2377440"/>
            <a:ext cx="91440" cy="365760"/>
          </a:xfrm>
          <a:prstGeom prst="rect">
            <a:avLst/>
          </a:prstGeom>
          <a:noFill/>
          <a:ln/>
        </p:spPr>
        <p:txBody>
          <a:bodyPr wrap="square" lIns="0" tIns="0" rIns="0" bIns="0" rtlCol="0" anchor="ctr"/>
          <a:lstStyle/>
          <a:p>
            <a:pPr marL="0" indent="0" algn="ctr">
              <a:buNone/>
            </a:pPr>
            <a:r>
              <a:rPr lang="en-US" sz="1500" b="1" dirty="0">
                <a:solidFill>
                  <a:srgbClr val="B8934A"/>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1938528" y="1783080"/>
            <a:ext cx="1298448" cy="1554480"/>
          </a:xfrm>
          <a:prstGeom prst="rect">
            <a:avLst/>
          </a:prstGeom>
          <a:solidFill>
            <a:srgbClr val="F5F7FB"/>
          </a:solidFill>
          <a:ln w="12700">
            <a:solidFill>
              <a:srgbClr val="D9DFEC"/>
            </a:solidFill>
            <a:prstDash val="solid"/>
          </a:ln>
        </p:spPr>
      </p:sp>
      <p:sp>
        <p:nvSpPr>
          <p:cNvPr id="12" name="Shape 10"/>
          <p:cNvSpPr/>
          <p:nvPr/>
        </p:nvSpPr>
        <p:spPr>
          <a:xfrm>
            <a:off x="2450592" y="1911096"/>
            <a:ext cx="274320" cy="274320"/>
          </a:xfrm>
          <a:prstGeom prst="ellipse">
            <a:avLst/>
          </a:prstGeom>
          <a:solidFill>
            <a:srgbClr val="1B2A57"/>
          </a:solidFill>
          <a:ln/>
        </p:spPr>
      </p:sp>
      <p:sp>
        <p:nvSpPr>
          <p:cNvPr id="13" name="Text 11"/>
          <p:cNvSpPr txBox="1"/>
          <p:nvPr/>
        </p:nvSpPr>
        <p:spPr>
          <a:xfrm>
            <a:off x="2450592" y="191109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1993392" y="2258568"/>
            <a:ext cx="1188720" cy="475488"/>
          </a:xfrm>
          <a:prstGeom prst="rect">
            <a:avLst/>
          </a:prstGeom>
          <a:noFill/>
          <a:ln/>
        </p:spPr>
        <p:txBody>
          <a:bodyPr wrap="square" lIns="0" tIns="0" rIns="0" bIns="0" rtlCol="0" anchor="t"/>
          <a:lstStyle/>
          <a:p>
            <a:pPr marL="0" indent="0" algn="ctr">
              <a:buNone/>
            </a:pPr>
            <a:r>
              <a:rPr lang="en-US" sz="1000" b="1" dirty="0">
                <a:solidFill>
                  <a:srgbClr val="1B2A57"/>
                </a:solidFill>
                <a:latin typeface="Calibri" pitchFamily="34" charset="0"/>
                <a:ea typeface="Calibri" pitchFamily="34" charset="-122"/>
                <a:cs typeface="Calibri" pitchFamily="34" charset="-120"/>
              </a:rPr>
              <a:t>Monthly Returns</a:t>
            </a:r>
            <a:endParaRPr lang="en-US" sz="1000" dirty="0"/>
          </a:p>
        </p:txBody>
      </p:sp>
      <p:sp>
        <p:nvSpPr>
          <p:cNvPr id="15" name="Text 13"/>
          <p:cNvSpPr txBox="1"/>
          <p:nvPr/>
        </p:nvSpPr>
        <p:spPr>
          <a:xfrm>
            <a:off x="1993392" y="2743200"/>
            <a:ext cx="1188720" cy="548640"/>
          </a:xfrm>
          <a:prstGeom prst="rect">
            <a:avLst/>
          </a:prstGeom>
          <a:noFill/>
          <a:ln/>
        </p:spPr>
        <p:txBody>
          <a:bodyPr wrap="square" lIns="0" tIns="0" rIns="0" bIns="0" rtlCol="0" anchor="t"/>
          <a:lstStyle/>
          <a:p>
            <a:pPr marL="0" indent="0" algn="ctr">
              <a:buNone/>
            </a:pPr>
            <a:r>
              <a:rPr lang="en-US" sz="760" dirty="0">
                <a:solidFill>
                  <a:srgbClr val="5C6788"/>
                </a:solidFill>
                <a:latin typeface="Calibri" pitchFamily="34" charset="0"/>
                <a:ea typeface="Calibri" pitchFamily="34" charset="-122"/>
                <a:cs typeface="Calibri" pitchFamily="34" charset="-120"/>
              </a:rPr>
              <a:t>Month-on-month % change computed for each security</a:t>
            </a:r>
            <a:endParaRPr lang="en-US" sz="760" dirty="0"/>
          </a:p>
        </p:txBody>
      </p:sp>
      <p:sp>
        <p:nvSpPr>
          <p:cNvPr id="16" name="Text 14"/>
          <p:cNvSpPr txBox="1"/>
          <p:nvPr/>
        </p:nvSpPr>
        <p:spPr>
          <a:xfrm>
            <a:off x="3238805" y="2377440"/>
            <a:ext cx="91440" cy="365760"/>
          </a:xfrm>
          <a:prstGeom prst="rect">
            <a:avLst/>
          </a:prstGeom>
          <a:noFill/>
          <a:ln/>
        </p:spPr>
        <p:txBody>
          <a:bodyPr wrap="square" lIns="0" tIns="0" rIns="0" bIns="0" rtlCol="0" anchor="ctr"/>
          <a:lstStyle/>
          <a:p>
            <a:pPr marL="0" indent="0" algn="ctr">
              <a:buNone/>
            </a:pPr>
            <a:r>
              <a:rPr lang="en-US" sz="1500" b="1" dirty="0">
                <a:solidFill>
                  <a:srgbClr val="B8934A"/>
                </a:solidFill>
                <a:latin typeface="Calibri" pitchFamily="34" charset="0"/>
                <a:ea typeface="Calibri" pitchFamily="34" charset="-122"/>
                <a:cs typeface="Calibri" pitchFamily="34" charset="-120"/>
              </a:rPr>
              <a:t>›</a:t>
            </a:r>
            <a:endParaRPr lang="en-US" sz="1500" dirty="0"/>
          </a:p>
        </p:txBody>
      </p:sp>
      <p:sp>
        <p:nvSpPr>
          <p:cNvPr id="17" name="Shape 15"/>
          <p:cNvSpPr/>
          <p:nvPr/>
        </p:nvSpPr>
        <p:spPr>
          <a:xfrm>
            <a:off x="3328416" y="1783080"/>
            <a:ext cx="1298448" cy="1554480"/>
          </a:xfrm>
          <a:prstGeom prst="rect">
            <a:avLst/>
          </a:prstGeom>
          <a:solidFill>
            <a:srgbClr val="F5F7FB"/>
          </a:solidFill>
          <a:ln w="12700">
            <a:solidFill>
              <a:srgbClr val="D9DFEC"/>
            </a:solidFill>
            <a:prstDash val="solid"/>
          </a:ln>
        </p:spPr>
      </p:sp>
      <p:sp>
        <p:nvSpPr>
          <p:cNvPr id="18" name="Shape 16"/>
          <p:cNvSpPr/>
          <p:nvPr/>
        </p:nvSpPr>
        <p:spPr>
          <a:xfrm>
            <a:off x="3840480" y="1911096"/>
            <a:ext cx="274320" cy="274320"/>
          </a:xfrm>
          <a:prstGeom prst="ellipse">
            <a:avLst/>
          </a:prstGeom>
          <a:solidFill>
            <a:srgbClr val="1B2A57"/>
          </a:solidFill>
          <a:ln/>
        </p:spPr>
      </p:sp>
      <p:sp>
        <p:nvSpPr>
          <p:cNvPr id="19" name="Text 17"/>
          <p:cNvSpPr txBox="1"/>
          <p:nvPr/>
        </p:nvSpPr>
        <p:spPr>
          <a:xfrm>
            <a:off x="3840480" y="191109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txBox="1"/>
          <p:nvPr/>
        </p:nvSpPr>
        <p:spPr>
          <a:xfrm>
            <a:off x="3383280" y="2258568"/>
            <a:ext cx="1188720" cy="475488"/>
          </a:xfrm>
          <a:prstGeom prst="rect">
            <a:avLst/>
          </a:prstGeom>
          <a:noFill/>
          <a:ln/>
        </p:spPr>
        <p:txBody>
          <a:bodyPr wrap="square" lIns="0" tIns="0" rIns="0" bIns="0" rtlCol="0" anchor="t"/>
          <a:lstStyle/>
          <a:p>
            <a:pPr marL="0" indent="0" algn="ctr">
              <a:buNone/>
            </a:pPr>
            <a:r>
              <a:rPr lang="en-US" sz="1000" b="1" dirty="0">
                <a:solidFill>
                  <a:srgbClr val="1B2A57"/>
                </a:solidFill>
                <a:latin typeface="Calibri" pitchFamily="34" charset="0"/>
                <a:ea typeface="Calibri" pitchFamily="34" charset="-122"/>
                <a:cs typeface="Calibri" pitchFamily="34" charset="-120"/>
              </a:rPr>
              <a:t>Beta Analysis</a:t>
            </a:r>
            <a:endParaRPr lang="en-US" sz="1000" dirty="0"/>
          </a:p>
        </p:txBody>
      </p:sp>
      <p:sp>
        <p:nvSpPr>
          <p:cNvPr id="21" name="Text 19"/>
          <p:cNvSpPr txBox="1"/>
          <p:nvPr/>
        </p:nvSpPr>
        <p:spPr>
          <a:xfrm>
            <a:off x="3383280" y="2743200"/>
            <a:ext cx="1188720" cy="548640"/>
          </a:xfrm>
          <a:prstGeom prst="rect">
            <a:avLst/>
          </a:prstGeom>
          <a:noFill/>
          <a:ln/>
        </p:spPr>
        <p:txBody>
          <a:bodyPr wrap="square" lIns="0" tIns="0" rIns="0" bIns="0" rtlCol="0" anchor="t"/>
          <a:lstStyle/>
          <a:p>
            <a:pPr marL="0" indent="0" algn="ctr">
              <a:buNone/>
            </a:pPr>
            <a:r>
              <a:rPr lang="en-US" sz="760" dirty="0">
                <a:solidFill>
                  <a:srgbClr val="5C6788"/>
                </a:solidFill>
                <a:latin typeface="Calibri" pitchFamily="34" charset="0"/>
                <a:ea typeface="Calibri" pitchFamily="34" charset="-122"/>
                <a:cs typeface="Calibri" pitchFamily="34" charset="-120"/>
              </a:rPr>
              <a:t>Covariance / market variance gives each stock's systematic risk</a:t>
            </a:r>
            <a:endParaRPr lang="en-US" sz="760" dirty="0"/>
          </a:p>
        </p:txBody>
      </p:sp>
      <p:sp>
        <p:nvSpPr>
          <p:cNvPr id="22" name="Text 20"/>
          <p:cNvSpPr txBox="1"/>
          <p:nvPr/>
        </p:nvSpPr>
        <p:spPr>
          <a:xfrm>
            <a:off x="4628693" y="2377440"/>
            <a:ext cx="91440" cy="365760"/>
          </a:xfrm>
          <a:prstGeom prst="rect">
            <a:avLst/>
          </a:prstGeom>
          <a:noFill/>
          <a:ln/>
        </p:spPr>
        <p:txBody>
          <a:bodyPr wrap="square" lIns="0" tIns="0" rIns="0" bIns="0" rtlCol="0" anchor="ctr"/>
          <a:lstStyle/>
          <a:p>
            <a:pPr marL="0" indent="0" algn="ctr">
              <a:buNone/>
            </a:pPr>
            <a:r>
              <a:rPr lang="en-US" sz="1500" b="1" dirty="0">
                <a:solidFill>
                  <a:srgbClr val="B8934A"/>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4718304" y="1783080"/>
            <a:ext cx="1298448" cy="1554480"/>
          </a:xfrm>
          <a:prstGeom prst="rect">
            <a:avLst/>
          </a:prstGeom>
          <a:solidFill>
            <a:srgbClr val="F5F7FB"/>
          </a:solidFill>
          <a:ln w="12700">
            <a:solidFill>
              <a:srgbClr val="D9DFEC"/>
            </a:solidFill>
            <a:prstDash val="solid"/>
          </a:ln>
        </p:spPr>
      </p:sp>
      <p:sp>
        <p:nvSpPr>
          <p:cNvPr id="24" name="Shape 22"/>
          <p:cNvSpPr/>
          <p:nvPr/>
        </p:nvSpPr>
        <p:spPr>
          <a:xfrm>
            <a:off x="5230368" y="1911096"/>
            <a:ext cx="274320" cy="274320"/>
          </a:xfrm>
          <a:prstGeom prst="ellipse">
            <a:avLst/>
          </a:prstGeom>
          <a:solidFill>
            <a:srgbClr val="1B2A57"/>
          </a:solidFill>
          <a:ln/>
        </p:spPr>
      </p:sp>
      <p:sp>
        <p:nvSpPr>
          <p:cNvPr id="25" name="Text 23"/>
          <p:cNvSpPr txBox="1"/>
          <p:nvPr/>
        </p:nvSpPr>
        <p:spPr>
          <a:xfrm>
            <a:off x="5230368" y="191109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6" name="Text 24"/>
          <p:cNvSpPr txBox="1"/>
          <p:nvPr/>
        </p:nvSpPr>
        <p:spPr>
          <a:xfrm>
            <a:off x="4773168" y="2258568"/>
            <a:ext cx="1188720" cy="475488"/>
          </a:xfrm>
          <a:prstGeom prst="rect">
            <a:avLst/>
          </a:prstGeom>
          <a:noFill/>
          <a:ln/>
        </p:spPr>
        <p:txBody>
          <a:bodyPr wrap="square" lIns="0" tIns="0" rIns="0" bIns="0" rtlCol="0" anchor="t"/>
          <a:lstStyle/>
          <a:p>
            <a:pPr marL="0" indent="0" algn="ctr">
              <a:buNone/>
            </a:pPr>
            <a:r>
              <a:rPr lang="en-US" sz="1000" b="1" dirty="0">
                <a:solidFill>
                  <a:srgbClr val="1B2A57"/>
                </a:solidFill>
                <a:latin typeface="Calibri" pitchFamily="34" charset="0"/>
                <a:ea typeface="Calibri" pitchFamily="34" charset="-122"/>
                <a:cs typeface="Calibri" pitchFamily="34" charset="-120"/>
              </a:rPr>
              <a:t>Excess Return</a:t>
            </a:r>
            <a:endParaRPr lang="en-US" sz="1000" dirty="0"/>
          </a:p>
        </p:txBody>
      </p:sp>
      <p:sp>
        <p:nvSpPr>
          <p:cNvPr id="27" name="Text 25"/>
          <p:cNvSpPr txBox="1"/>
          <p:nvPr/>
        </p:nvSpPr>
        <p:spPr>
          <a:xfrm>
            <a:off x="4773168" y="2743200"/>
            <a:ext cx="1188720" cy="548640"/>
          </a:xfrm>
          <a:prstGeom prst="rect">
            <a:avLst/>
          </a:prstGeom>
          <a:noFill/>
          <a:ln/>
        </p:spPr>
        <p:txBody>
          <a:bodyPr wrap="square" lIns="0" tIns="0" rIns="0" bIns="0" rtlCol="0" anchor="t"/>
          <a:lstStyle/>
          <a:p>
            <a:pPr marL="0" indent="0" algn="ctr">
              <a:buNone/>
            </a:pPr>
            <a:r>
              <a:rPr lang="en-US" sz="760" dirty="0">
                <a:solidFill>
                  <a:srgbClr val="5C6788"/>
                </a:solidFill>
                <a:latin typeface="Calibri" pitchFamily="34" charset="0"/>
                <a:ea typeface="Calibri" pitchFamily="34" charset="-122"/>
                <a:cs typeface="Calibri" pitchFamily="34" charset="-120"/>
              </a:rPr>
              <a:t>Mean return less the risk-free rate (Ri − RF)</a:t>
            </a:r>
            <a:endParaRPr lang="en-US" sz="760" dirty="0"/>
          </a:p>
        </p:txBody>
      </p:sp>
      <p:sp>
        <p:nvSpPr>
          <p:cNvPr id="28" name="Text 26"/>
          <p:cNvSpPr txBox="1"/>
          <p:nvPr/>
        </p:nvSpPr>
        <p:spPr>
          <a:xfrm>
            <a:off x="6018581" y="2377440"/>
            <a:ext cx="91440" cy="365760"/>
          </a:xfrm>
          <a:prstGeom prst="rect">
            <a:avLst/>
          </a:prstGeom>
          <a:noFill/>
          <a:ln/>
        </p:spPr>
        <p:txBody>
          <a:bodyPr wrap="square" lIns="0" tIns="0" rIns="0" bIns="0" rtlCol="0" anchor="ctr"/>
          <a:lstStyle/>
          <a:p>
            <a:pPr marL="0" indent="0" algn="ctr">
              <a:buNone/>
            </a:pPr>
            <a:r>
              <a:rPr lang="en-US" sz="1500" b="1" dirty="0">
                <a:solidFill>
                  <a:srgbClr val="B8934A"/>
                </a:solidFill>
                <a:latin typeface="Calibri" pitchFamily="34" charset="0"/>
                <a:ea typeface="Calibri" pitchFamily="34" charset="-122"/>
                <a:cs typeface="Calibri" pitchFamily="34" charset="-120"/>
              </a:rPr>
              <a:t>›</a:t>
            </a:r>
            <a:endParaRPr lang="en-US" sz="1500" dirty="0"/>
          </a:p>
        </p:txBody>
      </p:sp>
      <p:sp>
        <p:nvSpPr>
          <p:cNvPr id="29" name="Shape 27"/>
          <p:cNvSpPr/>
          <p:nvPr/>
        </p:nvSpPr>
        <p:spPr>
          <a:xfrm>
            <a:off x="6108192" y="1783080"/>
            <a:ext cx="1298448" cy="1554480"/>
          </a:xfrm>
          <a:prstGeom prst="rect">
            <a:avLst/>
          </a:prstGeom>
          <a:solidFill>
            <a:srgbClr val="F5F7FB"/>
          </a:solidFill>
          <a:ln w="12700">
            <a:solidFill>
              <a:srgbClr val="D9DFEC"/>
            </a:solidFill>
            <a:prstDash val="solid"/>
          </a:ln>
        </p:spPr>
      </p:sp>
      <p:sp>
        <p:nvSpPr>
          <p:cNvPr id="30" name="Shape 28"/>
          <p:cNvSpPr/>
          <p:nvPr/>
        </p:nvSpPr>
        <p:spPr>
          <a:xfrm>
            <a:off x="6620256" y="1911096"/>
            <a:ext cx="274320" cy="274320"/>
          </a:xfrm>
          <a:prstGeom prst="ellipse">
            <a:avLst/>
          </a:prstGeom>
          <a:solidFill>
            <a:srgbClr val="1B2A57"/>
          </a:solidFill>
          <a:ln/>
        </p:spPr>
      </p:sp>
      <p:sp>
        <p:nvSpPr>
          <p:cNvPr id="31" name="Text 29"/>
          <p:cNvSpPr txBox="1"/>
          <p:nvPr/>
        </p:nvSpPr>
        <p:spPr>
          <a:xfrm>
            <a:off x="6620256" y="191109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2" name="Text 30"/>
          <p:cNvSpPr txBox="1"/>
          <p:nvPr/>
        </p:nvSpPr>
        <p:spPr>
          <a:xfrm>
            <a:off x="6163056" y="2258568"/>
            <a:ext cx="1188720" cy="475488"/>
          </a:xfrm>
          <a:prstGeom prst="rect">
            <a:avLst/>
          </a:prstGeom>
          <a:noFill/>
          <a:ln/>
        </p:spPr>
        <p:txBody>
          <a:bodyPr wrap="square" lIns="0" tIns="0" rIns="0" bIns="0" rtlCol="0" anchor="t"/>
          <a:lstStyle/>
          <a:p>
            <a:pPr marL="0" indent="0" algn="ctr">
              <a:buNone/>
            </a:pPr>
            <a:r>
              <a:rPr lang="en-US" sz="1000" b="1" dirty="0">
                <a:solidFill>
                  <a:srgbClr val="1B2A57"/>
                </a:solidFill>
                <a:latin typeface="Calibri" pitchFamily="34" charset="0"/>
                <a:ea typeface="Calibri" pitchFamily="34" charset="-122"/>
                <a:cs typeface="Calibri" pitchFamily="34" charset="-120"/>
              </a:rPr>
              <a:t>Risk-Adjusted Return</a:t>
            </a:r>
            <a:endParaRPr lang="en-US" sz="1000" dirty="0"/>
          </a:p>
        </p:txBody>
      </p:sp>
      <p:sp>
        <p:nvSpPr>
          <p:cNvPr id="33" name="Text 31"/>
          <p:cNvSpPr txBox="1"/>
          <p:nvPr/>
        </p:nvSpPr>
        <p:spPr>
          <a:xfrm>
            <a:off x="6163056" y="2743200"/>
            <a:ext cx="1188720" cy="548640"/>
          </a:xfrm>
          <a:prstGeom prst="rect">
            <a:avLst/>
          </a:prstGeom>
          <a:noFill/>
          <a:ln/>
        </p:spPr>
        <p:txBody>
          <a:bodyPr wrap="square" lIns="0" tIns="0" rIns="0" bIns="0" rtlCol="0" anchor="t"/>
          <a:lstStyle/>
          <a:p>
            <a:pPr marL="0" indent="0" algn="ctr">
              <a:buNone/>
            </a:pPr>
            <a:r>
              <a:rPr lang="en-US" sz="760" dirty="0">
                <a:solidFill>
                  <a:srgbClr val="5C6788"/>
                </a:solidFill>
                <a:latin typeface="Calibri" pitchFamily="34" charset="0"/>
                <a:ea typeface="Calibri" pitchFamily="34" charset="-122"/>
                <a:cs typeface="Calibri" pitchFamily="34" charset="-120"/>
              </a:rPr>
              <a:t>Excess return to beta ratio measures return per unit of risk</a:t>
            </a:r>
            <a:endParaRPr lang="en-US" sz="760" dirty="0"/>
          </a:p>
        </p:txBody>
      </p:sp>
      <p:sp>
        <p:nvSpPr>
          <p:cNvPr id="34" name="Text 32"/>
          <p:cNvSpPr txBox="1"/>
          <p:nvPr/>
        </p:nvSpPr>
        <p:spPr>
          <a:xfrm>
            <a:off x="7408469" y="2377440"/>
            <a:ext cx="91440" cy="365760"/>
          </a:xfrm>
          <a:prstGeom prst="rect">
            <a:avLst/>
          </a:prstGeom>
          <a:noFill/>
          <a:ln/>
        </p:spPr>
        <p:txBody>
          <a:bodyPr wrap="square" lIns="0" tIns="0" rIns="0" bIns="0" rtlCol="0" anchor="ctr"/>
          <a:lstStyle/>
          <a:p>
            <a:pPr marL="0" indent="0" algn="ctr">
              <a:buNone/>
            </a:pPr>
            <a:r>
              <a:rPr lang="en-US" sz="1500" b="1" dirty="0">
                <a:solidFill>
                  <a:srgbClr val="B8934A"/>
                </a:solidFill>
                <a:latin typeface="Calibri" pitchFamily="34" charset="0"/>
                <a:ea typeface="Calibri" pitchFamily="34" charset="-122"/>
                <a:cs typeface="Calibri" pitchFamily="34" charset="-120"/>
              </a:rPr>
              <a:t>›</a:t>
            </a:r>
            <a:endParaRPr lang="en-US" sz="1500" dirty="0"/>
          </a:p>
        </p:txBody>
      </p:sp>
      <p:sp>
        <p:nvSpPr>
          <p:cNvPr id="35" name="Shape 33"/>
          <p:cNvSpPr/>
          <p:nvPr/>
        </p:nvSpPr>
        <p:spPr>
          <a:xfrm>
            <a:off x="7498080" y="1783080"/>
            <a:ext cx="1298448" cy="1554480"/>
          </a:xfrm>
          <a:prstGeom prst="rect">
            <a:avLst/>
          </a:prstGeom>
          <a:solidFill>
            <a:srgbClr val="F5F7FB"/>
          </a:solidFill>
          <a:ln w="12700">
            <a:solidFill>
              <a:srgbClr val="D9DFEC"/>
            </a:solidFill>
            <a:prstDash val="solid"/>
          </a:ln>
        </p:spPr>
      </p:sp>
      <p:sp>
        <p:nvSpPr>
          <p:cNvPr id="36" name="Shape 34"/>
          <p:cNvSpPr/>
          <p:nvPr/>
        </p:nvSpPr>
        <p:spPr>
          <a:xfrm>
            <a:off x="8010144" y="1911096"/>
            <a:ext cx="274320" cy="274320"/>
          </a:xfrm>
          <a:prstGeom prst="ellipse">
            <a:avLst/>
          </a:prstGeom>
          <a:solidFill>
            <a:srgbClr val="1B2A57"/>
          </a:solidFill>
          <a:ln/>
        </p:spPr>
      </p:sp>
      <p:sp>
        <p:nvSpPr>
          <p:cNvPr id="37" name="Text 35"/>
          <p:cNvSpPr txBox="1"/>
          <p:nvPr/>
        </p:nvSpPr>
        <p:spPr>
          <a:xfrm>
            <a:off x="8010144" y="191109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8" name="Text 36"/>
          <p:cNvSpPr txBox="1"/>
          <p:nvPr/>
        </p:nvSpPr>
        <p:spPr>
          <a:xfrm>
            <a:off x="7552944" y="2258568"/>
            <a:ext cx="1188720" cy="475488"/>
          </a:xfrm>
          <a:prstGeom prst="rect">
            <a:avLst/>
          </a:prstGeom>
          <a:noFill/>
          <a:ln/>
        </p:spPr>
        <p:txBody>
          <a:bodyPr wrap="square" lIns="0" tIns="0" rIns="0" bIns="0" rtlCol="0" anchor="t"/>
          <a:lstStyle/>
          <a:p>
            <a:pPr marL="0" indent="0" algn="ctr">
              <a:buNone/>
            </a:pPr>
            <a:r>
              <a:rPr lang="en-US" sz="1000" b="1" dirty="0">
                <a:solidFill>
                  <a:srgbClr val="1B2A57"/>
                </a:solidFill>
                <a:latin typeface="Calibri" pitchFamily="34" charset="0"/>
                <a:ea typeface="Calibri" pitchFamily="34" charset="-122"/>
                <a:cs typeface="Calibri" pitchFamily="34" charset="-120"/>
              </a:rPr>
              <a:t>Security Ranking</a:t>
            </a:r>
            <a:endParaRPr lang="en-US" sz="1000" dirty="0"/>
          </a:p>
        </p:txBody>
      </p:sp>
      <p:sp>
        <p:nvSpPr>
          <p:cNvPr id="39" name="Text 37"/>
          <p:cNvSpPr txBox="1"/>
          <p:nvPr/>
        </p:nvSpPr>
        <p:spPr>
          <a:xfrm>
            <a:off x="7552944" y="2743200"/>
            <a:ext cx="1188720" cy="548640"/>
          </a:xfrm>
          <a:prstGeom prst="rect">
            <a:avLst/>
          </a:prstGeom>
          <a:noFill/>
          <a:ln/>
        </p:spPr>
        <p:txBody>
          <a:bodyPr wrap="square" lIns="0" tIns="0" rIns="0" bIns="0" rtlCol="0" anchor="t"/>
          <a:lstStyle/>
          <a:p>
            <a:pPr marL="0" indent="0" algn="ctr">
              <a:buNone/>
            </a:pPr>
            <a:r>
              <a:rPr lang="en-US" sz="760" dirty="0">
                <a:solidFill>
                  <a:srgbClr val="5C6788"/>
                </a:solidFill>
                <a:latin typeface="Calibri" pitchFamily="34" charset="0"/>
                <a:ea typeface="Calibri" pitchFamily="34" charset="-122"/>
                <a:cs typeface="Calibri" pitchFamily="34" charset="-120"/>
              </a:rPr>
              <a:t>Stocks ranked in decreasing order of the ratio</a:t>
            </a:r>
            <a:endParaRPr lang="en-US" sz="760" dirty="0"/>
          </a:p>
        </p:txBody>
      </p:sp>
      <p:sp>
        <p:nvSpPr>
          <p:cNvPr id="40" name="Text 38"/>
          <p:cNvSpPr txBox="1"/>
          <p:nvPr/>
        </p:nvSpPr>
        <p:spPr>
          <a:xfrm>
            <a:off x="8798357" y="2377440"/>
            <a:ext cx="91440" cy="365760"/>
          </a:xfrm>
          <a:prstGeom prst="rect">
            <a:avLst/>
          </a:prstGeom>
          <a:noFill/>
          <a:ln/>
        </p:spPr>
        <p:txBody>
          <a:bodyPr wrap="square" lIns="0" tIns="0" rIns="0" bIns="0" rtlCol="0" anchor="ctr"/>
          <a:lstStyle/>
          <a:p>
            <a:pPr marL="0" indent="0" algn="ctr">
              <a:buNone/>
            </a:pPr>
            <a:r>
              <a:rPr lang="en-US" sz="1500" b="1" dirty="0">
                <a:solidFill>
                  <a:srgbClr val="B8934A"/>
                </a:solidFill>
                <a:latin typeface="Calibri" pitchFamily="34" charset="0"/>
                <a:ea typeface="Calibri" pitchFamily="34" charset="-122"/>
                <a:cs typeface="Calibri" pitchFamily="34" charset="-120"/>
              </a:rPr>
              <a:t>›</a:t>
            </a:r>
            <a:endParaRPr lang="en-US" sz="1500" dirty="0"/>
          </a:p>
        </p:txBody>
      </p:sp>
      <p:sp>
        <p:nvSpPr>
          <p:cNvPr id="41" name="Shape 39"/>
          <p:cNvSpPr/>
          <p:nvPr/>
        </p:nvSpPr>
        <p:spPr>
          <a:xfrm>
            <a:off x="8887968" y="1783080"/>
            <a:ext cx="1298448" cy="1554480"/>
          </a:xfrm>
          <a:prstGeom prst="rect">
            <a:avLst/>
          </a:prstGeom>
          <a:solidFill>
            <a:srgbClr val="F5F7FB"/>
          </a:solidFill>
          <a:ln w="12700">
            <a:solidFill>
              <a:srgbClr val="D9DFEC"/>
            </a:solidFill>
            <a:prstDash val="solid"/>
          </a:ln>
        </p:spPr>
      </p:sp>
      <p:sp>
        <p:nvSpPr>
          <p:cNvPr id="42" name="Shape 40"/>
          <p:cNvSpPr/>
          <p:nvPr/>
        </p:nvSpPr>
        <p:spPr>
          <a:xfrm>
            <a:off x="9400032" y="1911096"/>
            <a:ext cx="274320" cy="274320"/>
          </a:xfrm>
          <a:prstGeom prst="ellipse">
            <a:avLst/>
          </a:prstGeom>
          <a:solidFill>
            <a:srgbClr val="1B2A57"/>
          </a:solidFill>
          <a:ln/>
        </p:spPr>
      </p:sp>
      <p:sp>
        <p:nvSpPr>
          <p:cNvPr id="43" name="Text 41"/>
          <p:cNvSpPr txBox="1"/>
          <p:nvPr/>
        </p:nvSpPr>
        <p:spPr>
          <a:xfrm>
            <a:off x="9400032" y="191109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44" name="Text 42"/>
          <p:cNvSpPr txBox="1"/>
          <p:nvPr/>
        </p:nvSpPr>
        <p:spPr>
          <a:xfrm>
            <a:off x="8942832" y="2258568"/>
            <a:ext cx="1188720" cy="475488"/>
          </a:xfrm>
          <a:prstGeom prst="rect">
            <a:avLst/>
          </a:prstGeom>
          <a:noFill/>
          <a:ln/>
        </p:spPr>
        <p:txBody>
          <a:bodyPr wrap="square" lIns="0" tIns="0" rIns="0" bIns="0" rtlCol="0" anchor="t"/>
          <a:lstStyle/>
          <a:p>
            <a:pPr marL="0" indent="0" algn="ctr">
              <a:buNone/>
            </a:pPr>
            <a:r>
              <a:rPr lang="en-US" sz="1000" b="1" dirty="0">
                <a:solidFill>
                  <a:srgbClr val="1B2A57"/>
                </a:solidFill>
                <a:latin typeface="Calibri" pitchFamily="34" charset="0"/>
                <a:ea typeface="Calibri" pitchFamily="34" charset="-122"/>
                <a:cs typeface="Calibri" pitchFamily="34" charset="-120"/>
              </a:rPr>
              <a:t>Portfolio Selection</a:t>
            </a:r>
            <a:endParaRPr lang="en-US" sz="1000" dirty="0"/>
          </a:p>
        </p:txBody>
      </p:sp>
      <p:sp>
        <p:nvSpPr>
          <p:cNvPr id="45" name="Text 43"/>
          <p:cNvSpPr txBox="1"/>
          <p:nvPr/>
        </p:nvSpPr>
        <p:spPr>
          <a:xfrm>
            <a:off x="8942832" y="2743200"/>
            <a:ext cx="1188720" cy="548640"/>
          </a:xfrm>
          <a:prstGeom prst="rect">
            <a:avLst/>
          </a:prstGeom>
          <a:noFill/>
          <a:ln/>
        </p:spPr>
        <p:txBody>
          <a:bodyPr wrap="square" lIns="0" tIns="0" rIns="0" bIns="0" rtlCol="0" anchor="t"/>
          <a:lstStyle/>
          <a:p>
            <a:pPr marL="0" indent="0" algn="ctr">
              <a:buNone/>
            </a:pPr>
            <a:r>
              <a:rPr lang="en-US" sz="760" dirty="0">
                <a:solidFill>
                  <a:srgbClr val="5C6788"/>
                </a:solidFill>
                <a:latin typeface="Calibri" pitchFamily="34" charset="0"/>
                <a:ea typeface="Calibri" pitchFamily="34" charset="-122"/>
                <a:cs typeface="Calibri" pitchFamily="34" charset="-120"/>
              </a:rPr>
              <a:t>Stocks above the cut-off rate (C) are selected</a:t>
            </a:r>
            <a:endParaRPr lang="en-US" sz="760" dirty="0"/>
          </a:p>
        </p:txBody>
      </p:sp>
      <p:sp>
        <p:nvSpPr>
          <p:cNvPr id="46" name="Text 44"/>
          <p:cNvSpPr txBox="1"/>
          <p:nvPr/>
        </p:nvSpPr>
        <p:spPr>
          <a:xfrm>
            <a:off x="10188245" y="2377440"/>
            <a:ext cx="91440" cy="365760"/>
          </a:xfrm>
          <a:prstGeom prst="rect">
            <a:avLst/>
          </a:prstGeom>
          <a:noFill/>
          <a:ln/>
        </p:spPr>
        <p:txBody>
          <a:bodyPr wrap="square" lIns="0" tIns="0" rIns="0" bIns="0" rtlCol="0" anchor="ctr"/>
          <a:lstStyle/>
          <a:p>
            <a:pPr marL="0" indent="0" algn="ctr">
              <a:buNone/>
            </a:pPr>
            <a:r>
              <a:rPr lang="en-US" sz="1500" b="1" dirty="0">
                <a:solidFill>
                  <a:srgbClr val="B8934A"/>
                </a:solidFill>
                <a:latin typeface="Calibri" pitchFamily="34" charset="0"/>
                <a:ea typeface="Calibri" pitchFamily="34" charset="-122"/>
                <a:cs typeface="Calibri" pitchFamily="34" charset="-120"/>
              </a:rPr>
              <a:t>›</a:t>
            </a:r>
            <a:endParaRPr lang="en-US" sz="1500" dirty="0"/>
          </a:p>
        </p:txBody>
      </p:sp>
      <p:sp>
        <p:nvSpPr>
          <p:cNvPr id="47" name="Shape 45"/>
          <p:cNvSpPr/>
          <p:nvPr/>
        </p:nvSpPr>
        <p:spPr>
          <a:xfrm>
            <a:off x="10277856" y="1783080"/>
            <a:ext cx="1298448" cy="1554480"/>
          </a:xfrm>
          <a:prstGeom prst="rect">
            <a:avLst/>
          </a:prstGeom>
          <a:solidFill>
            <a:srgbClr val="1B2A57"/>
          </a:solidFill>
          <a:ln w="12700">
            <a:solidFill>
              <a:srgbClr val="1B2A57"/>
            </a:solidFill>
            <a:prstDash val="solid"/>
          </a:ln>
        </p:spPr>
      </p:sp>
      <p:sp>
        <p:nvSpPr>
          <p:cNvPr id="48" name="Shape 46"/>
          <p:cNvSpPr/>
          <p:nvPr/>
        </p:nvSpPr>
        <p:spPr>
          <a:xfrm>
            <a:off x="10789920" y="1911096"/>
            <a:ext cx="274320" cy="274320"/>
          </a:xfrm>
          <a:prstGeom prst="ellipse">
            <a:avLst/>
          </a:prstGeom>
          <a:solidFill>
            <a:srgbClr val="B8934A"/>
          </a:solidFill>
          <a:ln/>
        </p:spPr>
      </p:sp>
      <p:sp>
        <p:nvSpPr>
          <p:cNvPr id="49" name="Text 47"/>
          <p:cNvSpPr txBox="1"/>
          <p:nvPr/>
        </p:nvSpPr>
        <p:spPr>
          <a:xfrm>
            <a:off x="10789920" y="191109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8</a:t>
            </a:r>
            <a:endParaRPr lang="en-US" sz="1050" dirty="0"/>
          </a:p>
        </p:txBody>
      </p:sp>
      <p:sp>
        <p:nvSpPr>
          <p:cNvPr id="50" name="Text 48"/>
          <p:cNvSpPr txBox="1"/>
          <p:nvPr/>
        </p:nvSpPr>
        <p:spPr>
          <a:xfrm>
            <a:off x="10332720" y="2258568"/>
            <a:ext cx="1188720" cy="475488"/>
          </a:xfrm>
          <a:prstGeom prst="rect">
            <a:avLst/>
          </a:prstGeom>
          <a:noFill/>
          <a:ln/>
        </p:spPr>
        <p:txBody>
          <a:bodyPr wrap="square" lIns="0" tIns="0" rIns="0" bIns="0"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Optimal Portfolio</a:t>
            </a:r>
            <a:endParaRPr lang="en-US" sz="1000" dirty="0"/>
          </a:p>
        </p:txBody>
      </p:sp>
      <p:sp>
        <p:nvSpPr>
          <p:cNvPr id="51" name="Text 49"/>
          <p:cNvSpPr txBox="1"/>
          <p:nvPr/>
        </p:nvSpPr>
        <p:spPr>
          <a:xfrm>
            <a:off x="10332720" y="2743200"/>
            <a:ext cx="1188720" cy="548640"/>
          </a:xfrm>
          <a:prstGeom prst="rect">
            <a:avLst/>
          </a:prstGeom>
          <a:noFill/>
          <a:ln/>
        </p:spPr>
        <p:txBody>
          <a:bodyPr wrap="square" lIns="0" tIns="0" rIns="0" bIns="0" rtlCol="0" anchor="t"/>
          <a:lstStyle/>
          <a:p>
            <a:pPr marL="0" indent="0" algn="ctr">
              <a:buNone/>
            </a:pPr>
            <a:r>
              <a:rPr lang="en-US" sz="760" dirty="0">
                <a:solidFill>
                  <a:srgbClr val="CADCFC"/>
                </a:solidFill>
                <a:latin typeface="Calibri" pitchFamily="34" charset="0"/>
                <a:ea typeface="Calibri" pitchFamily="34" charset="-122"/>
                <a:cs typeface="Calibri" pitchFamily="34" charset="-120"/>
              </a:rPr>
              <a:t>Weights assigned using the Sharpe single-index framework</a:t>
            </a:r>
            <a:endParaRPr lang="en-US" sz="760" dirty="0"/>
          </a:p>
        </p:txBody>
      </p:sp>
      <p:sp>
        <p:nvSpPr>
          <p:cNvPr id="52" name="Shape 50"/>
          <p:cNvSpPr/>
          <p:nvPr/>
        </p:nvSpPr>
        <p:spPr>
          <a:xfrm>
            <a:off x="548640" y="3611880"/>
            <a:ext cx="11091672" cy="566928"/>
          </a:xfrm>
          <a:prstGeom prst="rect">
            <a:avLst/>
          </a:prstGeom>
          <a:solidFill>
            <a:srgbClr val="F5F7FB"/>
          </a:solidFill>
          <a:ln w="12700">
            <a:solidFill>
              <a:srgbClr val="D9DFEC"/>
            </a:solidFill>
            <a:prstDash val="solid"/>
          </a:ln>
        </p:spPr>
      </p:sp>
      <p:sp>
        <p:nvSpPr>
          <p:cNvPr id="53" name="Text 51"/>
          <p:cNvSpPr txBox="1"/>
          <p:nvPr/>
        </p:nvSpPr>
        <p:spPr>
          <a:xfrm>
            <a:off x="777240" y="3611880"/>
            <a:ext cx="10607040" cy="566928"/>
          </a:xfrm>
          <a:prstGeom prst="rect">
            <a:avLst/>
          </a:prstGeom>
          <a:noFill/>
          <a:ln/>
        </p:spPr>
        <p:txBody>
          <a:bodyPr wrap="square" lIns="0" tIns="0" rIns="0" bIns="0" rtlCol="0" anchor="ctr"/>
          <a:lstStyle/>
          <a:p>
            <a:pPr marL="0" indent="0">
              <a:buNone/>
            </a:pPr>
            <a:r>
              <a:rPr lang="en-US" sz="1200" b="1" dirty="0">
                <a:solidFill>
                  <a:srgbClr val="1B2A57"/>
                </a:solidFill>
                <a:latin typeface="Calibri" pitchFamily="34" charset="0"/>
                <a:ea typeface="Calibri" pitchFamily="34" charset="-122"/>
                <a:cs typeface="Calibri" pitchFamily="34" charset="-120"/>
              </a:rPr>
              <a:t>TOOL USED:  </a:t>
            </a:r>
            <a:r>
              <a:rPr lang="en-US" sz="1200" dirty="0">
                <a:solidFill>
                  <a:srgbClr val="1B2A57"/>
                </a:solidFill>
                <a:latin typeface="Calibri" pitchFamily="34" charset="0"/>
                <a:ea typeface="Calibri" pitchFamily="34" charset="-122"/>
                <a:cs typeface="Calibri" pitchFamily="34" charset="-120"/>
              </a:rPr>
              <a:t>Microsoft Excel — used to compute beta, excess return, risk-adjusted ratio, security ranking and optimal portfolio weights.</a:t>
            </a:r>
            <a:endParaRPr lang="en-US" sz="1200" dirty="0"/>
          </a:p>
        </p:txBody>
      </p:sp>
      <p:sp>
        <p:nvSpPr>
          <p:cNvPr id="54" name="Text 52"/>
          <p:cNvSpPr txBox="1"/>
          <p:nvPr/>
        </p:nvSpPr>
        <p:spPr>
          <a:xfrm>
            <a:off x="548640" y="4434840"/>
            <a:ext cx="3657600" cy="274320"/>
          </a:xfrm>
          <a:prstGeom prst="rect">
            <a:avLst/>
          </a:prstGeom>
          <a:noFill/>
          <a:ln/>
        </p:spPr>
        <p:txBody>
          <a:bodyPr wrap="square" lIns="0" tIns="0" rIns="0" bIns="0" rtlCol="0" anchor="ctr"/>
          <a:lstStyle/>
          <a:p>
            <a:pPr marL="0" indent="0">
              <a:buNone/>
            </a:pPr>
            <a:r>
              <a:rPr lang="en-US" sz="1100" b="1" kern="0" spc="150" dirty="0">
                <a:solidFill>
                  <a:srgbClr val="B8934A"/>
                </a:solidFill>
                <a:latin typeface="Calibri" pitchFamily="34" charset="0"/>
                <a:ea typeface="Calibri" pitchFamily="34" charset="-122"/>
                <a:cs typeface="Calibri" pitchFamily="34" charset="-120"/>
              </a:rPr>
              <a:t>KEY FORMULAS</a:t>
            </a:r>
            <a:endParaRPr lang="en-US" sz="1100" dirty="0"/>
          </a:p>
        </p:txBody>
      </p:sp>
      <p:sp>
        <p:nvSpPr>
          <p:cNvPr id="55" name="Shape 53"/>
          <p:cNvSpPr/>
          <p:nvPr/>
        </p:nvSpPr>
        <p:spPr>
          <a:xfrm>
            <a:off x="548640" y="4754880"/>
            <a:ext cx="3611880" cy="868680"/>
          </a:xfrm>
          <a:prstGeom prst="rect">
            <a:avLst/>
          </a:prstGeom>
          <a:solidFill>
            <a:srgbClr val="FFFFFF"/>
          </a:solidFill>
          <a:ln w="12700">
            <a:solidFill>
              <a:srgbClr val="D9DFEC"/>
            </a:solidFill>
            <a:prstDash val="solid"/>
          </a:ln>
        </p:spPr>
      </p:sp>
      <p:sp>
        <p:nvSpPr>
          <p:cNvPr id="56" name="Text 54"/>
          <p:cNvSpPr txBox="1"/>
          <p:nvPr/>
        </p:nvSpPr>
        <p:spPr>
          <a:xfrm>
            <a:off x="713232" y="4846320"/>
            <a:ext cx="3282696" cy="256032"/>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BETA</a:t>
            </a:r>
            <a:endParaRPr lang="en-US" sz="950" dirty="0"/>
          </a:p>
        </p:txBody>
      </p:sp>
      <p:sp>
        <p:nvSpPr>
          <p:cNvPr id="57" name="Text 55"/>
          <p:cNvSpPr txBox="1"/>
          <p:nvPr/>
        </p:nvSpPr>
        <p:spPr>
          <a:xfrm>
            <a:off x="713232" y="5102352"/>
            <a:ext cx="3282696" cy="457200"/>
          </a:xfrm>
          <a:prstGeom prst="rect">
            <a:avLst/>
          </a:prstGeom>
          <a:noFill/>
          <a:ln/>
        </p:spPr>
        <p:txBody>
          <a:bodyPr wrap="square" lIns="0" tIns="0" rIns="0" bIns="0" rtlCol="0" anchor="ctr"/>
          <a:lstStyle/>
          <a:p>
            <a:pPr marL="0" indent="0">
              <a:buNone/>
            </a:pPr>
            <a:r>
              <a:rPr lang="en-US" sz="1400" b="1" dirty="0">
                <a:solidFill>
                  <a:srgbClr val="1B2A57"/>
                </a:solidFill>
                <a:latin typeface="Cambria" pitchFamily="34" charset="0"/>
                <a:ea typeface="Cambria" pitchFamily="34" charset="-122"/>
                <a:cs typeface="Cambria" pitchFamily="34" charset="-120"/>
              </a:rPr>
              <a:t>β = Cov(Ri, Rm) / Var(Rm)</a:t>
            </a:r>
            <a:endParaRPr lang="en-US" sz="1400" dirty="0"/>
          </a:p>
        </p:txBody>
      </p:sp>
      <p:sp>
        <p:nvSpPr>
          <p:cNvPr id="58" name="Shape 56"/>
          <p:cNvSpPr/>
          <p:nvPr/>
        </p:nvSpPr>
        <p:spPr>
          <a:xfrm>
            <a:off x="4283964" y="4754880"/>
            <a:ext cx="3611880" cy="868680"/>
          </a:xfrm>
          <a:prstGeom prst="rect">
            <a:avLst/>
          </a:prstGeom>
          <a:solidFill>
            <a:srgbClr val="FFFFFF"/>
          </a:solidFill>
          <a:ln w="12700">
            <a:solidFill>
              <a:srgbClr val="D9DFEC"/>
            </a:solidFill>
            <a:prstDash val="solid"/>
          </a:ln>
        </p:spPr>
      </p:sp>
      <p:sp>
        <p:nvSpPr>
          <p:cNvPr id="59" name="Text 57"/>
          <p:cNvSpPr txBox="1"/>
          <p:nvPr/>
        </p:nvSpPr>
        <p:spPr>
          <a:xfrm>
            <a:off x="4448556" y="4846320"/>
            <a:ext cx="3282696" cy="256032"/>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EXCESS RETURN</a:t>
            </a:r>
            <a:endParaRPr lang="en-US" sz="950" dirty="0"/>
          </a:p>
        </p:txBody>
      </p:sp>
      <p:sp>
        <p:nvSpPr>
          <p:cNvPr id="60" name="Text 58"/>
          <p:cNvSpPr txBox="1"/>
          <p:nvPr/>
        </p:nvSpPr>
        <p:spPr>
          <a:xfrm>
            <a:off x="4448556" y="5102352"/>
            <a:ext cx="3282696" cy="457200"/>
          </a:xfrm>
          <a:prstGeom prst="rect">
            <a:avLst/>
          </a:prstGeom>
          <a:noFill/>
          <a:ln/>
        </p:spPr>
        <p:txBody>
          <a:bodyPr wrap="square" lIns="0" tIns="0" rIns="0" bIns="0" rtlCol="0" anchor="ctr"/>
          <a:lstStyle/>
          <a:p>
            <a:pPr marL="0" indent="0">
              <a:buNone/>
            </a:pPr>
            <a:r>
              <a:rPr lang="en-US" sz="1400" b="1" dirty="0">
                <a:solidFill>
                  <a:srgbClr val="1B2A57"/>
                </a:solidFill>
                <a:latin typeface="Cambria" pitchFamily="34" charset="0"/>
                <a:ea typeface="Cambria" pitchFamily="34" charset="-122"/>
                <a:cs typeface="Cambria" pitchFamily="34" charset="-120"/>
              </a:rPr>
              <a:t>Ri − RF</a:t>
            </a:r>
            <a:endParaRPr lang="en-US" sz="1400" dirty="0"/>
          </a:p>
        </p:txBody>
      </p:sp>
      <p:sp>
        <p:nvSpPr>
          <p:cNvPr id="61" name="Shape 59"/>
          <p:cNvSpPr/>
          <p:nvPr/>
        </p:nvSpPr>
        <p:spPr>
          <a:xfrm>
            <a:off x="8019288" y="4754880"/>
            <a:ext cx="3611880" cy="868680"/>
          </a:xfrm>
          <a:prstGeom prst="rect">
            <a:avLst/>
          </a:prstGeom>
          <a:solidFill>
            <a:srgbClr val="FFFFFF"/>
          </a:solidFill>
          <a:ln w="12700">
            <a:solidFill>
              <a:srgbClr val="D9DFEC"/>
            </a:solidFill>
            <a:prstDash val="solid"/>
          </a:ln>
        </p:spPr>
      </p:sp>
      <p:sp>
        <p:nvSpPr>
          <p:cNvPr id="62" name="Text 60"/>
          <p:cNvSpPr txBox="1"/>
          <p:nvPr/>
        </p:nvSpPr>
        <p:spPr>
          <a:xfrm>
            <a:off x="8183880" y="4846320"/>
            <a:ext cx="3282696" cy="256032"/>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EXCESS RETURN TO BETA RATIO</a:t>
            </a:r>
            <a:endParaRPr lang="en-US" sz="950" dirty="0"/>
          </a:p>
        </p:txBody>
      </p:sp>
      <p:sp>
        <p:nvSpPr>
          <p:cNvPr id="63" name="Text 61"/>
          <p:cNvSpPr txBox="1"/>
          <p:nvPr/>
        </p:nvSpPr>
        <p:spPr>
          <a:xfrm>
            <a:off x="8183880" y="5102352"/>
            <a:ext cx="3282696" cy="457200"/>
          </a:xfrm>
          <a:prstGeom prst="rect">
            <a:avLst/>
          </a:prstGeom>
          <a:noFill/>
          <a:ln/>
        </p:spPr>
        <p:txBody>
          <a:bodyPr wrap="square" lIns="0" tIns="0" rIns="0" bIns="0" rtlCol="0" anchor="ctr"/>
          <a:lstStyle/>
          <a:p>
            <a:pPr marL="0" indent="0">
              <a:buNone/>
            </a:pPr>
            <a:r>
              <a:rPr lang="en-US" sz="1400" b="1" dirty="0">
                <a:solidFill>
                  <a:srgbClr val="1B2A57"/>
                </a:solidFill>
                <a:latin typeface="Cambria" pitchFamily="34" charset="0"/>
                <a:ea typeface="Cambria" pitchFamily="34" charset="-122"/>
                <a:cs typeface="Cambria" pitchFamily="34" charset="-120"/>
              </a:rPr>
              <a:t>(Ri − RF) / β</a:t>
            </a:r>
            <a:endParaRPr lang="en-US" sz="1400" dirty="0"/>
          </a:p>
        </p:txBody>
      </p:sp>
      <p:sp>
        <p:nvSpPr>
          <p:cNvPr id="64" name="Text 62"/>
          <p:cNvSpPr txBox="1"/>
          <p:nvPr/>
        </p:nvSpPr>
        <p:spPr>
          <a:xfrm>
            <a:off x="548640" y="5806440"/>
            <a:ext cx="11064240" cy="365760"/>
          </a:xfrm>
          <a:prstGeom prst="rect">
            <a:avLst/>
          </a:prstGeom>
          <a:noFill/>
          <a:ln/>
        </p:spPr>
        <p:txBody>
          <a:bodyPr wrap="square" lIns="0" tIns="0" rIns="0" bIns="0" rtlCol="0" anchor="ctr"/>
          <a:lstStyle/>
          <a:p>
            <a:pPr marL="0" indent="0">
              <a:buNone/>
            </a:pPr>
            <a:r>
              <a:rPr lang="en-US" sz="1050" i="1" dirty="0">
                <a:solidFill>
                  <a:srgbClr val="5C6788"/>
                </a:solidFill>
                <a:latin typeface="Calibri" pitchFamily="34" charset="0"/>
                <a:ea typeface="Calibri" pitchFamily="34" charset="-122"/>
                <a:cs typeface="Calibri" pitchFamily="34" charset="-120"/>
              </a:rPr>
              <a:t>Cut-off rate (C) and inclusion criteria (Z) follow the Sharpe single-index model, referenced directly in the source methodology.</a:t>
            </a:r>
            <a:endParaRPr lang="en-US" sz="1050" dirty="0"/>
          </a:p>
        </p:txBody>
      </p:sp>
      <p:sp>
        <p:nvSpPr>
          <p:cNvPr id="65" name="Text 63"/>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66" name="Text 6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PERFORMANCE</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700" b="1" dirty="0">
                <a:solidFill>
                  <a:srgbClr val="1B2A57"/>
                </a:solidFill>
                <a:latin typeface="Cambria" pitchFamily="34" charset="0"/>
                <a:ea typeface="Cambria" pitchFamily="34" charset="-122"/>
                <a:cs typeface="Cambria" pitchFamily="34" charset="-120"/>
              </a:rPr>
              <a:t>Portfolio Performance — Mean Monthly Return</a:t>
            </a:r>
            <a:endParaRPr lang="en-US" sz="27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5" name="Chart 0"/>
          <p:cNvGraphicFramePr/>
          <p:nvPr/>
        </p:nvGraphicFramePr>
        <p:xfrm>
          <a:off x="457200" y="1417320"/>
          <a:ext cx="731520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909560" y="1417320"/>
            <a:ext cx="3703320" cy="4892040"/>
          </a:xfrm>
          <a:prstGeom prst="rect">
            <a:avLst/>
          </a:prstGeom>
          <a:solidFill>
            <a:srgbClr val="F5F7FB"/>
          </a:solidFill>
          <a:ln w="12700">
            <a:solidFill>
              <a:srgbClr val="D9DFEC"/>
            </a:solidFill>
            <a:prstDash val="solid"/>
          </a:ln>
        </p:spPr>
      </p:sp>
      <p:sp>
        <p:nvSpPr>
          <p:cNvPr id="7" name="Text 4"/>
          <p:cNvSpPr txBox="1"/>
          <p:nvPr/>
        </p:nvSpPr>
        <p:spPr>
          <a:xfrm>
            <a:off x="8138160" y="1600200"/>
            <a:ext cx="329184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KEY OBSERVATIONS</a:t>
            </a:r>
            <a:endParaRPr lang="en-US" sz="1050" dirty="0"/>
          </a:p>
        </p:txBody>
      </p:sp>
      <p:sp>
        <p:nvSpPr>
          <p:cNvPr id="8" name="Text 5"/>
          <p:cNvSpPr txBox="1"/>
          <p:nvPr/>
        </p:nvSpPr>
        <p:spPr>
          <a:xfrm>
            <a:off x="8138160" y="1920240"/>
            <a:ext cx="3291840" cy="219456"/>
          </a:xfrm>
          <a:prstGeom prst="rect">
            <a:avLst/>
          </a:prstGeom>
          <a:noFill/>
          <a:ln/>
        </p:spPr>
        <p:txBody>
          <a:bodyPr wrap="square" lIns="0" tIns="0" rIns="0" bIns="0" rtlCol="0" anchor="ctr"/>
          <a:lstStyle/>
          <a:p>
            <a:pPr marL="0" indent="0">
              <a:buNone/>
            </a:pPr>
            <a:r>
              <a:rPr lang="en-US" sz="900" b="1" dirty="0">
                <a:solidFill>
                  <a:srgbClr val="5C6788"/>
                </a:solidFill>
                <a:latin typeface="Calibri" pitchFamily="34" charset="0"/>
                <a:ea typeface="Calibri" pitchFamily="34" charset="-122"/>
                <a:cs typeface="Calibri" pitchFamily="34" charset="-120"/>
              </a:rPr>
              <a:t>TOP PERFORMER — BHARTI AIRTEL</a:t>
            </a:r>
            <a:endParaRPr lang="en-US" sz="900" dirty="0"/>
          </a:p>
        </p:txBody>
      </p:sp>
      <p:sp>
        <p:nvSpPr>
          <p:cNvPr id="9" name="Text 6"/>
          <p:cNvSpPr txBox="1"/>
          <p:nvPr/>
        </p:nvSpPr>
        <p:spPr>
          <a:xfrm>
            <a:off x="8138160" y="2121408"/>
            <a:ext cx="3291840" cy="384048"/>
          </a:xfrm>
          <a:prstGeom prst="rect">
            <a:avLst/>
          </a:prstGeom>
          <a:noFill/>
          <a:ln/>
        </p:spPr>
        <p:txBody>
          <a:bodyPr wrap="square" lIns="0" tIns="0" rIns="0" bIns="0" rtlCol="0" anchor="ctr"/>
          <a:lstStyle/>
          <a:p>
            <a:pPr marL="0" indent="0">
              <a:buNone/>
            </a:pPr>
            <a:r>
              <a:rPr lang="en-US" sz="2100" b="1" dirty="0">
                <a:solidFill>
                  <a:srgbClr val="1B2A57"/>
                </a:solidFill>
                <a:latin typeface="Cambria" pitchFamily="34" charset="0"/>
                <a:ea typeface="Cambria" pitchFamily="34" charset="-122"/>
                <a:cs typeface="Cambria" pitchFamily="34" charset="-120"/>
              </a:rPr>
              <a:t>+3.70%</a:t>
            </a:r>
            <a:endParaRPr lang="en-US" sz="2100" dirty="0"/>
          </a:p>
        </p:txBody>
      </p:sp>
      <p:sp>
        <p:nvSpPr>
          <p:cNvPr id="10" name="Text 7"/>
          <p:cNvSpPr txBox="1"/>
          <p:nvPr/>
        </p:nvSpPr>
        <p:spPr>
          <a:xfrm>
            <a:off x="8138160" y="2560320"/>
            <a:ext cx="3291840" cy="219456"/>
          </a:xfrm>
          <a:prstGeom prst="rect">
            <a:avLst/>
          </a:prstGeom>
          <a:noFill/>
          <a:ln/>
        </p:spPr>
        <p:txBody>
          <a:bodyPr wrap="square" lIns="0" tIns="0" rIns="0" bIns="0" rtlCol="0" anchor="ctr"/>
          <a:lstStyle/>
          <a:p>
            <a:pPr marL="0" indent="0">
              <a:buNone/>
            </a:pPr>
            <a:r>
              <a:rPr lang="en-US" sz="900" b="1" dirty="0">
                <a:solidFill>
                  <a:srgbClr val="5C6788"/>
                </a:solidFill>
                <a:latin typeface="Calibri" pitchFamily="34" charset="0"/>
                <a:ea typeface="Calibri" pitchFamily="34" charset="-122"/>
                <a:cs typeface="Calibri" pitchFamily="34" charset="-120"/>
              </a:rPr>
              <a:t>LOWEST — HUL</a:t>
            </a:r>
            <a:endParaRPr lang="en-US" sz="900" dirty="0"/>
          </a:p>
        </p:txBody>
      </p:sp>
      <p:sp>
        <p:nvSpPr>
          <p:cNvPr id="11" name="Text 8"/>
          <p:cNvSpPr txBox="1"/>
          <p:nvPr/>
        </p:nvSpPr>
        <p:spPr>
          <a:xfrm>
            <a:off x="8138160" y="2761488"/>
            <a:ext cx="3291840" cy="384048"/>
          </a:xfrm>
          <a:prstGeom prst="rect">
            <a:avLst/>
          </a:prstGeom>
          <a:noFill/>
          <a:ln/>
        </p:spPr>
        <p:txBody>
          <a:bodyPr wrap="square" lIns="0" tIns="0" rIns="0" bIns="0" rtlCol="0" anchor="ctr"/>
          <a:lstStyle/>
          <a:p>
            <a:pPr marL="0" indent="0">
              <a:buNone/>
            </a:pPr>
            <a:r>
              <a:rPr lang="en-US" sz="2100" b="1" dirty="0">
                <a:solidFill>
                  <a:srgbClr val="6D82B8"/>
                </a:solidFill>
                <a:latin typeface="Cambria" pitchFamily="34" charset="0"/>
                <a:ea typeface="Cambria" pitchFamily="34" charset="-122"/>
                <a:cs typeface="Cambria" pitchFamily="34" charset="-120"/>
              </a:rPr>
              <a:t>+0.62%</a:t>
            </a:r>
            <a:endParaRPr lang="en-US" sz="2100" dirty="0"/>
          </a:p>
        </p:txBody>
      </p:sp>
      <p:sp>
        <p:nvSpPr>
          <p:cNvPr id="12" name="Text 9"/>
          <p:cNvSpPr txBox="1"/>
          <p:nvPr/>
        </p:nvSpPr>
        <p:spPr>
          <a:xfrm>
            <a:off x="8138160" y="3200400"/>
            <a:ext cx="3291840" cy="219456"/>
          </a:xfrm>
          <a:prstGeom prst="rect">
            <a:avLst/>
          </a:prstGeom>
          <a:noFill/>
          <a:ln/>
        </p:spPr>
        <p:txBody>
          <a:bodyPr wrap="square" lIns="0" tIns="0" rIns="0" bIns="0" rtlCol="0" anchor="ctr"/>
          <a:lstStyle/>
          <a:p>
            <a:pPr marL="0" indent="0">
              <a:buNone/>
            </a:pPr>
            <a:r>
              <a:rPr lang="en-US" sz="900" b="1" dirty="0">
                <a:solidFill>
                  <a:srgbClr val="5C6788"/>
                </a:solidFill>
                <a:latin typeface="Calibri" pitchFamily="34" charset="0"/>
                <a:ea typeface="Calibri" pitchFamily="34" charset="-122"/>
                <a:cs typeface="Calibri" pitchFamily="34" charset="-120"/>
              </a:rPr>
              <a:t>NIFTY 50 BENCHMARK</a:t>
            </a:r>
            <a:endParaRPr lang="en-US" sz="900" dirty="0"/>
          </a:p>
        </p:txBody>
      </p:sp>
      <p:sp>
        <p:nvSpPr>
          <p:cNvPr id="13" name="Text 10"/>
          <p:cNvSpPr txBox="1"/>
          <p:nvPr/>
        </p:nvSpPr>
        <p:spPr>
          <a:xfrm>
            <a:off x="8138160" y="3401568"/>
            <a:ext cx="3291840" cy="384048"/>
          </a:xfrm>
          <a:prstGeom prst="rect">
            <a:avLst/>
          </a:prstGeom>
          <a:noFill/>
          <a:ln/>
        </p:spPr>
        <p:txBody>
          <a:bodyPr wrap="square" lIns="0" tIns="0" rIns="0" bIns="0" rtlCol="0" anchor="ctr"/>
          <a:lstStyle/>
          <a:p>
            <a:pPr marL="0" indent="0">
              <a:buNone/>
            </a:pPr>
            <a:r>
              <a:rPr lang="en-US" sz="2100" b="1" dirty="0">
                <a:solidFill>
                  <a:srgbClr val="B8934A"/>
                </a:solidFill>
                <a:latin typeface="Cambria" pitchFamily="34" charset="0"/>
                <a:ea typeface="Cambria" pitchFamily="34" charset="-122"/>
                <a:cs typeface="Cambria" pitchFamily="34" charset="-120"/>
              </a:rPr>
              <a:t>+0.65%</a:t>
            </a:r>
            <a:endParaRPr lang="en-US" sz="2100" dirty="0"/>
          </a:p>
        </p:txBody>
      </p:sp>
      <p:sp>
        <p:nvSpPr>
          <p:cNvPr id="14" name="Shape 11"/>
          <p:cNvSpPr/>
          <p:nvPr/>
        </p:nvSpPr>
        <p:spPr>
          <a:xfrm>
            <a:off x="8138160" y="3794760"/>
            <a:ext cx="3200400" cy="0"/>
          </a:xfrm>
          <a:prstGeom prst="line">
            <a:avLst/>
          </a:prstGeom>
          <a:noFill/>
          <a:ln w="12700">
            <a:solidFill>
              <a:srgbClr val="D9DFEC"/>
            </a:solidFill>
            <a:prstDash val="solid"/>
          </a:ln>
        </p:spPr>
      </p:sp>
      <p:sp>
        <p:nvSpPr>
          <p:cNvPr id="15" name="Text 12"/>
          <p:cNvSpPr txBox="1"/>
          <p:nvPr/>
        </p:nvSpPr>
        <p:spPr>
          <a:xfrm>
            <a:off x="8138160" y="3950208"/>
            <a:ext cx="3337560" cy="2194560"/>
          </a:xfrm>
          <a:prstGeom prst="rect">
            <a:avLst/>
          </a:prstGeom>
          <a:noFill/>
          <a:ln/>
        </p:spPr>
        <p:txBody>
          <a:bodyPr wrap="square" lIns="0" tIns="0" rIns="0" bIns="0" rtlCol="0" anchor="ctr"/>
          <a:lstStyle/>
          <a:p>
            <a:pPr marL="0" indent="0">
              <a:lnSpc>
                <a:spcPct val="115000"/>
              </a:lnSpc>
              <a:buNone/>
            </a:pPr>
            <a:r>
              <a:rPr lang="en-US" sz="1000" dirty="0">
                <a:solidFill>
                  <a:srgbClr val="1B2A57"/>
                </a:solidFill>
                <a:latin typeface="Calibri" pitchFamily="34" charset="0"/>
                <a:ea typeface="Calibri" pitchFamily="34" charset="-122"/>
                <a:cs typeface="Calibri" pitchFamily="34" charset="-120"/>
              </a:rPr>
              <a:t>Bharti Airtel, Adani Power and Infosys led all 15 stocks with the strongest mean monthly returns.
</a:t>
            </a:r>
            <a:endParaRPr lang="en-US" sz="1000" dirty="0"/>
          </a:p>
          <a:p>
            <a:pPr marL="0" indent="0">
              <a:lnSpc>
                <a:spcPct val="115000"/>
              </a:lnSpc>
              <a:buNone/>
            </a:pPr>
            <a:r>
              <a:rPr lang="en-US" sz="1000" dirty="0">
                <a:solidFill>
                  <a:srgbClr val="1B2A57"/>
                </a:solidFill>
                <a:latin typeface="Calibri" pitchFamily="34" charset="0"/>
                <a:ea typeface="Calibri" pitchFamily="34" charset="-122"/>
                <a:cs typeface="Calibri" pitchFamily="34" charset="-120"/>
              </a:rPr>
              <a:t>All 15 stocks posted positive mean returns over the period — none finished negative.
</a:t>
            </a:r>
            <a:endParaRPr lang="en-US" sz="1000" dirty="0"/>
          </a:p>
          <a:p>
            <a:pPr marL="0" indent="0">
              <a:lnSpc>
                <a:spcPct val="115000"/>
              </a:lnSpc>
              <a:buNone/>
            </a:pPr>
            <a:r>
              <a:rPr lang="en-US" sz="1000" dirty="0">
                <a:solidFill>
                  <a:srgbClr val="1B2A57"/>
                </a:solidFill>
                <a:latin typeface="Calibri" pitchFamily="34" charset="0"/>
                <a:ea typeface="Calibri" pitchFamily="34" charset="-122"/>
                <a:cs typeface="Calibri" pitchFamily="34" charset="-120"/>
              </a:rPr>
              <a:t>Most stocks outperformed the NIFTY 50's 0.65% benchmark return; JSW Steel and HUL were closest to it.</a:t>
            </a:r>
            <a:endParaRPr lang="en-US" sz="1000" dirty="0"/>
          </a:p>
        </p:txBody>
      </p:sp>
      <p:sp>
        <p:nvSpPr>
          <p:cNvPr id="16" name="Text 13"/>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17" name="Text 1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SYSTEMATIC RISK</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700" b="1" dirty="0">
                <a:solidFill>
                  <a:srgbClr val="1B2A57"/>
                </a:solidFill>
                <a:latin typeface="Cambria" pitchFamily="34" charset="0"/>
                <a:ea typeface="Cambria" pitchFamily="34" charset="-122"/>
                <a:cs typeface="Cambria" pitchFamily="34" charset="-120"/>
              </a:rPr>
              <a:t>Market Sensitivity — Beta</a:t>
            </a:r>
            <a:endParaRPr lang="en-US" sz="27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5" name="Chart 0"/>
          <p:cNvGraphicFramePr/>
          <p:nvPr/>
        </p:nvGraphicFramePr>
        <p:xfrm>
          <a:off x="457200" y="1417320"/>
          <a:ext cx="731520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909560" y="1417320"/>
            <a:ext cx="3703320" cy="4892040"/>
          </a:xfrm>
          <a:prstGeom prst="rect">
            <a:avLst/>
          </a:prstGeom>
          <a:solidFill>
            <a:srgbClr val="F5F7FB"/>
          </a:solidFill>
          <a:ln w="12700">
            <a:solidFill>
              <a:srgbClr val="D9DFEC"/>
            </a:solidFill>
            <a:prstDash val="solid"/>
          </a:ln>
        </p:spPr>
      </p:sp>
      <p:sp>
        <p:nvSpPr>
          <p:cNvPr id="7" name="Text 4"/>
          <p:cNvSpPr txBox="1"/>
          <p:nvPr/>
        </p:nvSpPr>
        <p:spPr>
          <a:xfrm>
            <a:off x="8138160" y="1600200"/>
            <a:ext cx="329184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READING BETA</a:t>
            </a:r>
            <a:endParaRPr lang="en-US" sz="1050" dirty="0"/>
          </a:p>
        </p:txBody>
      </p:sp>
      <p:sp>
        <p:nvSpPr>
          <p:cNvPr id="8" name="Shape 5"/>
          <p:cNvSpPr/>
          <p:nvPr/>
        </p:nvSpPr>
        <p:spPr>
          <a:xfrm>
            <a:off x="8138160" y="1965960"/>
            <a:ext cx="73152" cy="621792"/>
          </a:xfrm>
          <a:prstGeom prst="rect">
            <a:avLst/>
          </a:prstGeom>
          <a:solidFill>
            <a:srgbClr val="1B2A57"/>
          </a:solidFill>
          <a:ln/>
        </p:spPr>
      </p:sp>
      <p:sp>
        <p:nvSpPr>
          <p:cNvPr id="9" name="Text 6"/>
          <p:cNvSpPr txBox="1"/>
          <p:nvPr/>
        </p:nvSpPr>
        <p:spPr>
          <a:xfrm>
            <a:off x="8321040" y="1965960"/>
            <a:ext cx="3017520" cy="237744"/>
          </a:xfrm>
          <a:prstGeom prst="rect">
            <a:avLst/>
          </a:prstGeom>
          <a:noFill/>
          <a:ln/>
        </p:spPr>
        <p:txBody>
          <a:bodyPr wrap="square" lIns="0" tIns="0" rIns="0" bIns="0" rtlCol="0" anchor="ctr"/>
          <a:lstStyle/>
          <a:p>
            <a:pPr marL="0" indent="0">
              <a:buNone/>
            </a:pPr>
            <a:r>
              <a:rPr lang="en-US" sz="1300" b="1" dirty="0">
                <a:solidFill>
                  <a:srgbClr val="1B2A57"/>
                </a:solidFill>
                <a:latin typeface="Cambria" pitchFamily="34" charset="0"/>
                <a:ea typeface="Cambria" pitchFamily="34" charset="-122"/>
                <a:cs typeface="Cambria" pitchFamily="34" charset="-120"/>
              </a:rPr>
              <a:t>Higher β</a:t>
            </a:r>
            <a:endParaRPr lang="en-US" sz="1300" dirty="0"/>
          </a:p>
        </p:txBody>
      </p:sp>
      <p:sp>
        <p:nvSpPr>
          <p:cNvPr id="10" name="Text 7"/>
          <p:cNvSpPr txBox="1"/>
          <p:nvPr/>
        </p:nvSpPr>
        <p:spPr>
          <a:xfrm>
            <a:off x="8321040" y="2203704"/>
            <a:ext cx="3017520" cy="457200"/>
          </a:xfrm>
          <a:prstGeom prst="rect">
            <a:avLst/>
          </a:prstGeom>
          <a:noFill/>
          <a:ln/>
        </p:spPr>
        <p:txBody>
          <a:bodyPr wrap="square" lIns="0" tIns="0" rIns="0" bIns="0" rtlCol="0" anchor="ctr"/>
          <a:lstStyle/>
          <a:p>
            <a:pPr marL="0" indent="0">
              <a:buNone/>
            </a:pPr>
            <a:r>
              <a:rPr lang="en-US" sz="980" dirty="0">
                <a:solidFill>
                  <a:srgbClr val="1B2A57"/>
                </a:solidFill>
                <a:latin typeface="Calibri" pitchFamily="34" charset="0"/>
                <a:ea typeface="Calibri" pitchFamily="34" charset="-122"/>
                <a:cs typeface="Calibri" pitchFamily="34" charset="-120"/>
              </a:rPr>
              <a:t>More responsive to market changes — greater systematic risk</a:t>
            </a:r>
            <a:endParaRPr lang="en-US" sz="980" dirty="0"/>
          </a:p>
        </p:txBody>
      </p:sp>
      <p:sp>
        <p:nvSpPr>
          <p:cNvPr id="11" name="Shape 8"/>
          <p:cNvSpPr/>
          <p:nvPr/>
        </p:nvSpPr>
        <p:spPr>
          <a:xfrm>
            <a:off x="8138160" y="2743200"/>
            <a:ext cx="73152" cy="621792"/>
          </a:xfrm>
          <a:prstGeom prst="rect">
            <a:avLst/>
          </a:prstGeom>
          <a:solidFill>
            <a:srgbClr val="8FA0C7"/>
          </a:solidFill>
          <a:ln/>
        </p:spPr>
      </p:sp>
      <p:sp>
        <p:nvSpPr>
          <p:cNvPr id="12" name="Text 9"/>
          <p:cNvSpPr txBox="1"/>
          <p:nvPr/>
        </p:nvSpPr>
        <p:spPr>
          <a:xfrm>
            <a:off x="8321040" y="2743200"/>
            <a:ext cx="3017520" cy="237744"/>
          </a:xfrm>
          <a:prstGeom prst="rect">
            <a:avLst/>
          </a:prstGeom>
          <a:noFill/>
          <a:ln/>
        </p:spPr>
        <p:txBody>
          <a:bodyPr wrap="square" lIns="0" tIns="0" rIns="0" bIns="0" rtlCol="0" anchor="ctr"/>
          <a:lstStyle/>
          <a:p>
            <a:pPr marL="0" indent="0">
              <a:buNone/>
            </a:pPr>
            <a:r>
              <a:rPr lang="en-US" sz="1300" b="1" dirty="0">
                <a:solidFill>
                  <a:srgbClr val="1B2A57"/>
                </a:solidFill>
                <a:latin typeface="Cambria" pitchFamily="34" charset="0"/>
                <a:ea typeface="Cambria" pitchFamily="34" charset="-122"/>
                <a:cs typeface="Cambria" pitchFamily="34" charset="-120"/>
              </a:rPr>
              <a:t>Lower β</a:t>
            </a:r>
            <a:endParaRPr lang="en-US" sz="1300" dirty="0"/>
          </a:p>
        </p:txBody>
      </p:sp>
      <p:sp>
        <p:nvSpPr>
          <p:cNvPr id="13" name="Text 10"/>
          <p:cNvSpPr txBox="1"/>
          <p:nvPr/>
        </p:nvSpPr>
        <p:spPr>
          <a:xfrm>
            <a:off x="8321040" y="2980944"/>
            <a:ext cx="3017520" cy="457200"/>
          </a:xfrm>
          <a:prstGeom prst="rect">
            <a:avLst/>
          </a:prstGeom>
          <a:noFill/>
          <a:ln/>
        </p:spPr>
        <p:txBody>
          <a:bodyPr wrap="square" lIns="0" tIns="0" rIns="0" bIns="0" rtlCol="0" anchor="ctr"/>
          <a:lstStyle/>
          <a:p>
            <a:pPr marL="0" indent="0">
              <a:buNone/>
            </a:pPr>
            <a:r>
              <a:rPr lang="en-US" sz="980" dirty="0">
                <a:solidFill>
                  <a:srgbClr val="1B2A57"/>
                </a:solidFill>
                <a:latin typeface="Calibri" pitchFamily="34" charset="0"/>
                <a:ea typeface="Calibri" pitchFamily="34" charset="-122"/>
                <a:cs typeface="Calibri" pitchFamily="34" charset="-120"/>
              </a:rPr>
              <a:t>More stable — lower sensitivity to market movement</a:t>
            </a:r>
            <a:endParaRPr lang="en-US" sz="980" dirty="0"/>
          </a:p>
        </p:txBody>
      </p:sp>
      <p:sp>
        <p:nvSpPr>
          <p:cNvPr id="14" name="Shape 11"/>
          <p:cNvSpPr/>
          <p:nvPr/>
        </p:nvSpPr>
        <p:spPr>
          <a:xfrm>
            <a:off x="8138160" y="3566160"/>
            <a:ext cx="3200400" cy="0"/>
          </a:xfrm>
          <a:prstGeom prst="line">
            <a:avLst/>
          </a:prstGeom>
          <a:noFill/>
          <a:ln w="12700">
            <a:solidFill>
              <a:srgbClr val="D9DFEC"/>
            </a:solidFill>
            <a:prstDash val="solid"/>
          </a:ln>
        </p:spPr>
      </p:sp>
      <p:sp>
        <p:nvSpPr>
          <p:cNvPr id="15" name="Text 12"/>
          <p:cNvSpPr txBox="1"/>
          <p:nvPr/>
        </p:nvSpPr>
        <p:spPr>
          <a:xfrm>
            <a:off x="8138160" y="3703320"/>
            <a:ext cx="3337560" cy="1645920"/>
          </a:xfrm>
          <a:prstGeom prst="rect">
            <a:avLst/>
          </a:prstGeom>
          <a:noFill/>
          <a:ln/>
        </p:spPr>
        <p:txBody>
          <a:bodyPr wrap="square" lIns="0" tIns="0" rIns="0" bIns="0" rtlCol="0" anchor="ctr"/>
          <a:lstStyle/>
          <a:p>
            <a:pPr marL="0" indent="0">
              <a:lnSpc>
                <a:spcPct val="120000"/>
              </a:lnSpc>
              <a:buNone/>
            </a:pPr>
            <a:r>
              <a:rPr lang="en-US" sz="1020" dirty="0">
                <a:solidFill>
                  <a:srgbClr val="1B2A57"/>
                </a:solidFill>
                <a:latin typeface="Calibri" pitchFamily="34" charset="0"/>
                <a:ea typeface="Calibri" pitchFamily="34" charset="-122"/>
                <a:cs typeface="Calibri" pitchFamily="34" charset="-120"/>
              </a:rPr>
              <a:t>HUL (1.793), Tata Motors (1.791) and CEAT (1.766) are the most market-sensitive names in the portfolio universe. ICICI Bank (0.466) and Adani Power (0.524) are the most defensive, moving well below the market's pace.</a:t>
            </a:r>
            <a:endParaRPr lang="en-US" sz="1020" dirty="0"/>
          </a:p>
        </p:txBody>
      </p:sp>
      <p:sp>
        <p:nvSpPr>
          <p:cNvPr id="16" name="Text 13"/>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17" name="Text 1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EXCESS RETURN</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700" b="1" dirty="0">
                <a:solidFill>
                  <a:srgbClr val="1B2A57"/>
                </a:solidFill>
                <a:latin typeface="Cambria" pitchFamily="34" charset="0"/>
                <a:ea typeface="Cambria" pitchFamily="34" charset="-122"/>
                <a:cs typeface="Cambria" pitchFamily="34" charset="-120"/>
              </a:rPr>
              <a:t>Excess Return Over Risk-Free Rate</a:t>
            </a:r>
            <a:endParaRPr lang="en-US" sz="27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5" name="Chart 0"/>
          <p:cNvGraphicFramePr/>
          <p:nvPr/>
        </p:nvGraphicFramePr>
        <p:xfrm>
          <a:off x="457200" y="1417320"/>
          <a:ext cx="731520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909560" y="1417320"/>
            <a:ext cx="3703320" cy="4892040"/>
          </a:xfrm>
          <a:prstGeom prst="rect">
            <a:avLst/>
          </a:prstGeom>
          <a:solidFill>
            <a:srgbClr val="F5F7FB"/>
          </a:solidFill>
          <a:ln w="12700">
            <a:solidFill>
              <a:srgbClr val="D9DFEC"/>
            </a:solidFill>
            <a:prstDash val="solid"/>
          </a:ln>
        </p:spPr>
      </p:sp>
      <p:sp>
        <p:nvSpPr>
          <p:cNvPr id="7" name="Text 4"/>
          <p:cNvSpPr txBox="1"/>
          <p:nvPr/>
        </p:nvSpPr>
        <p:spPr>
          <a:xfrm>
            <a:off x="8138160" y="1600200"/>
            <a:ext cx="329184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METHODOLOGY</a:t>
            </a:r>
            <a:endParaRPr lang="en-US" sz="1050" dirty="0"/>
          </a:p>
        </p:txBody>
      </p:sp>
      <p:sp>
        <p:nvSpPr>
          <p:cNvPr id="8" name="Text 5"/>
          <p:cNvSpPr txBox="1"/>
          <p:nvPr/>
        </p:nvSpPr>
        <p:spPr>
          <a:xfrm>
            <a:off x="8138160" y="1901952"/>
            <a:ext cx="3337560" cy="1051560"/>
          </a:xfrm>
          <a:prstGeom prst="rect">
            <a:avLst/>
          </a:prstGeom>
          <a:noFill/>
          <a:ln/>
        </p:spPr>
        <p:txBody>
          <a:bodyPr wrap="square" lIns="0" tIns="0" rIns="0" bIns="0" rtlCol="0" anchor="ctr"/>
          <a:lstStyle/>
          <a:p>
            <a:pPr marL="0" indent="0">
              <a:lnSpc>
                <a:spcPct val="120000"/>
              </a:lnSpc>
              <a:buNone/>
            </a:pPr>
            <a:r>
              <a:rPr lang="en-US" sz="1050" dirty="0">
                <a:solidFill>
                  <a:srgbClr val="1B2A57"/>
                </a:solidFill>
                <a:latin typeface="Calibri" pitchFamily="34" charset="0"/>
                <a:ea typeface="Calibri" pitchFamily="34" charset="-122"/>
                <a:cs typeface="Calibri" pitchFamily="34" charset="-120"/>
              </a:rPr>
              <a:t>Excess return (Ri − RF) measures the extra yield a stock generated above the risk-free reference rate. A monthly risk-free rate of 0.50% was used, based on short-term government securities.</a:t>
            </a:r>
            <a:endParaRPr lang="en-US" sz="1050" dirty="0"/>
          </a:p>
        </p:txBody>
      </p:sp>
      <p:sp>
        <p:nvSpPr>
          <p:cNvPr id="9" name="Shape 6"/>
          <p:cNvSpPr/>
          <p:nvPr/>
        </p:nvSpPr>
        <p:spPr>
          <a:xfrm>
            <a:off x="8138160" y="3063240"/>
            <a:ext cx="3200400" cy="0"/>
          </a:xfrm>
          <a:prstGeom prst="line">
            <a:avLst/>
          </a:prstGeom>
          <a:noFill/>
          <a:ln w="12700">
            <a:solidFill>
              <a:srgbClr val="D9DFEC"/>
            </a:solidFill>
            <a:prstDash val="solid"/>
          </a:ln>
        </p:spPr>
      </p:sp>
      <p:sp>
        <p:nvSpPr>
          <p:cNvPr id="10" name="Text 7"/>
          <p:cNvSpPr txBox="1"/>
          <p:nvPr/>
        </p:nvSpPr>
        <p:spPr>
          <a:xfrm>
            <a:off x="8138160" y="3246120"/>
            <a:ext cx="3291840" cy="219456"/>
          </a:xfrm>
          <a:prstGeom prst="rect">
            <a:avLst/>
          </a:prstGeom>
          <a:noFill/>
          <a:ln/>
        </p:spPr>
        <p:txBody>
          <a:bodyPr wrap="square" lIns="0" tIns="0" rIns="0" bIns="0" rtlCol="0" anchor="ctr"/>
          <a:lstStyle/>
          <a:p>
            <a:pPr marL="0" indent="0">
              <a:buNone/>
            </a:pPr>
            <a:r>
              <a:rPr lang="en-US" sz="900" b="1" dirty="0">
                <a:solidFill>
                  <a:srgbClr val="5C6788"/>
                </a:solidFill>
                <a:latin typeface="Calibri" pitchFamily="34" charset="0"/>
                <a:ea typeface="Calibri" pitchFamily="34" charset="-122"/>
                <a:cs typeface="Calibri" pitchFamily="34" charset="-120"/>
              </a:rPr>
              <a:t>STRONGEST — BHARTI AIRTEL</a:t>
            </a:r>
            <a:endParaRPr lang="en-US" sz="900" dirty="0"/>
          </a:p>
        </p:txBody>
      </p:sp>
      <p:sp>
        <p:nvSpPr>
          <p:cNvPr id="11" name="Text 8"/>
          <p:cNvSpPr txBox="1"/>
          <p:nvPr/>
        </p:nvSpPr>
        <p:spPr>
          <a:xfrm>
            <a:off x="8138160" y="3447288"/>
            <a:ext cx="3291840" cy="384048"/>
          </a:xfrm>
          <a:prstGeom prst="rect">
            <a:avLst/>
          </a:prstGeom>
          <a:noFill/>
          <a:ln/>
        </p:spPr>
        <p:txBody>
          <a:bodyPr wrap="square" lIns="0" tIns="0" rIns="0" bIns="0" rtlCol="0" anchor="ctr"/>
          <a:lstStyle/>
          <a:p>
            <a:pPr marL="0" indent="0">
              <a:buNone/>
            </a:pPr>
            <a:r>
              <a:rPr lang="en-US" sz="2000" b="1" dirty="0">
                <a:solidFill>
                  <a:srgbClr val="1B2A57"/>
                </a:solidFill>
                <a:latin typeface="Cambria" pitchFamily="34" charset="0"/>
                <a:ea typeface="Cambria" pitchFamily="34" charset="-122"/>
                <a:cs typeface="Cambria" pitchFamily="34" charset="-120"/>
              </a:rPr>
              <a:t>+3.19%</a:t>
            </a:r>
            <a:endParaRPr lang="en-US" sz="2000" dirty="0"/>
          </a:p>
        </p:txBody>
      </p:sp>
      <p:sp>
        <p:nvSpPr>
          <p:cNvPr id="12" name="Text 9"/>
          <p:cNvSpPr txBox="1"/>
          <p:nvPr/>
        </p:nvSpPr>
        <p:spPr>
          <a:xfrm>
            <a:off x="8138160" y="3977640"/>
            <a:ext cx="3291840" cy="219456"/>
          </a:xfrm>
          <a:prstGeom prst="rect">
            <a:avLst/>
          </a:prstGeom>
          <a:noFill/>
          <a:ln/>
        </p:spPr>
        <p:txBody>
          <a:bodyPr wrap="square" lIns="0" tIns="0" rIns="0" bIns="0" rtlCol="0" anchor="ctr"/>
          <a:lstStyle/>
          <a:p>
            <a:pPr marL="0" indent="0">
              <a:buNone/>
            </a:pPr>
            <a:r>
              <a:rPr lang="en-US" sz="900" b="1" dirty="0">
                <a:solidFill>
                  <a:srgbClr val="5C6788"/>
                </a:solidFill>
                <a:latin typeface="Calibri" pitchFamily="34" charset="0"/>
                <a:ea typeface="Calibri" pitchFamily="34" charset="-122"/>
                <a:cs typeface="Calibri" pitchFamily="34" charset="-120"/>
              </a:rPr>
              <a:t>WEAKEST — HUL</a:t>
            </a:r>
            <a:endParaRPr lang="en-US" sz="900" dirty="0"/>
          </a:p>
        </p:txBody>
      </p:sp>
      <p:sp>
        <p:nvSpPr>
          <p:cNvPr id="13" name="Text 10"/>
          <p:cNvSpPr txBox="1"/>
          <p:nvPr/>
        </p:nvSpPr>
        <p:spPr>
          <a:xfrm>
            <a:off x="8138160" y="4178808"/>
            <a:ext cx="3291840" cy="384048"/>
          </a:xfrm>
          <a:prstGeom prst="rect">
            <a:avLst/>
          </a:prstGeom>
          <a:noFill/>
          <a:ln/>
        </p:spPr>
        <p:txBody>
          <a:bodyPr wrap="square" lIns="0" tIns="0" rIns="0" bIns="0" rtlCol="0" anchor="ctr"/>
          <a:lstStyle/>
          <a:p>
            <a:pPr marL="0" indent="0">
              <a:buNone/>
            </a:pPr>
            <a:r>
              <a:rPr lang="en-US" sz="2000" b="1" dirty="0">
                <a:solidFill>
                  <a:srgbClr val="8FA0C7"/>
                </a:solidFill>
                <a:latin typeface="Cambria" pitchFamily="34" charset="0"/>
                <a:ea typeface="Cambria" pitchFamily="34" charset="-122"/>
                <a:cs typeface="Cambria" pitchFamily="34" charset="-120"/>
              </a:rPr>
              <a:t>+0.12%</a:t>
            </a:r>
            <a:endParaRPr lang="en-US" sz="2000" dirty="0"/>
          </a:p>
        </p:txBody>
      </p:sp>
      <p:sp>
        <p:nvSpPr>
          <p:cNvPr id="14" name="Shape 11"/>
          <p:cNvSpPr/>
          <p:nvPr/>
        </p:nvSpPr>
        <p:spPr>
          <a:xfrm>
            <a:off x="8138160" y="4617720"/>
            <a:ext cx="3200400" cy="0"/>
          </a:xfrm>
          <a:prstGeom prst="line">
            <a:avLst/>
          </a:prstGeom>
          <a:noFill/>
          <a:ln w="12700">
            <a:solidFill>
              <a:srgbClr val="D9DFEC"/>
            </a:solidFill>
            <a:prstDash val="solid"/>
          </a:ln>
        </p:spPr>
      </p:sp>
      <p:sp>
        <p:nvSpPr>
          <p:cNvPr id="15" name="Text 12"/>
          <p:cNvSpPr txBox="1"/>
          <p:nvPr/>
        </p:nvSpPr>
        <p:spPr>
          <a:xfrm>
            <a:off x="8138160" y="4754880"/>
            <a:ext cx="3337560" cy="1463040"/>
          </a:xfrm>
          <a:prstGeom prst="rect">
            <a:avLst/>
          </a:prstGeom>
          <a:noFill/>
          <a:ln/>
        </p:spPr>
        <p:txBody>
          <a:bodyPr wrap="square" lIns="0" tIns="0" rIns="0" bIns="0" rtlCol="0" anchor="ctr"/>
          <a:lstStyle/>
          <a:p>
            <a:pPr marL="0" indent="0">
              <a:lnSpc>
                <a:spcPct val="120000"/>
              </a:lnSpc>
              <a:buNone/>
            </a:pPr>
            <a:r>
              <a:rPr lang="en-US" sz="1000" dirty="0">
                <a:solidFill>
                  <a:srgbClr val="1B2A57"/>
                </a:solidFill>
                <a:latin typeface="Calibri" pitchFamily="34" charset="0"/>
                <a:ea typeface="Calibri" pitchFamily="34" charset="-122"/>
                <a:cs typeface="Calibri" pitchFamily="34" charset="-120"/>
              </a:rPr>
              <a:t>Bharti Airtel, Adani Power and ICICI Bank posted the strongest excess returns and were later confirmed among the top-ranked stocks in the risk-adjusted analysis. Gold bars mark the four stocks ultimately selected for the optimal portfolio.</a:t>
            </a:r>
            <a:endParaRPr lang="en-US" sz="1000" dirty="0"/>
          </a:p>
        </p:txBody>
      </p:sp>
      <p:sp>
        <p:nvSpPr>
          <p:cNvPr id="16" name="Text 13"/>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17" name="Text 1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RISK-ADJUSTED PERFORMANCE</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700" b="1" dirty="0">
                <a:solidFill>
                  <a:srgbClr val="1B2A57"/>
                </a:solidFill>
                <a:latin typeface="Cambria" pitchFamily="34" charset="0"/>
                <a:ea typeface="Cambria" pitchFamily="34" charset="-122"/>
                <a:cs typeface="Cambria" pitchFamily="34" charset="-120"/>
              </a:rPr>
              <a:t>Excess Return to Beta Ratio</a:t>
            </a:r>
            <a:endParaRPr lang="en-US" sz="27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5" name="Chart 0"/>
          <p:cNvGraphicFramePr/>
          <p:nvPr/>
        </p:nvGraphicFramePr>
        <p:xfrm>
          <a:off x="457200" y="1417320"/>
          <a:ext cx="731520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909560" y="1417320"/>
            <a:ext cx="3703320" cy="4892040"/>
          </a:xfrm>
          <a:prstGeom prst="rect">
            <a:avLst/>
          </a:prstGeom>
          <a:solidFill>
            <a:srgbClr val="F5F7FB"/>
          </a:solidFill>
          <a:ln w="12700">
            <a:solidFill>
              <a:srgbClr val="D9DFEC"/>
            </a:solidFill>
            <a:prstDash val="solid"/>
          </a:ln>
        </p:spPr>
      </p:sp>
      <p:sp>
        <p:nvSpPr>
          <p:cNvPr id="7" name="Text 4"/>
          <p:cNvSpPr txBox="1"/>
          <p:nvPr/>
        </p:nvSpPr>
        <p:spPr>
          <a:xfrm>
            <a:off x="8138160" y="1600200"/>
            <a:ext cx="329184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WHY IT MATTERS</a:t>
            </a:r>
            <a:endParaRPr lang="en-US" sz="1050" dirty="0"/>
          </a:p>
        </p:txBody>
      </p:sp>
      <p:sp>
        <p:nvSpPr>
          <p:cNvPr id="8" name="Text 5"/>
          <p:cNvSpPr txBox="1"/>
          <p:nvPr/>
        </p:nvSpPr>
        <p:spPr>
          <a:xfrm>
            <a:off x="8138160" y="1901952"/>
            <a:ext cx="3337560" cy="1737360"/>
          </a:xfrm>
          <a:prstGeom prst="rect">
            <a:avLst/>
          </a:prstGeom>
          <a:noFill/>
          <a:ln/>
        </p:spPr>
        <p:txBody>
          <a:bodyPr wrap="square" lIns="0" tIns="0" rIns="0" bIns="0" rtlCol="0" anchor="ctr"/>
          <a:lstStyle/>
          <a:p>
            <a:pPr marL="0" indent="0">
              <a:lnSpc>
                <a:spcPct val="122000"/>
              </a:lnSpc>
              <a:buNone/>
            </a:pPr>
            <a:r>
              <a:rPr lang="en-US" sz="1030" dirty="0">
                <a:solidFill>
                  <a:srgbClr val="1B2A57"/>
                </a:solidFill>
                <a:latin typeface="Calibri" pitchFamily="34" charset="0"/>
                <a:ea typeface="Calibri" pitchFamily="34" charset="-122"/>
                <a:cs typeface="Calibri" pitchFamily="34" charset="-120"/>
              </a:rPr>
              <a:t>The excess return to beta ratio shows how much extra return a stock delivers per unit of systematic risk taken. Ranking by this ratio — within the Sharpe single-index model framework used in the source — identifies the most efficient securities for the portfolio, not just the highest-return ones.</a:t>
            </a:r>
            <a:endParaRPr lang="en-US" sz="1030" dirty="0"/>
          </a:p>
        </p:txBody>
      </p:sp>
      <p:sp>
        <p:nvSpPr>
          <p:cNvPr id="9" name="Shape 6"/>
          <p:cNvSpPr/>
          <p:nvPr/>
        </p:nvSpPr>
        <p:spPr>
          <a:xfrm>
            <a:off x="8138160" y="3703320"/>
            <a:ext cx="3200400" cy="0"/>
          </a:xfrm>
          <a:prstGeom prst="line">
            <a:avLst/>
          </a:prstGeom>
          <a:noFill/>
          <a:ln w="12700">
            <a:solidFill>
              <a:srgbClr val="D9DFEC"/>
            </a:solidFill>
            <a:prstDash val="solid"/>
          </a:ln>
        </p:spPr>
      </p:sp>
      <p:sp>
        <p:nvSpPr>
          <p:cNvPr id="10" name="Text 7"/>
          <p:cNvSpPr txBox="1"/>
          <p:nvPr/>
        </p:nvSpPr>
        <p:spPr>
          <a:xfrm>
            <a:off x="8138160" y="3840480"/>
            <a:ext cx="3291840" cy="237744"/>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CUT-OFF RATE (C)</a:t>
            </a:r>
            <a:endParaRPr lang="en-US" sz="950" dirty="0"/>
          </a:p>
        </p:txBody>
      </p:sp>
      <p:sp>
        <p:nvSpPr>
          <p:cNvPr id="11" name="Text 8"/>
          <p:cNvSpPr txBox="1"/>
          <p:nvPr/>
        </p:nvSpPr>
        <p:spPr>
          <a:xfrm>
            <a:off x="8138160" y="4078224"/>
            <a:ext cx="3291840" cy="457200"/>
          </a:xfrm>
          <a:prstGeom prst="rect">
            <a:avLst/>
          </a:prstGeom>
          <a:noFill/>
          <a:ln/>
        </p:spPr>
        <p:txBody>
          <a:bodyPr wrap="square" lIns="0" tIns="0" rIns="0" bIns="0" rtlCol="0" anchor="ctr"/>
          <a:lstStyle/>
          <a:p>
            <a:pPr marL="0" indent="0">
              <a:buNone/>
            </a:pPr>
            <a:r>
              <a:rPr lang="en-US" sz="2600" b="1" dirty="0">
                <a:solidFill>
                  <a:srgbClr val="1B2A57"/>
                </a:solidFill>
                <a:latin typeface="Cambria" pitchFamily="34" charset="0"/>
                <a:ea typeface="Cambria" pitchFamily="34" charset="-122"/>
                <a:cs typeface="Cambria" pitchFamily="34" charset="-120"/>
              </a:rPr>
              <a:t>0.0118</a:t>
            </a:r>
            <a:endParaRPr lang="en-US" sz="2600" dirty="0"/>
          </a:p>
        </p:txBody>
      </p:sp>
      <p:sp>
        <p:nvSpPr>
          <p:cNvPr id="12" name="Text 9"/>
          <p:cNvSpPr txBox="1"/>
          <p:nvPr/>
        </p:nvSpPr>
        <p:spPr>
          <a:xfrm>
            <a:off x="8138160" y="4572000"/>
            <a:ext cx="3337560" cy="1645920"/>
          </a:xfrm>
          <a:prstGeom prst="rect">
            <a:avLst/>
          </a:prstGeom>
          <a:noFill/>
          <a:ln/>
        </p:spPr>
        <p:txBody>
          <a:bodyPr wrap="square" lIns="0" tIns="0" rIns="0" bIns="0" rtlCol="0" anchor="ctr"/>
          <a:lstStyle/>
          <a:p>
            <a:pPr marL="0" indent="0">
              <a:lnSpc>
                <a:spcPct val="120000"/>
              </a:lnSpc>
              <a:buNone/>
            </a:pPr>
            <a:r>
              <a:rPr lang="en-US" sz="1000" dirty="0">
                <a:solidFill>
                  <a:srgbClr val="1B2A57"/>
                </a:solidFill>
                <a:latin typeface="Calibri" pitchFamily="34" charset="0"/>
                <a:ea typeface="Calibri" pitchFamily="34" charset="-122"/>
                <a:cs typeface="Calibri" pitchFamily="34" charset="-120"/>
              </a:rPr>
              <a:t>Stocks with a ratio above the cut-off rate qualify for the optimal portfolio (highlighted in gold). Rank 1–4 (Adani Power, Bharti Airtel, ICICI Bank, Viaz Tyres) all clear this threshold.</a:t>
            </a:r>
            <a:endParaRPr lang="en-US" sz="1000" dirty="0"/>
          </a:p>
        </p:txBody>
      </p:sp>
      <p:sp>
        <p:nvSpPr>
          <p:cNvPr id="13" name="Text 10"/>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14" name="Text 11"/>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ANALYSIS → RANKING → SELECTION</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700" b="1" dirty="0">
                <a:solidFill>
                  <a:srgbClr val="1B2A57"/>
                </a:solidFill>
                <a:latin typeface="Cambria" pitchFamily="34" charset="0"/>
                <a:ea typeface="Cambria" pitchFamily="34" charset="-122"/>
                <a:cs typeface="Cambria" pitchFamily="34" charset="-120"/>
              </a:rPr>
              <a:t>Security Ranking &amp; Portfolio Selection</a:t>
            </a:r>
            <a:endParaRPr lang="en-US" sz="27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4681728"/>
        </p:xfrm>
        <a:graphic>
          <a:graphicData uri="http://schemas.openxmlformats.org/drawingml/2006/table">
            <a:tbl>
              <a:tblPr/>
              <a:tblGrid>
                <a:gridCol w="777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9659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Rank</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Excess Return</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Beta</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Ratio (Ri−RF)/β</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vs. Cut-off (0.0118)</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Selected</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extLst>
                  <a:ext uri="{0D108BD9-81ED-4DB2-BD59-A6C34878D82A}">
                    <a16:rowId xmlns:a16="http://schemas.microsoft.com/office/drawing/2014/main" val="10000"/>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Adani Power</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0.524</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0.036542</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00" b="1" dirty="0">
                          <a:solidFill>
                            <a:srgbClr val="1E6B4E"/>
                          </a:solidFill>
                          <a:latin typeface="Calibri" pitchFamily="34" charset="0"/>
                          <a:ea typeface="Calibri" pitchFamily="34" charset="-122"/>
                          <a:cs typeface="Calibri" pitchFamily="34" charset="-120"/>
                        </a:rPr>
                        <a:t>Above</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extLst>
                  <a:ext uri="{0D108BD9-81ED-4DB2-BD59-A6C34878D82A}">
                    <a16:rowId xmlns:a16="http://schemas.microsoft.com/office/drawing/2014/main" val="10001"/>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Bharti Airtel</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+3.19%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0.894</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0.035707</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00" b="1" dirty="0">
                          <a:solidFill>
                            <a:srgbClr val="1E6B4E"/>
                          </a:solidFill>
                          <a:latin typeface="Calibri" pitchFamily="34" charset="0"/>
                          <a:ea typeface="Calibri" pitchFamily="34" charset="-122"/>
                          <a:cs typeface="Calibri" pitchFamily="34" charset="-120"/>
                        </a:rPr>
                        <a:t>Above</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extLst>
                  <a:ext uri="{0D108BD9-81ED-4DB2-BD59-A6C34878D82A}">
                    <a16:rowId xmlns:a16="http://schemas.microsoft.com/office/drawing/2014/main" val="10002"/>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ICICI Bank</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+1.31%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0.466</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0.028140</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00" b="1" dirty="0">
                          <a:solidFill>
                            <a:srgbClr val="1E6B4E"/>
                          </a:solidFill>
                          <a:latin typeface="Calibri" pitchFamily="34" charset="0"/>
                          <a:ea typeface="Calibri" pitchFamily="34" charset="-122"/>
                          <a:cs typeface="Calibri" pitchFamily="34" charset="-120"/>
                        </a:rPr>
                        <a:t>Above</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extLst>
                  <a:ext uri="{0D108BD9-81ED-4DB2-BD59-A6C34878D82A}">
                    <a16:rowId xmlns:a16="http://schemas.microsoft.com/office/drawing/2014/main" val="10003"/>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Viaz Tyres</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0.871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0.014326</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00" b="1" dirty="0">
                          <a:solidFill>
                            <a:srgbClr val="1E6B4E"/>
                          </a:solidFill>
                          <a:latin typeface="Calibri" pitchFamily="34" charset="0"/>
                          <a:ea typeface="Calibri" pitchFamily="34" charset="-122"/>
                          <a:cs typeface="Calibri" pitchFamily="34" charset="-120"/>
                        </a:rPr>
                        <a:t>Above</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CF3E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extLst>
                  <a:ext uri="{0D108BD9-81ED-4DB2-BD59-A6C34878D82A}">
                    <a16:rowId xmlns:a16="http://schemas.microsoft.com/office/drawing/2014/main" val="10004"/>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NTPC</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+1.30%</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1.189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0.010919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5"/>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Infosys</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1.331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0.010151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Maruti Suzuki</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1.320</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0.009141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7"/>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TVS Motors</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1.559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0.007609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BLKI</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+0.51%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0.735</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0.006981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9"/>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CEAT</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+1.22%</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1.766</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0.006912</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Hero MotoCorp</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+0.83%</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1.477</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0.005607</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11"/>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L&amp;T</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+0.53%</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1.169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0.004560</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Tata Motors</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1.791</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0.003286</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13"/>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JSW Steel</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+0.17%</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1.119</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0.001546</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92608">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050" b="1" dirty="0">
                          <a:solidFill>
                            <a:srgbClr val="1B2A57"/>
                          </a:solidFill>
                          <a:latin typeface="Calibri" pitchFamily="34" charset="0"/>
                          <a:ea typeface="Calibri" pitchFamily="34" charset="-122"/>
                          <a:cs typeface="Calibri" pitchFamily="34" charset="-120"/>
                        </a:rPr>
                        <a:t>HUL</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+0.12%</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dirty="0">
                          <a:solidFill>
                            <a:srgbClr val="1B2A57"/>
                          </a:solidFill>
                          <a:latin typeface="Calibri" pitchFamily="34" charset="0"/>
                          <a:ea typeface="Calibri" pitchFamily="34" charset="-122"/>
                          <a:cs typeface="Calibri" pitchFamily="34" charset="-120"/>
                        </a:rPr>
                        <a:t>1.793</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50" b="1" dirty="0">
                          <a:solidFill>
                            <a:srgbClr val="1B2A57"/>
                          </a:solidFill>
                          <a:latin typeface="Calibri" pitchFamily="34" charset="0"/>
                          <a:ea typeface="Calibri" pitchFamily="34" charset="-122"/>
                          <a:cs typeface="Calibri" pitchFamily="34" charset="-120"/>
                        </a:rPr>
                        <a:t>0.000660</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dirty="0">
                          <a:solidFill>
                            <a:srgbClr val="5C6788"/>
                          </a:solidFill>
                          <a:latin typeface="Calibri" pitchFamily="34" charset="0"/>
                          <a:ea typeface="Calibri" pitchFamily="34" charset="-122"/>
                          <a:cs typeface="Calibri" pitchFamily="34" charset="-120"/>
                        </a:rPr>
                        <a:t>Below</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000" b="1" dirty="0">
                          <a:solidFill>
                            <a:srgbClr val="5C67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15"/>
                  </a:ext>
                </a:extLst>
              </a:tr>
            </a:tbl>
          </a:graphicData>
        </a:graphic>
      </p:graphicFrame>
      <p:sp>
        <p:nvSpPr>
          <p:cNvPr id="6" name="Text 3"/>
          <p:cNvSpPr txBox="1"/>
          <p:nvPr/>
        </p:nvSpPr>
        <p:spPr>
          <a:xfrm>
            <a:off x="457200" y="6199632"/>
            <a:ext cx="11247120" cy="320040"/>
          </a:xfrm>
          <a:prstGeom prst="rect">
            <a:avLst/>
          </a:prstGeom>
          <a:noFill/>
          <a:ln/>
        </p:spPr>
        <p:txBody>
          <a:bodyPr wrap="square" lIns="0" tIns="0" rIns="0" bIns="0" rtlCol="0" anchor="ctr"/>
          <a:lstStyle/>
          <a:p>
            <a:pPr marL="0" indent="0">
              <a:buNone/>
            </a:pPr>
            <a:r>
              <a:rPr lang="en-US" sz="1050" i="1" dirty="0">
                <a:solidFill>
                  <a:srgbClr val="5C6788"/>
                </a:solidFill>
                <a:latin typeface="Calibri" pitchFamily="34" charset="0"/>
                <a:ea typeface="Calibri" pitchFamily="34" charset="-122"/>
                <a:cs typeface="Calibri" pitchFamily="34" charset="-120"/>
              </a:rPr>
              <a:t>ANALYSIS  →  RANKING  →  SELECTION:  All 15 stocks were analyzed on excess return and beta, ranked by the excess-return-to-beta ratio, and the four securities clearing the cut-off rate (0.0118) were selected for the optimal portfolio.</a:t>
            </a:r>
            <a:endParaRPr lang="en-US" sz="1050" dirty="0"/>
          </a:p>
        </p:txBody>
      </p:sp>
      <p:sp>
        <p:nvSpPr>
          <p:cNvPr id="7" name="Text 4"/>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8" name="Text 5"/>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D3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FINAL SELECTION</a:t>
            </a:r>
            <a:endParaRPr lang="en-US" sz="1100" dirty="0"/>
          </a:p>
        </p:txBody>
      </p:sp>
      <p:sp>
        <p:nvSpPr>
          <p:cNvPr id="3" name="Text 1"/>
          <p:cNvSpPr txBox="1"/>
          <p:nvPr/>
        </p:nvSpPr>
        <p:spPr>
          <a:xfrm>
            <a:off x="548640" y="640080"/>
            <a:ext cx="91440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Optimal Portfolio &amp; Conclusion</a:t>
            </a:r>
            <a:endParaRPr lang="en-US" sz="2800" dirty="0"/>
          </a:p>
        </p:txBody>
      </p:sp>
      <p:graphicFrame>
        <p:nvGraphicFramePr>
          <p:cNvPr id="4" name="Chart 0"/>
          <p:cNvGraphicFramePr/>
          <p:nvPr/>
        </p:nvGraphicFramePr>
        <p:xfrm>
          <a:off x="457200" y="1417320"/>
          <a:ext cx="51206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806440" y="1417320"/>
            <a:ext cx="5852160" cy="1965960"/>
          </a:xfrm>
          <a:prstGeom prst="rect">
            <a:avLst/>
          </a:prstGeom>
          <a:solidFill>
            <a:srgbClr val="2E3F73"/>
          </a:solidFill>
          <a:ln/>
        </p:spPr>
      </p:sp>
      <p:sp>
        <p:nvSpPr>
          <p:cNvPr id="6" name="Text 3"/>
          <p:cNvSpPr txBox="1"/>
          <p:nvPr/>
        </p:nvSpPr>
        <p:spPr>
          <a:xfrm>
            <a:off x="6035040" y="1572768"/>
            <a:ext cx="5394960" cy="274320"/>
          </a:xfrm>
          <a:prstGeom prst="rect">
            <a:avLst/>
          </a:prstGeom>
          <a:noFill/>
          <a:ln/>
        </p:spPr>
        <p:txBody>
          <a:bodyPr wrap="square" lIns="0" tIns="0" rIns="0" bIns="0" rtlCol="0" anchor="ctr"/>
          <a:lstStyle/>
          <a:p>
            <a:pPr marL="0" indent="0">
              <a:buNone/>
            </a:pPr>
            <a:r>
              <a:rPr lang="en-US" sz="1050" b="1" kern="0" spc="120" dirty="0">
                <a:solidFill>
                  <a:srgbClr val="B8934A"/>
                </a:solidFill>
                <a:latin typeface="Calibri" pitchFamily="34" charset="0"/>
                <a:ea typeface="Calibri" pitchFamily="34" charset="-122"/>
                <a:cs typeface="Calibri" pitchFamily="34" charset="-120"/>
              </a:rPr>
              <a:t>OPTIMAL PORTFOLIO WEIGHTS</a:t>
            </a:r>
            <a:endParaRPr lang="en-US" sz="1050" dirty="0"/>
          </a:p>
        </p:txBody>
      </p:sp>
      <p:sp>
        <p:nvSpPr>
          <p:cNvPr id="7" name="Text 4"/>
          <p:cNvSpPr txBox="1"/>
          <p:nvPr/>
        </p:nvSpPr>
        <p:spPr>
          <a:xfrm>
            <a:off x="6035040" y="1901952"/>
            <a:ext cx="301752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ICICI Bank</a:t>
            </a:r>
            <a:endParaRPr lang="en-US" sz="1250" dirty="0"/>
          </a:p>
        </p:txBody>
      </p:sp>
      <p:sp>
        <p:nvSpPr>
          <p:cNvPr id="8" name="Text 5"/>
          <p:cNvSpPr txBox="1"/>
          <p:nvPr/>
        </p:nvSpPr>
        <p:spPr>
          <a:xfrm>
            <a:off x="9144000" y="1901952"/>
            <a:ext cx="2331720" cy="310896"/>
          </a:xfrm>
          <a:prstGeom prst="rect">
            <a:avLst/>
          </a:prstGeom>
          <a:noFill/>
          <a:ln/>
        </p:spPr>
        <p:txBody>
          <a:bodyPr wrap="square" lIns="0" tIns="0" rIns="0" bIns="0" rtlCol="0" anchor="ctr"/>
          <a:lstStyle/>
          <a:p>
            <a:pPr marL="0" indent="0" algn="r">
              <a:buNone/>
            </a:pPr>
            <a:r>
              <a:rPr lang="en-US" sz="1400" b="1" dirty="0">
                <a:solidFill>
                  <a:srgbClr val="B8934A"/>
                </a:solidFill>
                <a:latin typeface="Cambria" pitchFamily="34" charset="0"/>
                <a:ea typeface="Cambria" pitchFamily="34" charset="-122"/>
                <a:cs typeface="Cambria" pitchFamily="34" charset="-120"/>
              </a:rPr>
              <a:t>53.5%</a:t>
            </a:r>
            <a:endParaRPr lang="en-US" sz="1400" dirty="0"/>
          </a:p>
        </p:txBody>
      </p:sp>
      <p:sp>
        <p:nvSpPr>
          <p:cNvPr id="9" name="Text 6"/>
          <p:cNvSpPr txBox="1"/>
          <p:nvPr/>
        </p:nvSpPr>
        <p:spPr>
          <a:xfrm>
            <a:off x="6035040" y="2267712"/>
            <a:ext cx="301752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Bharti Airtel</a:t>
            </a:r>
            <a:endParaRPr lang="en-US" sz="1250" dirty="0"/>
          </a:p>
        </p:txBody>
      </p:sp>
      <p:sp>
        <p:nvSpPr>
          <p:cNvPr id="10" name="Text 7"/>
          <p:cNvSpPr txBox="1"/>
          <p:nvPr/>
        </p:nvSpPr>
        <p:spPr>
          <a:xfrm>
            <a:off x="9144000" y="2267712"/>
            <a:ext cx="2331720" cy="310896"/>
          </a:xfrm>
          <a:prstGeom prst="rect">
            <a:avLst/>
          </a:prstGeom>
          <a:noFill/>
          <a:ln/>
        </p:spPr>
        <p:txBody>
          <a:bodyPr wrap="square" lIns="0" tIns="0" rIns="0" bIns="0" rtlCol="0" anchor="ctr"/>
          <a:lstStyle/>
          <a:p>
            <a:pPr marL="0" indent="0" algn="r">
              <a:buNone/>
            </a:pPr>
            <a:r>
              <a:rPr lang="en-US" sz="1400" b="1" dirty="0">
                <a:solidFill>
                  <a:srgbClr val="B8934A"/>
                </a:solidFill>
                <a:latin typeface="Cambria" pitchFamily="34" charset="0"/>
                <a:ea typeface="Cambria" pitchFamily="34" charset="-122"/>
                <a:cs typeface="Cambria" pitchFamily="34" charset="-120"/>
              </a:rPr>
              <a:t>39.7%</a:t>
            </a:r>
            <a:endParaRPr lang="en-US" sz="1400" dirty="0"/>
          </a:p>
        </p:txBody>
      </p:sp>
      <p:sp>
        <p:nvSpPr>
          <p:cNvPr id="11" name="Text 8"/>
          <p:cNvSpPr txBox="1"/>
          <p:nvPr/>
        </p:nvSpPr>
        <p:spPr>
          <a:xfrm>
            <a:off x="6035040" y="2633472"/>
            <a:ext cx="301752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Adani Power</a:t>
            </a:r>
            <a:endParaRPr lang="en-US" sz="1250" dirty="0"/>
          </a:p>
        </p:txBody>
      </p:sp>
      <p:sp>
        <p:nvSpPr>
          <p:cNvPr id="12" name="Text 9"/>
          <p:cNvSpPr txBox="1"/>
          <p:nvPr/>
        </p:nvSpPr>
        <p:spPr>
          <a:xfrm>
            <a:off x="9144000" y="2633472"/>
            <a:ext cx="2331720" cy="310896"/>
          </a:xfrm>
          <a:prstGeom prst="rect">
            <a:avLst/>
          </a:prstGeom>
          <a:noFill/>
          <a:ln/>
        </p:spPr>
        <p:txBody>
          <a:bodyPr wrap="square" lIns="0" tIns="0" rIns="0" bIns="0" rtlCol="0" anchor="ctr"/>
          <a:lstStyle/>
          <a:p>
            <a:pPr marL="0" indent="0" algn="r">
              <a:buNone/>
            </a:pPr>
            <a:r>
              <a:rPr lang="en-US" sz="1400" b="1" dirty="0">
                <a:solidFill>
                  <a:srgbClr val="B8934A"/>
                </a:solidFill>
                <a:latin typeface="Cambria" pitchFamily="34" charset="0"/>
                <a:ea typeface="Cambria" pitchFamily="34" charset="-122"/>
                <a:cs typeface="Cambria" pitchFamily="34" charset="-120"/>
              </a:rPr>
              <a:t>5.5%</a:t>
            </a:r>
            <a:endParaRPr lang="en-US" sz="1400" dirty="0"/>
          </a:p>
        </p:txBody>
      </p:sp>
      <p:sp>
        <p:nvSpPr>
          <p:cNvPr id="13" name="Text 10"/>
          <p:cNvSpPr txBox="1"/>
          <p:nvPr/>
        </p:nvSpPr>
        <p:spPr>
          <a:xfrm>
            <a:off x="6035040" y="2999232"/>
            <a:ext cx="301752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Viaz Tyres</a:t>
            </a:r>
            <a:endParaRPr lang="en-US" sz="1250" dirty="0"/>
          </a:p>
        </p:txBody>
      </p:sp>
      <p:sp>
        <p:nvSpPr>
          <p:cNvPr id="14" name="Text 11"/>
          <p:cNvSpPr txBox="1"/>
          <p:nvPr/>
        </p:nvSpPr>
        <p:spPr>
          <a:xfrm>
            <a:off x="9144000" y="2999232"/>
            <a:ext cx="2331720" cy="310896"/>
          </a:xfrm>
          <a:prstGeom prst="rect">
            <a:avLst/>
          </a:prstGeom>
          <a:noFill/>
          <a:ln/>
        </p:spPr>
        <p:txBody>
          <a:bodyPr wrap="square" lIns="0" tIns="0" rIns="0" bIns="0" rtlCol="0" anchor="ctr"/>
          <a:lstStyle/>
          <a:p>
            <a:pPr marL="0" indent="0" algn="r">
              <a:buNone/>
            </a:pPr>
            <a:r>
              <a:rPr lang="en-US" sz="1400" b="1" dirty="0">
                <a:solidFill>
                  <a:srgbClr val="B8934A"/>
                </a:solidFill>
                <a:latin typeface="Cambria" pitchFamily="34" charset="0"/>
                <a:ea typeface="Cambria" pitchFamily="34" charset="-122"/>
                <a:cs typeface="Cambria" pitchFamily="34" charset="-120"/>
              </a:rPr>
              <a:t>1.4%</a:t>
            </a:r>
            <a:endParaRPr lang="en-US" sz="1400" dirty="0"/>
          </a:p>
        </p:txBody>
      </p:sp>
      <p:sp>
        <p:nvSpPr>
          <p:cNvPr id="15" name="Shape 12"/>
          <p:cNvSpPr/>
          <p:nvPr/>
        </p:nvSpPr>
        <p:spPr>
          <a:xfrm>
            <a:off x="5806440" y="3520440"/>
            <a:ext cx="5852160" cy="2057400"/>
          </a:xfrm>
          <a:prstGeom prst="rect">
            <a:avLst/>
          </a:prstGeom>
          <a:solidFill>
            <a:srgbClr val="FFFFFF"/>
          </a:solidFill>
          <a:ln/>
        </p:spPr>
      </p:sp>
      <p:sp>
        <p:nvSpPr>
          <p:cNvPr id="16" name="Text 13"/>
          <p:cNvSpPr txBox="1"/>
          <p:nvPr/>
        </p:nvSpPr>
        <p:spPr>
          <a:xfrm>
            <a:off x="6035040" y="3657600"/>
            <a:ext cx="5394960" cy="256032"/>
          </a:xfrm>
          <a:prstGeom prst="rect">
            <a:avLst/>
          </a:prstGeom>
          <a:noFill/>
          <a:ln/>
        </p:spPr>
        <p:txBody>
          <a:bodyPr wrap="square" lIns="0" tIns="0" rIns="0" bIns="0" rtlCol="0" anchor="ctr"/>
          <a:lstStyle/>
          <a:p>
            <a:pPr marL="0" indent="0">
              <a:buNone/>
            </a:pPr>
            <a:r>
              <a:rPr lang="en-US" sz="1050" b="1" kern="0" spc="120" dirty="0">
                <a:solidFill>
                  <a:srgbClr val="B8934A"/>
                </a:solidFill>
                <a:latin typeface="Calibri" pitchFamily="34" charset="0"/>
                <a:ea typeface="Calibri" pitchFamily="34" charset="-122"/>
                <a:cs typeface="Calibri" pitchFamily="34" charset="-120"/>
              </a:rPr>
              <a:t>KEY PORTFOLIO INSIGHTS</a:t>
            </a:r>
            <a:endParaRPr lang="en-US" sz="1050" dirty="0"/>
          </a:p>
        </p:txBody>
      </p:sp>
      <p:sp>
        <p:nvSpPr>
          <p:cNvPr id="17" name="Text 14"/>
          <p:cNvSpPr txBox="1"/>
          <p:nvPr/>
        </p:nvSpPr>
        <p:spPr>
          <a:xfrm>
            <a:off x="6035040" y="3950208"/>
            <a:ext cx="5394960" cy="1554480"/>
          </a:xfrm>
          <a:prstGeom prst="rect">
            <a:avLst/>
          </a:prstGeom>
          <a:noFill/>
          <a:ln/>
        </p:spPr>
        <p:txBody>
          <a:bodyPr wrap="square" lIns="0" tIns="0" rIns="0" bIns="0" rtlCol="0" anchor="ctr"/>
          <a:lstStyle/>
          <a:p>
            <a:pPr marL="152400" indent="-152400">
              <a:lnSpc>
                <a:spcPct val="115000"/>
              </a:lnSpc>
              <a:spcAft>
                <a:spcPts val="600"/>
              </a:spcAft>
              <a:buSzPct val="100000"/>
              <a:buChar char="•"/>
            </a:pPr>
            <a:r>
              <a:rPr lang="en-US" sz="1050" dirty="0">
                <a:solidFill>
                  <a:srgbClr val="1B2A57"/>
                </a:solidFill>
                <a:latin typeface="Calibri" pitchFamily="34" charset="0"/>
                <a:ea typeface="Calibri" pitchFamily="34" charset="-122"/>
                <a:cs typeface="Calibri" pitchFamily="34" charset="-120"/>
              </a:rPr>
              <a:t>ICICI Bank (53.5%) receives the largest allocation given its strong risk-adjusted return.</a:t>
            </a:r>
            <a:endParaRPr lang="en-US" sz="1050" dirty="0"/>
          </a:p>
          <a:p>
            <a:pPr marL="152400" indent="-152400">
              <a:lnSpc>
                <a:spcPct val="115000"/>
              </a:lnSpc>
              <a:spcAft>
                <a:spcPts val="600"/>
              </a:spcAft>
              <a:buSzPct val="100000"/>
              <a:buChar char="•"/>
            </a:pPr>
            <a:r>
              <a:rPr lang="en-US" sz="1050" dirty="0">
                <a:solidFill>
                  <a:srgbClr val="1B2A57"/>
                </a:solidFill>
                <a:latin typeface="Calibri" pitchFamily="34" charset="0"/>
                <a:ea typeface="Calibri" pitchFamily="34" charset="-122"/>
                <a:cs typeface="Calibri" pitchFamily="34" charset="-120"/>
              </a:rPr>
              <a:t>Bharti Airtel (39.7%) adds substantial weight from its high excess return.</a:t>
            </a:r>
            <a:endParaRPr lang="en-US" sz="1050" dirty="0"/>
          </a:p>
          <a:p>
            <a:pPr marL="152400" indent="-152400">
              <a:lnSpc>
                <a:spcPct val="115000"/>
              </a:lnSpc>
              <a:spcAft>
                <a:spcPts val="600"/>
              </a:spcAft>
              <a:buSzPct val="100000"/>
              <a:buChar char="•"/>
            </a:pPr>
            <a:r>
              <a:rPr lang="en-US" sz="1050" dirty="0">
                <a:solidFill>
                  <a:srgbClr val="1B2A57"/>
                </a:solidFill>
                <a:latin typeface="Calibri" pitchFamily="34" charset="0"/>
                <a:ea typeface="Calibri" pitchFamily="34" charset="-122"/>
                <a:cs typeface="Calibri" pitchFamily="34" charset="-120"/>
              </a:rPr>
              <a:t>Adani Power (5.5%) and Viaz Tyres (1.4%) are held in smaller weights purely for diversification benefit.</a:t>
            </a:r>
            <a:endParaRPr lang="en-US" sz="1050" dirty="0"/>
          </a:p>
        </p:txBody>
      </p:sp>
      <p:sp>
        <p:nvSpPr>
          <p:cNvPr id="18" name="Shape 15"/>
          <p:cNvSpPr/>
          <p:nvPr/>
        </p:nvSpPr>
        <p:spPr>
          <a:xfrm>
            <a:off x="457200" y="5715000"/>
            <a:ext cx="11247120" cy="868680"/>
          </a:xfrm>
          <a:prstGeom prst="rect">
            <a:avLst/>
          </a:prstGeom>
          <a:solidFill>
            <a:srgbClr val="FFFFFF"/>
          </a:solidFill>
          <a:ln/>
        </p:spPr>
      </p:sp>
      <p:sp>
        <p:nvSpPr>
          <p:cNvPr id="19" name="Shape 16"/>
          <p:cNvSpPr/>
          <p:nvPr/>
        </p:nvSpPr>
        <p:spPr>
          <a:xfrm>
            <a:off x="457200" y="5715000"/>
            <a:ext cx="73152" cy="868680"/>
          </a:xfrm>
          <a:prstGeom prst="rect">
            <a:avLst/>
          </a:prstGeom>
          <a:solidFill>
            <a:srgbClr val="B8934A"/>
          </a:solidFill>
          <a:ln/>
        </p:spPr>
      </p:sp>
      <p:sp>
        <p:nvSpPr>
          <p:cNvPr id="20" name="Text 17"/>
          <p:cNvSpPr txBox="1"/>
          <p:nvPr/>
        </p:nvSpPr>
        <p:spPr>
          <a:xfrm>
            <a:off x="685800" y="5779008"/>
            <a:ext cx="10789920" cy="777240"/>
          </a:xfrm>
          <a:prstGeom prst="rect">
            <a:avLst/>
          </a:prstGeom>
          <a:noFill/>
          <a:ln/>
        </p:spPr>
        <p:txBody>
          <a:bodyPr wrap="square" lIns="0" tIns="0" rIns="0" bIns="0" rtlCol="0" anchor="ctr"/>
          <a:lstStyle/>
          <a:p>
            <a:pPr marL="0" indent="0">
              <a:lnSpc>
                <a:spcPct val="115000"/>
              </a:lnSpc>
              <a:buNone/>
            </a:pPr>
            <a:r>
              <a:rPr lang="en-US" sz="1080" b="1" dirty="0">
                <a:solidFill>
                  <a:srgbClr val="B8934A"/>
                </a:solidFill>
                <a:latin typeface="Calibri" pitchFamily="34" charset="0"/>
                <a:ea typeface="Calibri" pitchFamily="34" charset="-122"/>
                <a:cs typeface="Calibri" pitchFamily="34" charset="-120"/>
              </a:rPr>
              <a:t>CONCLUSION:  </a:t>
            </a:r>
            <a:r>
              <a:rPr lang="en-US" sz="1080" dirty="0">
                <a:solidFill>
                  <a:srgbClr val="1B2A57"/>
                </a:solidFill>
                <a:latin typeface="Calibri" pitchFamily="34" charset="0"/>
                <a:ea typeface="Calibri" pitchFamily="34" charset="-122"/>
                <a:cs typeface="Calibri" pitchFamily="34" charset="-120"/>
              </a:rPr>
              <a:t>The optimal portfolio concentrates capital in ICICI Bank and Bharti Airtel, the strongest risk-adjusted performers, while retaining small diversifying stakes in Adani Power and Viaz Tyres. The combined portfolio variance is lower than that of the individual stocks, confirming that diversification successfully reduced risk while preserving return potential relative to the NIFTY 50 benchmark.</a:t>
            </a:r>
            <a:endParaRPr lang="en-US" sz="1080" dirty="0"/>
          </a:p>
        </p:txBody>
      </p:sp>
      <p:sp>
        <p:nvSpPr>
          <p:cNvPr id="21" name="Text 18"/>
          <p:cNvSpPr txBox="1"/>
          <p:nvPr/>
        </p:nvSpPr>
        <p:spPr>
          <a:xfrm>
            <a:off x="457200" y="6547104"/>
            <a:ext cx="96012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B: PORTFOLIO RISK &amp; INVESTMENT SELECTION</a:t>
            </a:r>
            <a:endParaRPr lang="en-US" sz="800" dirty="0"/>
          </a:p>
        </p:txBody>
      </p:sp>
      <p:sp>
        <p:nvSpPr>
          <p:cNvPr id="22" name="Text 19"/>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1314</Words>
  <Application>Microsoft Office PowerPoint</Application>
  <PresentationFormat>Widescreen</PresentationFormat>
  <Paragraphs>304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1</cp:revision>
  <dcterms:created xsi:type="dcterms:W3CDTF">2026-09-07T06:19:16Z</dcterms:created>
  <dcterms:modified xsi:type="dcterms:W3CDTF">2026-09-07T06:31:23Z</dcterms:modified>
</cp:coreProperties>
</file>