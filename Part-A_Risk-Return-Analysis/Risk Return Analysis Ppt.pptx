
<file path=[Content_Types].xml><?xml version="1.0" encoding="utf-8"?>
<Types xmlns="http://schemas.openxmlformats.org/package/2006/content-types">
  <Default Extension="rels" ContentType="application/vnd.openxmlformats-package.relationships+xml"/>
  <Default Extension="xml" ContentType="application/xml"/>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rts/chart1.xml" ContentType="application/vnd.openxmlformats-officedocument.drawingml.chart+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charts/chart3.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7" d="100"/>
          <a:sy n="87" d="100"/>
        </p:scale>
        <p:origin x="499"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Mean Return (%)</c:v>
                </c:pt>
              </c:strCache>
            </c:strRef>
          </c:tx>
          <c:spPr>
            <a:solidFill>
              <a:srgbClr val="1B2A57"/>
            </a:solidFill>
            <a:effectLst/>
          </c:spPr>
          <c:invertIfNegative val="0"/>
          <c:dPt>
            <c:idx val="0"/>
            <c:invertIfNegative val="0"/>
            <c:bubble3D val="0"/>
            <c:extLst>
              <c:ext xmlns:c16="http://schemas.microsoft.com/office/drawing/2014/chart" uri="{C3380CC4-5D6E-409C-BE32-E72D297353CC}">
                <c16:uniqueId val="{00000001-8F58-48ED-BD71-73857AB60AED}"/>
              </c:ext>
            </c:extLst>
          </c:dPt>
          <c:dPt>
            <c:idx val="1"/>
            <c:invertIfNegative val="0"/>
            <c:bubble3D val="0"/>
            <c:extLst>
              <c:ext xmlns:c16="http://schemas.microsoft.com/office/drawing/2014/chart" uri="{C3380CC4-5D6E-409C-BE32-E72D297353CC}">
                <c16:uniqueId val="{00000003-8F58-48ED-BD71-73857AB60AED}"/>
              </c:ext>
            </c:extLst>
          </c:dPt>
          <c:dPt>
            <c:idx val="2"/>
            <c:invertIfNegative val="0"/>
            <c:bubble3D val="0"/>
            <c:spPr>
              <a:solidFill>
                <a:srgbClr val="9B2C2C"/>
              </a:solidFill>
              <a:effectLst/>
            </c:spPr>
            <c:extLst>
              <c:ext xmlns:c16="http://schemas.microsoft.com/office/drawing/2014/chart" uri="{C3380CC4-5D6E-409C-BE32-E72D297353CC}">
                <c16:uniqueId val="{00000005-8F58-48ED-BD71-73857AB60AED}"/>
              </c:ext>
            </c:extLst>
          </c:dPt>
          <c:dPt>
            <c:idx val="3"/>
            <c:invertIfNegative val="0"/>
            <c:bubble3D val="0"/>
            <c:extLst>
              <c:ext xmlns:c16="http://schemas.microsoft.com/office/drawing/2014/chart" uri="{C3380CC4-5D6E-409C-BE32-E72D297353CC}">
                <c16:uniqueId val="{00000007-8F58-48ED-BD71-73857AB60AED}"/>
              </c:ext>
            </c:extLst>
          </c:dPt>
          <c:dPt>
            <c:idx val="4"/>
            <c:invertIfNegative val="0"/>
            <c:bubble3D val="0"/>
            <c:extLst>
              <c:ext xmlns:c16="http://schemas.microsoft.com/office/drawing/2014/chart" uri="{C3380CC4-5D6E-409C-BE32-E72D297353CC}">
                <c16:uniqueId val="{00000009-8F58-48ED-BD71-73857AB60AED}"/>
              </c:ext>
            </c:extLst>
          </c:dPt>
          <c:dPt>
            <c:idx val="5"/>
            <c:invertIfNegative val="0"/>
            <c:bubble3D val="0"/>
            <c:spPr>
              <a:solidFill>
                <a:srgbClr val="B8934A"/>
              </a:solidFill>
              <a:effectLst/>
            </c:spPr>
            <c:extLst>
              <c:ext xmlns:c16="http://schemas.microsoft.com/office/drawing/2014/chart" uri="{C3380CC4-5D6E-409C-BE32-E72D297353CC}">
                <c16:uniqueId val="{0000000B-8F58-48ED-BD71-73857AB60AED}"/>
              </c:ext>
            </c:extLst>
          </c:dPt>
          <c:dLbls>
            <c:numFmt formatCode="0.00&quot;%&quot;" sourceLinked="0"/>
            <c:spPr>
              <a:noFill/>
              <a:ln>
                <a:noFill/>
              </a:ln>
              <a:effectLst/>
            </c:spPr>
            <c:txPr>
              <a:bodyPr/>
              <a:lstStyle/>
              <a:p>
                <a:pPr>
                  <a:defRPr sz="105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CEAT</c:v>
                </c:pt>
                <c:pt idx="1">
                  <c:v>BLKI</c:v>
                </c:pt>
                <c:pt idx="2">
                  <c:v>MRF</c:v>
                </c:pt>
                <c:pt idx="3">
                  <c:v>Apollo</c:v>
                </c:pt>
                <c:pt idx="4">
                  <c:v>VIAZ</c:v>
                </c:pt>
                <c:pt idx="5">
                  <c:v>NIFTY 50</c:v>
                </c:pt>
              </c:strCache>
            </c:strRef>
          </c:cat>
          <c:val>
            <c:numRef>
              <c:f>Sheet1!$B$2:$B$7</c:f>
              <c:numCache>
                <c:formatCode>General</c:formatCode>
                <c:ptCount val="6"/>
                <c:pt idx="0">
                  <c:v>1.72</c:v>
                </c:pt>
                <c:pt idx="1">
                  <c:v>1.01</c:v>
                </c:pt>
                <c:pt idx="2">
                  <c:v>-0.74</c:v>
                </c:pt>
                <c:pt idx="3">
                  <c:v>0.31</c:v>
                </c:pt>
                <c:pt idx="4">
                  <c:v>0.13</c:v>
                </c:pt>
                <c:pt idx="5">
                  <c:v>0.65</c:v>
                </c:pt>
              </c:numCache>
            </c:numRef>
          </c:val>
          <c:extLst>
            <c:ext xmlns:c16="http://schemas.microsoft.com/office/drawing/2014/chart" uri="{C3380CC4-5D6E-409C-BE32-E72D297353CC}">
              <c16:uniqueId val="{0000000C-8F58-48ED-BD71-73857AB60AE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9DFEC"/>
              </a:solidFill>
              <a:prstDash val="solid"/>
              <a:round/>
            </a:ln>
          </c:spPr>
        </c:majorGridlines>
        <c:title>
          <c:tx>
            <c:rich>
              <a:bodyPr/>
              <a:lstStyle/>
              <a:p>
                <a:pPr>
                  <a:defRPr b="0" i="0" u="none" strike="noStrike">
                    <a:solidFill>
                      <a:srgbClr val="000000"/>
                    </a:solidFill>
                    <a:latin typeface="Arial"/>
                  </a:defRPr>
                </a:pPr>
                <a:r>
                  <a:rPr b="0" i="0" u="none" strike="noStrike">
                    <a:solidFill>
                      <a:srgbClr val="000000"/>
                    </a:solidFill>
                    <a:latin typeface="Arial"/>
                  </a:rPr>
                  <a:t>Mean Monthly Return (%)</a:t>
                </a:r>
              </a:p>
            </c:rich>
          </c:tx>
          <c:overlay val="0"/>
        </c:title>
        <c:numFmt formatCode="0.0&quot;%&quot;"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bar"/>
        <c:grouping val="clustered"/>
        <c:varyColors val="0"/>
        <c:ser>
          <c:idx val="0"/>
          <c:order val="0"/>
          <c:tx>
            <c:strRef>
              <c:f>Sheet1!$B$1</c:f>
              <c:strCache>
                <c:ptCount val="1"/>
                <c:pt idx="0">
                  <c:v>Covariance</c:v>
                </c:pt>
              </c:strCache>
            </c:strRef>
          </c:tx>
          <c:spPr>
            <a:solidFill>
              <a:srgbClr val="1B2A57"/>
            </a:solidFill>
            <a:effectLst/>
          </c:spPr>
          <c:invertIfNegative val="0"/>
          <c:dPt>
            <c:idx val="0"/>
            <c:invertIfNegative val="0"/>
            <c:bubble3D val="0"/>
            <c:extLst>
              <c:ext xmlns:c16="http://schemas.microsoft.com/office/drawing/2014/chart" uri="{C3380CC4-5D6E-409C-BE32-E72D297353CC}">
                <c16:uniqueId val="{00000001-52CA-4017-B939-FDF9ED352DE8}"/>
              </c:ext>
            </c:extLst>
          </c:dPt>
          <c:dPt>
            <c:idx val="1"/>
            <c:invertIfNegative val="0"/>
            <c:bubble3D val="0"/>
            <c:spPr>
              <a:solidFill>
                <a:srgbClr val="3E5590"/>
              </a:solidFill>
              <a:effectLst/>
            </c:spPr>
            <c:extLst>
              <c:ext xmlns:c16="http://schemas.microsoft.com/office/drawing/2014/chart" uri="{C3380CC4-5D6E-409C-BE32-E72D297353CC}">
                <c16:uniqueId val="{00000003-52CA-4017-B939-FDF9ED352DE8}"/>
              </c:ext>
            </c:extLst>
          </c:dPt>
          <c:dPt>
            <c:idx val="2"/>
            <c:invertIfNegative val="0"/>
            <c:bubble3D val="0"/>
            <c:spPr>
              <a:solidFill>
                <a:srgbClr val="6D82B8"/>
              </a:solidFill>
              <a:effectLst/>
            </c:spPr>
            <c:extLst>
              <c:ext xmlns:c16="http://schemas.microsoft.com/office/drawing/2014/chart" uri="{C3380CC4-5D6E-409C-BE32-E72D297353CC}">
                <c16:uniqueId val="{00000005-52CA-4017-B939-FDF9ED352DE8}"/>
              </c:ext>
            </c:extLst>
          </c:dPt>
          <c:dPt>
            <c:idx val="3"/>
            <c:invertIfNegative val="0"/>
            <c:bubble3D val="0"/>
            <c:spPr>
              <a:solidFill>
                <a:srgbClr val="27407A"/>
              </a:solidFill>
              <a:effectLst/>
            </c:spPr>
            <c:extLst>
              <c:ext xmlns:c16="http://schemas.microsoft.com/office/drawing/2014/chart" uri="{C3380CC4-5D6E-409C-BE32-E72D297353CC}">
                <c16:uniqueId val="{00000007-52CA-4017-B939-FDF9ED352DE8}"/>
              </c:ext>
            </c:extLst>
          </c:dPt>
          <c:dPt>
            <c:idx val="4"/>
            <c:invertIfNegative val="0"/>
            <c:bubble3D val="0"/>
            <c:spPr>
              <a:solidFill>
                <a:srgbClr val="9AACD6"/>
              </a:solidFill>
              <a:effectLst/>
            </c:spPr>
            <c:extLst>
              <c:ext xmlns:c16="http://schemas.microsoft.com/office/drawing/2014/chart" uri="{C3380CC4-5D6E-409C-BE32-E72D297353CC}">
                <c16:uniqueId val="{00000009-52CA-4017-B939-FDF9ED352DE8}"/>
              </c:ext>
            </c:extLst>
          </c:dPt>
          <c:dLbls>
            <c:numFmt formatCode="0.000000" sourceLinked="0"/>
            <c:spPr>
              <a:noFill/>
              <a:ln>
                <a:noFill/>
              </a:ln>
              <a:effectLst/>
            </c:spPr>
            <c:txPr>
              <a:bodyPr/>
              <a:lstStyle/>
              <a:p>
                <a:pPr>
                  <a:defRPr sz="90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CEAT</c:v>
                </c:pt>
                <c:pt idx="1">
                  <c:v>BLKI</c:v>
                </c:pt>
                <c:pt idx="2">
                  <c:v>MRF</c:v>
                </c:pt>
                <c:pt idx="3">
                  <c:v>Apollo</c:v>
                </c:pt>
                <c:pt idx="4">
                  <c:v>VIAZ</c:v>
                </c:pt>
              </c:strCache>
            </c:strRef>
          </c:cat>
          <c:val>
            <c:numRef>
              <c:f>Sheet1!$B$2:$B$6</c:f>
              <c:numCache>
                <c:formatCode>General</c:formatCode>
                <c:ptCount val="5"/>
                <c:pt idx="0">
                  <c:v>1.471148E-3</c:v>
                </c:pt>
                <c:pt idx="1">
                  <c:v>6.1200000000000002E-4</c:v>
                </c:pt>
                <c:pt idx="2">
                  <c:v>9.7371100000000004E-4</c:v>
                </c:pt>
                <c:pt idx="3">
                  <c:v>1.3475060000000001E-3</c:v>
                </c:pt>
                <c:pt idx="4">
                  <c:v>7.2590100000000004E-4</c:v>
                </c:pt>
              </c:numCache>
            </c:numRef>
          </c:val>
          <c:extLst>
            <c:ext xmlns:c16="http://schemas.microsoft.com/office/drawing/2014/chart" uri="{C3380CC4-5D6E-409C-BE32-E72D297353CC}">
              <c16:uniqueId val="{0000000A-52CA-4017-B939-FDF9ED352DE8}"/>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10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9525" cap="flat">
              <a:solidFill>
                <a:srgbClr val="D9DFEC"/>
              </a:solidFill>
              <a:prstDash val="solid"/>
              <a:round/>
            </a:ln>
          </c:spPr>
        </c:majorGridlines>
        <c:numFmt formatCode="0.000" sourceLinked="0"/>
        <c:majorTickMark val="out"/>
        <c:minorTickMark val="none"/>
        <c:tickLblPos val="low"/>
        <c:spPr>
          <a:ln w="12700" cap="flat">
            <a:solidFill>
              <a:srgbClr val="888888"/>
            </a:solidFill>
            <a:prstDash val="solid"/>
            <a:round/>
          </a:ln>
        </c:spPr>
        <c:txPr>
          <a:bodyPr/>
          <a:lstStyle/>
          <a:p>
            <a:pPr>
              <a:defRPr sz="85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Beta</c:v>
                </c:pt>
              </c:strCache>
            </c:strRef>
          </c:tx>
          <c:spPr>
            <a:solidFill>
              <a:srgbClr val="1B2A57"/>
            </a:solidFill>
            <a:effectLst/>
          </c:spPr>
          <c:invertIfNegative val="0"/>
          <c:dPt>
            <c:idx val="0"/>
            <c:invertIfNegative val="0"/>
            <c:bubble3D val="0"/>
            <c:extLst>
              <c:ext xmlns:c16="http://schemas.microsoft.com/office/drawing/2014/chart" uri="{C3380CC4-5D6E-409C-BE32-E72D297353CC}">
                <c16:uniqueId val="{00000001-928D-45D5-84AD-57C9E77B9132}"/>
              </c:ext>
            </c:extLst>
          </c:dPt>
          <c:dPt>
            <c:idx val="1"/>
            <c:invertIfNegative val="0"/>
            <c:bubble3D val="0"/>
            <c:spPr>
              <a:solidFill>
                <a:srgbClr val="3E5590"/>
              </a:solidFill>
              <a:effectLst/>
            </c:spPr>
            <c:extLst>
              <c:ext xmlns:c16="http://schemas.microsoft.com/office/drawing/2014/chart" uri="{C3380CC4-5D6E-409C-BE32-E72D297353CC}">
                <c16:uniqueId val="{00000003-928D-45D5-84AD-57C9E77B9132}"/>
              </c:ext>
            </c:extLst>
          </c:dPt>
          <c:dPt>
            <c:idx val="2"/>
            <c:invertIfNegative val="0"/>
            <c:bubble3D val="0"/>
            <c:spPr>
              <a:solidFill>
                <a:srgbClr val="6D82B8"/>
              </a:solidFill>
              <a:effectLst/>
            </c:spPr>
            <c:extLst>
              <c:ext xmlns:c16="http://schemas.microsoft.com/office/drawing/2014/chart" uri="{C3380CC4-5D6E-409C-BE32-E72D297353CC}">
                <c16:uniqueId val="{00000005-928D-45D5-84AD-57C9E77B9132}"/>
              </c:ext>
            </c:extLst>
          </c:dPt>
          <c:dPt>
            <c:idx val="3"/>
            <c:invertIfNegative val="0"/>
            <c:bubble3D val="0"/>
            <c:spPr>
              <a:solidFill>
                <a:srgbClr val="27407A"/>
              </a:solidFill>
              <a:effectLst/>
            </c:spPr>
            <c:extLst>
              <c:ext xmlns:c16="http://schemas.microsoft.com/office/drawing/2014/chart" uri="{C3380CC4-5D6E-409C-BE32-E72D297353CC}">
                <c16:uniqueId val="{00000007-928D-45D5-84AD-57C9E77B9132}"/>
              </c:ext>
            </c:extLst>
          </c:dPt>
          <c:dPt>
            <c:idx val="4"/>
            <c:invertIfNegative val="0"/>
            <c:bubble3D val="0"/>
            <c:spPr>
              <a:solidFill>
                <a:srgbClr val="9AACD6"/>
              </a:solidFill>
              <a:effectLst/>
            </c:spPr>
            <c:extLst>
              <c:ext xmlns:c16="http://schemas.microsoft.com/office/drawing/2014/chart" uri="{C3380CC4-5D6E-409C-BE32-E72D297353CC}">
                <c16:uniqueId val="{00000009-928D-45D5-84AD-57C9E77B9132}"/>
              </c:ext>
            </c:extLst>
          </c:dPt>
          <c:dLbls>
            <c:numFmt formatCode="0.0000" sourceLinked="0"/>
            <c:spPr>
              <a:noFill/>
              <a:ln>
                <a:noFill/>
              </a:ln>
              <a:effectLst/>
            </c:spPr>
            <c:txPr>
              <a:bodyPr/>
              <a:lstStyle/>
              <a:p>
                <a:pPr>
                  <a:defRPr sz="1100" b="0" i="0" u="none" strike="noStrike">
                    <a:solidFill>
                      <a:srgbClr val="1B2A57"/>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0"/>
              </c:ext>
            </c:extLst>
          </c:dLbls>
          <c:cat>
            <c:strRef>
              <c:f>Sheet1!$A$2:$A$6</c:f>
              <c:strCache>
                <c:ptCount val="5"/>
                <c:pt idx="0">
                  <c:v>CEAT</c:v>
                </c:pt>
                <c:pt idx="1">
                  <c:v>BLKI</c:v>
                </c:pt>
                <c:pt idx="2">
                  <c:v>MRF</c:v>
                </c:pt>
                <c:pt idx="3">
                  <c:v>Apollo</c:v>
                </c:pt>
                <c:pt idx="4">
                  <c:v>VIAZ</c:v>
                </c:pt>
              </c:strCache>
            </c:strRef>
          </c:cat>
          <c:val>
            <c:numRef>
              <c:f>Sheet1!$B$2:$B$6</c:f>
              <c:numCache>
                <c:formatCode>General</c:formatCode>
                <c:ptCount val="5"/>
                <c:pt idx="0">
                  <c:v>1.766</c:v>
                </c:pt>
                <c:pt idx="1">
                  <c:v>0.7349</c:v>
                </c:pt>
                <c:pt idx="2">
                  <c:v>1.1689000000000001</c:v>
                </c:pt>
                <c:pt idx="3">
                  <c:v>1.6175999999999999</c:v>
                </c:pt>
                <c:pt idx="4">
                  <c:v>0.87139999999999995</c:v>
                </c:pt>
              </c:numCache>
            </c:numRef>
          </c:val>
          <c:extLst>
            <c:ext xmlns:c16="http://schemas.microsoft.com/office/drawing/2014/chart" uri="{C3380CC4-5D6E-409C-BE32-E72D297353CC}">
              <c16:uniqueId val="{0000000A-928D-45D5-84AD-57C9E77B9132}"/>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50" b="0" i="0" u="none" strike="noStrike">
                <a:solidFill>
                  <a:srgbClr val="1B2A57"/>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9525" cap="flat">
              <a:solidFill>
                <a:srgbClr val="D9DFEC"/>
              </a:solidFill>
              <a:prstDash val="solid"/>
              <a:round/>
            </a:ln>
          </c:spPr>
        </c:majorGridlines>
        <c:title>
          <c:tx>
            <c:rich>
              <a:bodyPr/>
              <a:lstStyle/>
              <a:p>
                <a:pPr>
                  <a:defRPr b="0" i="0" u="none" strike="noStrike">
                    <a:solidFill>
                      <a:srgbClr val="000000"/>
                    </a:solidFill>
                    <a:latin typeface="Arial"/>
                  </a:defRPr>
                </a:pPr>
                <a:r>
                  <a:rPr lang="en-IN" b="0" i="0" u="none" strike="noStrike">
                    <a:solidFill>
                      <a:srgbClr val="000000"/>
                    </a:solidFill>
                    <a:latin typeface="Arial"/>
                  </a:rPr>
                  <a:t>Beta (</a:t>
                </a:r>
                <a:r>
                  <a:rPr lang="el-GR" b="0" i="0" u="none" strike="noStrike">
                    <a:solidFill>
                      <a:srgbClr val="000000"/>
                    </a:solidFill>
                    <a:latin typeface="Arial"/>
                  </a:rPr>
                  <a:t>β)</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788"/>
                </a:solidFill>
                <a:latin typeface="Arial"/>
              </a:defRPr>
            </a:pPr>
            <a:endParaRPr lang="en-US"/>
          </a:p>
        </c:txPr>
        <c:crossAx val="2094734554"/>
        <c:crosses val="autoZero"/>
        <c:crossBetween val="between"/>
      </c:valAx>
      <c:spPr>
        <a:noFill/>
        <a:ln w="12700" cap="flat">
          <a:solidFill>
            <a:srgbClr val="FFFFFF"/>
          </a:solid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0090129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21D3E"/>
        </a:solidFill>
        <a:effectLst/>
      </p:bgPr>
    </p:bg>
    <p:spTree>
      <p:nvGrpSpPr>
        <p:cNvPr id="1" name=""/>
        <p:cNvGrpSpPr/>
        <p:nvPr/>
      </p:nvGrpSpPr>
      <p:grpSpPr>
        <a:xfrm>
          <a:off x="0" y="0"/>
          <a:ext cx="0" cy="0"/>
          <a:chOff x="0" y="0"/>
          <a:chExt cx="0" cy="0"/>
        </a:xfrm>
      </p:grpSpPr>
      <p:sp>
        <p:nvSpPr>
          <p:cNvPr id="2" name="Shape 0"/>
          <p:cNvSpPr/>
          <p:nvPr/>
        </p:nvSpPr>
        <p:spPr>
          <a:xfrm>
            <a:off x="7863840" y="548640"/>
            <a:ext cx="3840480" cy="0"/>
          </a:xfrm>
          <a:prstGeom prst="line">
            <a:avLst/>
          </a:prstGeom>
          <a:noFill/>
          <a:ln w="9525">
            <a:solidFill>
              <a:srgbClr val="2E3F73"/>
            </a:solidFill>
            <a:prstDash val="solid"/>
          </a:ln>
        </p:spPr>
      </p:sp>
      <p:sp>
        <p:nvSpPr>
          <p:cNvPr id="3" name="Shape 1"/>
          <p:cNvSpPr/>
          <p:nvPr/>
        </p:nvSpPr>
        <p:spPr>
          <a:xfrm>
            <a:off x="7863840" y="1508760"/>
            <a:ext cx="3840480" cy="0"/>
          </a:xfrm>
          <a:prstGeom prst="line">
            <a:avLst/>
          </a:prstGeom>
          <a:noFill/>
          <a:ln w="9525">
            <a:solidFill>
              <a:srgbClr val="2E3F73"/>
            </a:solidFill>
            <a:prstDash val="solid"/>
          </a:ln>
        </p:spPr>
      </p:sp>
      <p:sp>
        <p:nvSpPr>
          <p:cNvPr id="4" name="Shape 2"/>
          <p:cNvSpPr/>
          <p:nvPr/>
        </p:nvSpPr>
        <p:spPr>
          <a:xfrm>
            <a:off x="7863840" y="2468880"/>
            <a:ext cx="3840480" cy="0"/>
          </a:xfrm>
          <a:prstGeom prst="line">
            <a:avLst/>
          </a:prstGeom>
          <a:noFill/>
          <a:ln w="9525">
            <a:solidFill>
              <a:srgbClr val="2E3F73"/>
            </a:solidFill>
            <a:prstDash val="solid"/>
          </a:ln>
        </p:spPr>
      </p:sp>
      <p:sp>
        <p:nvSpPr>
          <p:cNvPr id="5" name="Shape 3"/>
          <p:cNvSpPr/>
          <p:nvPr/>
        </p:nvSpPr>
        <p:spPr>
          <a:xfrm>
            <a:off x="7863840" y="3429000"/>
            <a:ext cx="3840480" cy="0"/>
          </a:xfrm>
          <a:prstGeom prst="line">
            <a:avLst/>
          </a:prstGeom>
          <a:noFill/>
          <a:ln w="9525">
            <a:solidFill>
              <a:srgbClr val="2E3F73"/>
            </a:solidFill>
            <a:prstDash val="solid"/>
          </a:ln>
        </p:spPr>
      </p:sp>
      <p:sp>
        <p:nvSpPr>
          <p:cNvPr id="6" name="Shape 4"/>
          <p:cNvSpPr/>
          <p:nvPr/>
        </p:nvSpPr>
        <p:spPr>
          <a:xfrm>
            <a:off x="7863840" y="4389120"/>
            <a:ext cx="3840480" cy="0"/>
          </a:xfrm>
          <a:prstGeom prst="line">
            <a:avLst/>
          </a:prstGeom>
          <a:noFill/>
          <a:ln w="9525">
            <a:solidFill>
              <a:srgbClr val="2E3F73"/>
            </a:solidFill>
            <a:prstDash val="solid"/>
          </a:ln>
        </p:spPr>
      </p:sp>
      <p:sp>
        <p:nvSpPr>
          <p:cNvPr id="7" name="Shape 5"/>
          <p:cNvSpPr/>
          <p:nvPr/>
        </p:nvSpPr>
        <p:spPr>
          <a:xfrm>
            <a:off x="7863840" y="5349240"/>
            <a:ext cx="3840480" cy="0"/>
          </a:xfrm>
          <a:prstGeom prst="line">
            <a:avLst/>
          </a:prstGeom>
          <a:noFill/>
          <a:ln w="9525">
            <a:solidFill>
              <a:srgbClr val="2E3F73"/>
            </a:solidFill>
            <a:prstDash val="solid"/>
          </a:ln>
        </p:spPr>
      </p:sp>
      <p:sp>
        <p:nvSpPr>
          <p:cNvPr id="8" name="Shape 6"/>
          <p:cNvSpPr/>
          <p:nvPr/>
        </p:nvSpPr>
        <p:spPr>
          <a:xfrm>
            <a:off x="8138160" y="4297680"/>
            <a:ext cx="201168" cy="1097280"/>
          </a:xfrm>
          <a:prstGeom prst="rect">
            <a:avLst/>
          </a:prstGeom>
          <a:solidFill>
            <a:srgbClr val="B8934A"/>
          </a:solidFill>
          <a:ln/>
        </p:spPr>
      </p:sp>
      <p:sp>
        <p:nvSpPr>
          <p:cNvPr id="9" name="Shape 7"/>
          <p:cNvSpPr/>
          <p:nvPr/>
        </p:nvSpPr>
        <p:spPr>
          <a:xfrm>
            <a:off x="8686800" y="3566160"/>
            <a:ext cx="201168" cy="1828800"/>
          </a:xfrm>
          <a:prstGeom prst="rect">
            <a:avLst/>
          </a:prstGeom>
          <a:solidFill>
            <a:srgbClr val="B8934A"/>
          </a:solidFill>
          <a:ln/>
        </p:spPr>
      </p:sp>
      <p:sp>
        <p:nvSpPr>
          <p:cNvPr id="10" name="Shape 8"/>
          <p:cNvSpPr/>
          <p:nvPr/>
        </p:nvSpPr>
        <p:spPr>
          <a:xfrm>
            <a:off x="9235440" y="4023360"/>
            <a:ext cx="201168" cy="1371600"/>
          </a:xfrm>
          <a:prstGeom prst="rect">
            <a:avLst/>
          </a:prstGeom>
          <a:solidFill>
            <a:srgbClr val="2E3F73"/>
          </a:solidFill>
          <a:ln/>
        </p:spPr>
      </p:sp>
      <p:sp>
        <p:nvSpPr>
          <p:cNvPr id="11" name="Shape 9"/>
          <p:cNvSpPr/>
          <p:nvPr/>
        </p:nvSpPr>
        <p:spPr>
          <a:xfrm>
            <a:off x="9784080" y="3017520"/>
            <a:ext cx="201168" cy="2377440"/>
          </a:xfrm>
          <a:prstGeom prst="rect">
            <a:avLst/>
          </a:prstGeom>
          <a:solidFill>
            <a:srgbClr val="B8934A"/>
          </a:solidFill>
          <a:ln/>
        </p:spPr>
      </p:sp>
      <p:sp>
        <p:nvSpPr>
          <p:cNvPr id="12" name="Shape 10"/>
          <p:cNvSpPr/>
          <p:nvPr/>
        </p:nvSpPr>
        <p:spPr>
          <a:xfrm>
            <a:off x="10332720" y="3657600"/>
            <a:ext cx="201168" cy="1737360"/>
          </a:xfrm>
          <a:prstGeom prst="rect">
            <a:avLst/>
          </a:prstGeom>
          <a:solidFill>
            <a:srgbClr val="2E3F73"/>
          </a:solidFill>
          <a:ln/>
        </p:spPr>
      </p:sp>
      <p:sp>
        <p:nvSpPr>
          <p:cNvPr id="13" name="Shape 11"/>
          <p:cNvSpPr/>
          <p:nvPr/>
        </p:nvSpPr>
        <p:spPr>
          <a:xfrm>
            <a:off x="10881360" y="3291840"/>
            <a:ext cx="201168" cy="2103120"/>
          </a:xfrm>
          <a:prstGeom prst="rect">
            <a:avLst/>
          </a:prstGeom>
          <a:solidFill>
            <a:srgbClr val="B8934A"/>
          </a:solidFill>
          <a:ln/>
        </p:spPr>
      </p:sp>
      <p:sp>
        <p:nvSpPr>
          <p:cNvPr id="14" name="Shape 12"/>
          <p:cNvSpPr/>
          <p:nvPr/>
        </p:nvSpPr>
        <p:spPr>
          <a:xfrm>
            <a:off x="11430000" y="4114800"/>
            <a:ext cx="201168" cy="1280160"/>
          </a:xfrm>
          <a:prstGeom prst="rect">
            <a:avLst/>
          </a:prstGeom>
          <a:solidFill>
            <a:srgbClr val="B8934A"/>
          </a:solidFill>
          <a:ln/>
        </p:spPr>
      </p:sp>
      <p:sp>
        <p:nvSpPr>
          <p:cNvPr id="15" name="Shape 13"/>
          <p:cNvSpPr/>
          <p:nvPr/>
        </p:nvSpPr>
        <p:spPr>
          <a:xfrm>
            <a:off x="7863840" y="5394960"/>
            <a:ext cx="3840480" cy="0"/>
          </a:xfrm>
          <a:prstGeom prst="line">
            <a:avLst/>
          </a:prstGeom>
          <a:noFill/>
          <a:ln w="12700">
            <a:solidFill>
              <a:srgbClr val="CADCFC"/>
            </a:solidFill>
            <a:prstDash val="solid"/>
          </a:ln>
        </p:spPr>
      </p:sp>
      <p:sp>
        <p:nvSpPr>
          <p:cNvPr id="16" name="Text 14"/>
          <p:cNvSpPr txBox="1"/>
          <p:nvPr/>
        </p:nvSpPr>
        <p:spPr>
          <a:xfrm>
            <a:off x="685800" y="2331720"/>
            <a:ext cx="7772400" cy="457200"/>
          </a:xfrm>
          <a:prstGeom prst="rect">
            <a:avLst/>
          </a:prstGeom>
          <a:noFill/>
          <a:ln/>
        </p:spPr>
        <p:txBody>
          <a:bodyPr wrap="square" lIns="0" tIns="0" rIns="0" bIns="0" rtlCol="0" anchor="ctr"/>
          <a:lstStyle/>
          <a:p>
            <a:pPr marL="0" indent="0">
              <a:buNone/>
            </a:pPr>
            <a:r>
              <a:rPr lang="en-US" sz="1400" b="1" kern="0" spc="300" dirty="0">
                <a:solidFill>
                  <a:srgbClr val="B8934A"/>
                </a:solidFill>
                <a:latin typeface="Calibri" pitchFamily="34" charset="0"/>
                <a:ea typeface="Calibri" pitchFamily="34" charset="-122"/>
                <a:cs typeface="Calibri" pitchFamily="34" charset="-120"/>
              </a:rPr>
              <a:t>STRATEGIC INVESTMENT MANAGEMENT</a:t>
            </a:r>
            <a:endParaRPr lang="en-US" sz="1400" dirty="0"/>
          </a:p>
        </p:txBody>
      </p:sp>
      <p:sp>
        <p:nvSpPr>
          <p:cNvPr id="17" name="Text 15"/>
          <p:cNvSpPr txBox="1"/>
          <p:nvPr/>
        </p:nvSpPr>
        <p:spPr>
          <a:xfrm>
            <a:off x="685800" y="2743200"/>
            <a:ext cx="8686800" cy="10515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Part A: Risk &amp; Return Analysis</a:t>
            </a:r>
            <a:endParaRPr lang="en-US" sz="4400" dirty="0"/>
          </a:p>
        </p:txBody>
      </p:sp>
      <p:sp>
        <p:nvSpPr>
          <p:cNvPr id="18" name="Shape 16"/>
          <p:cNvSpPr/>
          <p:nvPr/>
        </p:nvSpPr>
        <p:spPr>
          <a:xfrm>
            <a:off x="713232" y="3794760"/>
            <a:ext cx="2377440" cy="0"/>
          </a:xfrm>
          <a:prstGeom prst="line">
            <a:avLst/>
          </a:prstGeom>
          <a:noFill/>
          <a:ln w="25400">
            <a:solidFill>
              <a:srgbClr val="B8934A"/>
            </a:solidFill>
            <a:prstDash val="solid"/>
          </a:ln>
        </p:spPr>
      </p:sp>
      <p:sp>
        <p:nvSpPr>
          <p:cNvPr id="19" name="Text 17"/>
          <p:cNvSpPr txBox="1"/>
          <p:nvPr/>
        </p:nvSpPr>
        <p:spPr>
          <a:xfrm>
            <a:off x="685800" y="3977640"/>
            <a:ext cx="7498080" cy="457200"/>
          </a:xfrm>
          <a:prstGeom prst="rect">
            <a:avLst/>
          </a:prstGeom>
          <a:noFill/>
          <a:ln/>
        </p:spPr>
        <p:txBody>
          <a:bodyPr wrap="square" lIns="0" tIns="0" rIns="0" bIns="0" rtlCol="0" anchor="ctr"/>
          <a:lstStyle/>
          <a:p>
            <a:pPr marL="0" indent="0">
              <a:buNone/>
            </a:pPr>
            <a:r>
              <a:rPr lang="en-US" sz="1700" i="1" dirty="0">
                <a:solidFill>
                  <a:srgbClr val="CADCFC"/>
                </a:solidFill>
                <a:latin typeface="Calibri" pitchFamily="34" charset="0"/>
                <a:ea typeface="Calibri" pitchFamily="34" charset="-122"/>
                <a:cs typeface="Calibri" pitchFamily="34" charset="-120"/>
              </a:rPr>
              <a:t>Comparative Analysis of Selected Companies vs. NIFTY 50</a:t>
            </a:r>
            <a:endParaRPr lang="en-US" sz="1700" dirty="0"/>
          </a:p>
        </p:txBody>
      </p:sp>
      <p:sp>
        <p:nvSpPr>
          <p:cNvPr id="20" name="Text 18"/>
          <p:cNvSpPr txBox="1"/>
          <p:nvPr/>
        </p:nvSpPr>
        <p:spPr>
          <a:xfrm>
            <a:off x="685800" y="6217919"/>
            <a:ext cx="7772400" cy="274320"/>
          </a:xfrm>
          <a:prstGeom prst="rect">
            <a:avLst/>
          </a:prstGeom>
          <a:noFill/>
          <a:ln/>
        </p:spPr>
        <p:txBody>
          <a:bodyPr wrap="square" lIns="0" tIns="0" rIns="0" bIns="0" rtlCol="0" anchor="ctr"/>
          <a:lstStyle/>
          <a:p>
            <a:pPr marL="0" indent="0">
              <a:buNone/>
            </a:pPr>
            <a:r>
              <a:rPr lang="en-US" sz="1000" b="1" kern="0" spc="200" dirty="0">
                <a:solidFill>
                  <a:srgbClr val="8A94B8"/>
                </a:solidFill>
                <a:latin typeface="Calibri" pitchFamily="34" charset="0"/>
                <a:ea typeface="Calibri" pitchFamily="34" charset="-122"/>
                <a:cs typeface="Calibri" pitchFamily="34" charset="-120"/>
              </a:rPr>
              <a:t>EQUITY RESEARCH  •  RISK–RETURN ANALYTICS </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OVERVIEW</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Investment Analysis Objective</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sp>
        <p:nvSpPr>
          <p:cNvPr id="5" name="Text 3"/>
          <p:cNvSpPr txBox="1"/>
          <p:nvPr/>
        </p:nvSpPr>
        <p:spPr>
          <a:xfrm>
            <a:off x="548640" y="1481328"/>
            <a:ext cx="6400800" cy="320040"/>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Purpose</a:t>
            </a:r>
            <a:endParaRPr lang="en-US" sz="1500" dirty="0"/>
          </a:p>
        </p:txBody>
      </p:sp>
      <p:sp>
        <p:nvSpPr>
          <p:cNvPr id="6" name="Text 4"/>
          <p:cNvSpPr txBox="1"/>
          <p:nvPr/>
        </p:nvSpPr>
        <p:spPr>
          <a:xfrm>
            <a:off x="548640" y="1828800"/>
            <a:ext cx="6400800" cy="1554480"/>
          </a:xfrm>
          <a:prstGeom prst="rect">
            <a:avLst/>
          </a:prstGeom>
          <a:noFill/>
          <a:ln/>
        </p:spPr>
        <p:txBody>
          <a:bodyPr wrap="square" lIns="0" tIns="0" rIns="0" bIns="0" rtlCol="0" anchor="ctr"/>
          <a:lstStyle/>
          <a:p>
            <a:pPr marL="0" indent="0">
              <a:lnSpc>
                <a:spcPct val="125000"/>
              </a:lnSpc>
              <a:buNone/>
            </a:pPr>
            <a:r>
              <a:rPr lang="en-US" sz="1350" dirty="0">
                <a:solidFill>
                  <a:srgbClr val="1B2A57"/>
                </a:solidFill>
                <a:latin typeface="Calibri" pitchFamily="34" charset="0"/>
                <a:ea typeface="Calibri" pitchFamily="34" charset="-122"/>
                <a:cs typeface="Calibri" pitchFamily="34" charset="-120"/>
              </a:rPr>
              <a:t>This study examines the relationship between investment return and risk by evaluating the historical performance of five listed companies against India's benchmark index. Mean return, variance, covariance and beta are used to assess how sensitive each stock is to overall market movement, helping investors distinguish higher-risk from lower-risk holdings.</a:t>
            </a:r>
            <a:endParaRPr lang="en-US" sz="1350" dirty="0"/>
          </a:p>
        </p:txBody>
      </p:sp>
      <p:sp>
        <p:nvSpPr>
          <p:cNvPr id="7" name="Text 5"/>
          <p:cNvSpPr txBox="1"/>
          <p:nvPr/>
        </p:nvSpPr>
        <p:spPr>
          <a:xfrm>
            <a:off x="548640" y="3520440"/>
            <a:ext cx="6400800" cy="320040"/>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Key Objective</a:t>
            </a:r>
            <a:endParaRPr lang="en-US" sz="1500" dirty="0"/>
          </a:p>
        </p:txBody>
      </p:sp>
      <p:sp>
        <p:nvSpPr>
          <p:cNvPr id="8" name="Text 6"/>
          <p:cNvSpPr txBox="1"/>
          <p:nvPr/>
        </p:nvSpPr>
        <p:spPr>
          <a:xfrm>
            <a:off x="548640" y="3858768"/>
            <a:ext cx="6400800" cy="2286000"/>
          </a:xfrm>
          <a:prstGeom prst="rect">
            <a:avLst/>
          </a:prstGeom>
          <a:noFill/>
          <a:ln/>
        </p:spPr>
        <p:txBody>
          <a:bodyPr wrap="square" lIns="0" tIns="0" rIns="0" bIns="0" rtlCol="0" anchor="ctr"/>
          <a:lstStyle/>
          <a:p>
            <a:pPr marL="177800" indent="-177800">
              <a:spcAft>
                <a:spcPts val="800"/>
              </a:spcAft>
              <a:buSzPct val="100000"/>
              <a:buChar char="•"/>
            </a:pPr>
            <a:r>
              <a:rPr lang="en-US" sz="1300" dirty="0">
                <a:solidFill>
                  <a:srgbClr val="1B2A57"/>
                </a:solidFill>
                <a:latin typeface="Calibri" pitchFamily="34" charset="0"/>
                <a:ea typeface="Calibri" pitchFamily="34" charset="-122"/>
                <a:cs typeface="Calibri" pitchFamily="34" charset="-120"/>
              </a:rPr>
              <a:t>Measure average monthly return generated by each company</a:t>
            </a:r>
            <a:endParaRPr lang="en-US" sz="1300" dirty="0"/>
          </a:p>
          <a:p>
            <a:pPr marL="177800" indent="-177800">
              <a:spcAft>
                <a:spcPts val="800"/>
              </a:spcAft>
              <a:buSzPct val="100000"/>
              <a:buChar char="•"/>
            </a:pPr>
            <a:r>
              <a:rPr lang="en-US" sz="1300" dirty="0">
                <a:solidFill>
                  <a:srgbClr val="1B2A57"/>
                </a:solidFill>
                <a:latin typeface="Calibri" pitchFamily="34" charset="0"/>
                <a:ea typeface="Calibri" pitchFamily="34" charset="-122"/>
                <a:cs typeface="Calibri" pitchFamily="34" charset="-120"/>
              </a:rPr>
              <a:t>Quantify volatility of the market benchmark (variance)</a:t>
            </a:r>
            <a:endParaRPr lang="en-US" sz="1300" dirty="0"/>
          </a:p>
          <a:p>
            <a:pPr marL="177800" indent="-177800">
              <a:spcAft>
                <a:spcPts val="800"/>
              </a:spcAft>
              <a:buSzPct val="100000"/>
              <a:buChar char="•"/>
            </a:pPr>
            <a:r>
              <a:rPr lang="en-US" sz="1300" dirty="0">
                <a:solidFill>
                  <a:srgbClr val="1B2A57"/>
                </a:solidFill>
                <a:latin typeface="Calibri" pitchFamily="34" charset="0"/>
                <a:ea typeface="Calibri" pitchFamily="34" charset="-122"/>
                <a:cs typeface="Calibri" pitchFamily="34" charset="-120"/>
              </a:rPr>
              <a:t>Assess co-movement between each stock and NIFTY 50 (covariance)</a:t>
            </a:r>
            <a:endParaRPr lang="en-US" sz="1300" dirty="0"/>
          </a:p>
          <a:p>
            <a:pPr marL="177800" indent="-177800">
              <a:spcAft>
                <a:spcPts val="800"/>
              </a:spcAft>
              <a:buSzPct val="100000"/>
              <a:buChar char="•"/>
            </a:pPr>
            <a:r>
              <a:rPr lang="en-US" sz="1300" dirty="0">
                <a:solidFill>
                  <a:srgbClr val="1B2A57"/>
                </a:solidFill>
                <a:latin typeface="Calibri" pitchFamily="34" charset="0"/>
                <a:ea typeface="Calibri" pitchFamily="34" charset="-122"/>
                <a:cs typeface="Calibri" pitchFamily="34" charset="-120"/>
              </a:rPr>
              <a:t>Determine each stock's market sensitivity (beta)</a:t>
            </a:r>
            <a:endParaRPr lang="en-US" sz="1300" dirty="0"/>
          </a:p>
          <a:p>
            <a:pPr marL="177800" indent="-177800">
              <a:spcAft>
                <a:spcPts val="800"/>
              </a:spcAft>
              <a:buSzPct val="100000"/>
              <a:buChar char="•"/>
            </a:pPr>
            <a:r>
              <a:rPr lang="en-US" sz="1300" dirty="0">
                <a:solidFill>
                  <a:srgbClr val="1B2A57"/>
                </a:solidFill>
                <a:latin typeface="Calibri" pitchFamily="34" charset="0"/>
                <a:ea typeface="Calibri" pitchFamily="34" charset="-122"/>
                <a:cs typeface="Calibri" pitchFamily="34" charset="-120"/>
              </a:rPr>
              <a:t>Compare risk and return profiles to support investment decisions</a:t>
            </a:r>
            <a:endParaRPr lang="en-US" sz="1300" dirty="0"/>
          </a:p>
        </p:txBody>
      </p:sp>
      <p:sp>
        <p:nvSpPr>
          <p:cNvPr id="9" name="Shape 7"/>
          <p:cNvSpPr/>
          <p:nvPr/>
        </p:nvSpPr>
        <p:spPr>
          <a:xfrm>
            <a:off x="7360920" y="1481328"/>
            <a:ext cx="4251960" cy="4709160"/>
          </a:xfrm>
          <a:prstGeom prst="rect">
            <a:avLst/>
          </a:prstGeom>
          <a:solidFill>
            <a:srgbClr val="F5F7FB"/>
          </a:solidFill>
          <a:ln w="12700">
            <a:solidFill>
              <a:srgbClr val="D9DFEC"/>
            </a:solidFill>
            <a:prstDash val="solid"/>
          </a:ln>
        </p:spPr>
      </p:sp>
      <p:sp>
        <p:nvSpPr>
          <p:cNvPr id="10" name="Text 8"/>
          <p:cNvSpPr txBox="1"/>
          <p:nvPr/>
        </p:nvSpPr>
        <p:spPr>
          <a:xfrm>
            <a:off x="7635240" y="1691640"/>
            <a:ext cx="37490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COVERAGE UNIVERSE</a:t>
            </a:r>
            <a:endParaRPr lang="en-US" sz="1050" dirty="0"/>
          </a:p>
        </p:txBody>
      </p:sp>
      <p:sp>
        <p:nvSpPr>
          <p:cNvPr id="11" name="Shape 9"/>
          <p:cNvSpPr/>
          <p:nvPr/>
        </p:nvSpPr>
        <p:spPr>
          <a:xfrm>
            <a:off x="7635240" y="2057400"/>
            <a:ext cx="3703320" cy="457200"/>
          </a:xfrm>
          <a:prstGeom prst="rect">
            <a:avLst/>
          </a:prstGeom>
          <a:solidFill>
            <a:srgbClr val="FFFFFF"/>
          </a:solidFill>
          <a:ln w="9525">
            <a:solidFill>
              <a:srgbClr val="D9DFEC"/>
            </a:solidFill>
            <a:prstDash val="solid"/>
          </a:ln>
        </p:spPr>
      </p:sp>
      <p:sp>
        <p:nvSpPr>
          <p:cNvPr id="12" name="Shape 10"/>
          <p:cNvSpPr/>
          <p:nvPr/>
        </p:nvSpPr>
        <p:spPr>
          <a:xfrm>
            <a:off x="7772400" y="2176272"/>
            <a:ext cx="219456" cy="219456"/>
          </a:xfrm>
          <a:prstGeom prst="ellipse">
            <a:avLst/>
          </a:prstGeom>
          <a:solidFill>
            <a:srgbClr val="1B2A57"/>
          </a:solidFill>
          <a:ln/>
        </p:spPr>
      </p:sp>
      <p:sp>
        <p:nvSpPr>
          <p:cNvPr id="13" name="Text 11"/>
          <p:cNvSpPr txBox="1"/>
          <p:nvPr/>
        </p:nvSpPr>
        <p:spPr>
          <a:xfrm>
            <a:off x="7772400" y="2167128"/>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14" name="Text 12"/>
          <p:cNvSpPr txBox="1"/>
          <p:nvPr/>
        </p:nvSpPr>
        <p:spPr>
          <a:xfrm>
            <a:off x="8138160" y="2112264"/>
            <a:ext cx="3063240" cy="347472"/>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MRF</a:t>
            </a:r>
            <a:endParaRPr lang="en-US" sz="1300" dirty="0"/>
          </a:p>
        </p:txBody>
      </p:sp>
      <p:sp>
        <p:nvSpPr>
          <p:cNvPr id="15" name="Shape 13"/>
          <p:cNvSpPr/>
          <p:nvPr/>
        </p:nvSpPr>
        <p:spPr>
          <a:xfrm>
            <a:off x="7635240" y="2624328"/>
            <a:ext cx="3703320" cy="457200"/>
          </a:xfrm>
          <a:prstGeom prst="rect">
            <a:avLst/>
          </a:prstGeom>
          <a:solidFill>
            <a:srgbClr val="FFFFFF"/>
          </a:solidFill>
          <a:ln w="9525">
            <a:solidFill>
              <a:srgbClr val="D9DFEC"/>
            </a:solidFill>
            <a:prstDash val="solid"/>
          </a:ln>
        </p:spPr>
      </p:sp>
      <p:sp>
        <p:nvSpPr>
          <p:cNvPr id="16" name="Shape 14"/>
          <p:cNvSpPr/>
          <p:nvPr/>
        </p:nvSpPr>
        <p:spPr>
          <a:xfrm>
            <a:off x="7772400" y="2743200"/>
            <a:ext cx="219456" cy="219456"/>
          </a:xfrm>
          <a:prstGeom prst="ellipse">
            <a:avLst/>
          </a:prstGeom>
          <a:solidFill>
            <a:srgbClr val="1B2A57"/>
          </a:solidFill>
          <a:ln/>
        </p:spPr>
      </p:sp>
      <p:sp>
        <p:nvSpPr>
          <p:cNvPr id="17" name="Text 15"/>
          <p:cNvSpPr txBox="1"/>
          <p:nvPr/>
        </p:nvSpPr>
        <p:spPr>
          <a:xfrm>
            <a:off x="7772400" y="2734056"/>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8" name="Text 16"/>
          <p:cNvSpPr txBox="1"/>
          <p:nvPr/>
        </p:nvSpPr>
        <p:spPr>
          <a:xfrm>
            <a:off x="8138160" y="2679192"/>
            <a:ext cx="3063240" cy="347472"/>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CEAT</a:t>
            </a:r>
            <a:endParaRPr lang="en-US" sz="1300" dirty="0"/>
          </a:p>
        </p:txBody>
      </p:sp>
      <p:sp>
        <p:nvSpPr>
          <p:cNvPr id="19" name="Shape 17"/>
          <p:cNvSpPr/>
          <p:nvPr/>
        </p:nvSpPr>
        <p:spPr>
          <a:xfrm>
            <a:off x="7635240" y="3191256"/>
            <a:ext cx="3703320" cy="457200"/>
          </a:xfrm>
          <a:prstGeom prst="rect">
            <a:avLst/>
          </a:prstGeom>
          <a:solidFill>
            <a:srgbClr val="FFFFFF"/>
          </a:solidFill>
          <a:ln w="9525">
            <a:solidFill>
              <a:srgbClr val="D9DFEC"/>
            </a:solidFill>
            <a:prstDash val="solid"/>
          </a:ln>
        </p:spPr>
      </p:sp>
      <p:sp>
        <p:nvSpPr>
          <p:cNvPr id="20" name="Shape 18"/>
          <p:cNvSpPr/>
          <p:nvPr/>
        </p:nvSpPr>
        <p:spPr>
          <a:xfrm>
            <a:off x="7772400" y="3310128"/>
            <a:ext cx="219456" cy="219456"/>
          </a:xfrm>
          <a:prstGeom prst="ellipse">
            <a:avLst/>
          </a:prstGeom>
          <a:solidFill>
            <a:srgbClr val="1B2A57"/>
          </a:solidFill>
          <a:ln/>
        </p:spPr>
      </p:sp>
      <p:sp>
        <p:nvSpPr>
          <p:cNvPr id="21" name="Text 19"/>
          <p:cNvSpPr txBox="1"/>
          <p:nvPr/>
        </p:nvSpPr>
        <p:spPr>
          <a:xfrm>
            <a:off x="7772400" y="3300984"/>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22" name="Text 20"/>
          <p:cNvSpPr txBox="1"/>
          <p:nvPr/>
        </p:nvSpPr>
        <p:spPr>
          <a:xfrm>
            <a:off x="8138160" y="3246120"/>
            <a:ext cx="3063240" cy="347472"/>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Apollo Tyres</a:t>
            </a:r>
            <a:endParaRPr lang="en-US" sz="1300" dirty="0"/>
          </a:p>
        </p:txBody>
      </p:sp>
      <p:sp>
        <p:nvSpPr>
          <p:cNvPr id="23" name="Shape 21"/>
          <p:cNvSpPr/>
          <p:nvPr/>
        </p:nvSpPr>
        <p:spPr>
          <a:xfrm>
            <a:off x="7635240" y="3758184"/>
            <a:ext cx="3703320" cy="457200"/>
          </a:xfrm>
          <a:prstGeom prst="rect">
            <a:avLst/>
          </a:prstGeom>
          <a:solidFill>
            <a:srgbClr val="FFFFFF"/>
          </a:solidFill>
          <a:ln w="9525">
            <a:solidFill>
              <a:srgbClr val="D9DFEC"/>
            </a:solidFill>
            <a:prstDash val="solid"/>
          </a:ln>
        </p:spPr>
      </p:sp>
      <p:sp>
        <p:nvSpPr>
          <p:cNvPr id="24" name="Shape 22"/>
          <p:cNvSpPr/>
          <p:nvPr/>
        </p:nvSpPr>
        <p:spPr>
          <a:xfrm>
            <a:off x="7772400" y="3877056"/>
            <a:ext cx="219456" cy="219456"/>
          </a:xfrm>
          <a:prstGeom prst="ellipse">
            <a:avLst/>
          </a:prstGeom>
          <a:solidFill>
            <a:srgbClr val="1B2A57"/>
          </a:solidFill>
          <a:ln/>
        </p:spPr>
      </p:sp>
      <p:sp>
        <p:nvSpPr>
          <p:cNvPr id="25" name="Text 23"/>
          <p:cNvSpPr txBox="1"/>
          <p:nvPr/>
        </p:nvSpPr>
        <p:spPr>
          <a:xfrm>
            <a:off x="7772400" y="3867912"/>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26" name="Text 24"/>
          <p:cNvSpPr txBox="1"/>
          <p:nvPr/>
        </p:nvSpPr>
        <p:spPr>
          <a:xfrm>
            <a:off x="8138160" y="3813048"/>
            <a:ext cx="3063240" cy="347472"/>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BLKI Tyres</a:t>
            </a:r>
            <a:endParaRPr lang="en-US" sz="1300" dirty="0"/>
          </a:p>
        </p:txBody>
      </p:sp>
      <p:sp>
        <p:nvSpPr>
          <p:cNvPr id="27" name="Shape 25"/>
          <p:cNvSpPr/>
          <p:nvPr/>
        </p:nvSpPr>
        <p:spPr>
          <a:xfrm>
            <a:off x="7635240" y="4325112"/>
            <a:ext cx="3703320" cy="457200"/>
          </a:xfrm>
          <a:prstGeom prst="rect">
            <a:avLst/>
          </a:prstGeom>
          <a:solidFill>
            <a:srgbClr val="FFFFFF"/>
          </a:solidFill>
          <a:ln w="9525">
            <a:solidFill>
              <a:srgbClr val="D9DFEC"/>
            </a:solidFill>
            <a:prstDash val="solid"/>
          </a:ln>
        </p:spPr>
      </p:sp>
      <p:sp>
        <p:nvSpPr>
          <p:cNvPr id="28" name="Shape 26"/>
          <p:cNvSpPr/>
          <p:nvPr/>
        </p:nvSpPr>
        <p:spPr>
          <a:xfrm>
            <a:off x="7772400" y="4443984"/>
            <a:ext cx="219456" cy="219456"/>
          </a:xfrm>
          <a:prstGeom prst="ellipse">
            <a:avLst/>
          </a:prstGeom>
          <a:solidFill>
            <a:srgbClr val="1B2A57"/>
          </a:solidFill>
          <a:ln/>
        </p:spPr>
      </p:sp>
      <p:sp>
        <p:nvSpPr>
          <p:cNvPr id="29" name="Text 27"/>
          <p:cNvSpPr txBox="1"/>
          <p:nvPr/>
        </p:nvSpPr>
        <p:spPr>
          <a:xfrm>
            <a:off x="7772400" y="4434840"/>
            <a:ext cx="219456" cy="219456"/>
          </a:xfrm>
          <a:prstGeom prst="rect">
            <a:avLst/>
          </a:prstGeom>
          <a:noFill/>
          <a:ln/>
        </p:spPr>
        <p:txBody>
          <a:bodyPr wrap="square" lIns="0" tIns="0" rIns="0" bIns="0" rtlCol="0" anchor="ctr"/>
          <a:lstStyle/>
          <a:p>
            <a:pPr marL="0" indent="0" algn="ctr">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30" name="Text 28"/>
          <p:cNvSpPr txBox="1"/>
          <p:nvPr/>
        </p:nvSpPr>
        <p:spPr>
          <a:xfrm>
            <a:off x="8138160" y="4379976"/>
            <a:ext cx="3063240" cy="347472"/>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VIAZ Tyres</a:t>
            </a:r>
            <a:endParaRPr lang="en-US" sz="1300" dirty="0"/>
          </a:p>
        </p:txBody>
      </p:sp>
      <p:sp>
        <p:nvSpPr>
          <p:cNvPr id="31" name="Shape 29"/>
          <p:cNvSpPr/>
          <p:nvPr/>
        </p:nvSpPr>
        <p:spPr>
          <a:xfrm>
            <a:off x="7635240" y="4965192"/>
            <a:ext cx="3703320" cy="0"/>
          </a:xfrm>
          <a:prstGeom prst="line">
            <a:avLst/>
          </a:prstGeom>
          <a:noFill/>
          <a:ln w="12700">
            <a:solidFill>
              <a:srgbClr val="D9DFEC"/>
            </a:solidFill>
            <a:prstDash val="solid"/>
          </a:ln>
        </p:spPr>
      </p:sp>
      <p:sp>
        <p:nvSpPr>
          <p:cNvPr id="32" name="Text 30"/>
          <p:cNvSpPr txBox="1"/>
          <p:nvPr/>
        </p:nvSpPr>
        <p:spPr>
          <a:xfrm>
            <a:off x="7635240" y="5148072"/>
            <a:ext cx="374904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MARKET BENCHMARK</a:t>
            </a:r>
            <a:endParaRPr lang="en-US" sz="1050" dirty="0"/>
          </a:p>
        </p:txBody>
      </p:sp>
      <p:sp>
        <p:nvSpPr>
          <p:cNvPr id="33" name="Shape 31"/>
          <p:cNvSpPr/>
          <p:nvPr/>
        </p:nvSpPr>
        <p:spPr>
          <a:xfrm>
            <a:off x="7635240" y="5477256"/>
            <a:ext cx="3703320" cy="502920"/>
          </a:xfrm>
          <a:prstGeom prst="rect">
            <a:avLst/>
          </a:prstGeom>
          <a:solidFill>
            <a:srgbClr val="1B2A57"/>
          </a:solidFill>
          <a:ln/>
        </p:spPr>
      </p:sp>
      <p:sp>
        <p:nvSpPr>
          <p:cNvPr id="34" name="Text 32"/>
          <p:cNvSpPr txBox="1"/>
          <p:nvPr/>
        </p:nvSpPr>
        <p:spPr>
          <a:xfrm>
            <a:off x="7818120" y="5477256"/>
            <a:ext cx="3337560" cy="50292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NIFTY 50</a:t>
            </a:r>
            <a:endParaRPr lang="en-US" sz="1500" dirty="0"/>
          </a:p>
        </p:txBody>
      </p:sp>
      <p:sp>
        <p:nvSpPr>
          <p:cNvPr id="35" name="Text 33"/>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36" name="Text 3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2</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METHODOLOGY</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Analytical Framework</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sp>
        <p:nvSpPr>
          <p:cNvPr id="5" name="Shape 3"/>
          <p:cNvSpPr/>
          <p:nvPr/>
        </p:nvSpPr>
        <p:spPr>
          <a:xfrm>
            <a:off x="548640" y="1828800"/>
            <a:ext cx="1517904" cy="1417320"/>
          </a:xfrm>
          <a:prstGeom prst="rect">
            <a:avLst/>
          </a:prstGeom>
          <a:solidFill>
            <a:srgbClr val="F5F7FB"/>
          </a:solidFill>
          <a:ln w="12700">
            <a:solidFill>
              <a:srgbClr val="D9DFEC"/>
            </a:solidFill>
            <a:prstDash val="solid"/>
          </a:ln>
        </p:spPr>
      </p:sp>
      <p:sp>
        <p:nvSpPr>
          <p:cNvPr id="6" name="Shape 4"/>
          <p:cNvSpPr/>
          <p:nvPr/>
        </p:nvSpPr>
        <p:spPr>
          <a:xfrm>
            <a:off x="1161288" y="1975104"/>
            <a:ext cx="292608" cy="292608"/>
          </a:xfrm>
          <a:prstGeom prst="ellipse">
            <a:avLst/>
          </a:prstGeom>
          <a:solidFill>
            <a:srgbClr val="1B2A57"/>
          </a:solidFill>
          <a:ln/>
        </p:spPr>
      </p:sp>
      <p:sp>
        <p:nvSpPr>
          <p:cNvPr id="7" name="Text 5"/>
          <p:cNvSpPr txBox="1"/>
          <p:nvPr/>
        </p:nvSpPr>
        <p:spPr>
          <a:xfrm>
            <a:off x="116128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8" name="Text 6"/>
          <p:cNvSpPr txBox="1"/>
          <p:nvPr/>
        </p:nvSpPr>
        <p:spPr>
          <a:xfrm>
            <a:off x="621792" y="2340864"/>
            <a:ext cx="1371600" cy="384048"/>
          </a:xfrm>
          <a:prstGeom prst="rect">
            <a:avLst/>
          </a:prstGeom>
          <a:noFill/>
          <a:ln/>
        </p:spPr>
        <p:txBody>
          <a:bodyPr wrap="square" lIns="0" tIns="0" rIns="0" bIns="0" rtlCol="0" anchor="t"/>
          <a:lstStyle/>
          <a:p>
            <a:pPr marL="0" indent="0" algn="ctr">
              <a:buNone/>
            </a:pPr>
            <a:r>
              <a:rPr lang="en-US" sz="1150" b="1" dirty="0">
                <a:solidFill>
                  <a:srgbClr val="1B2A57"/>
                </a:solidFill>
                <a:latin typeface="Calibri" pitchFamily="34" charset="0"/>
                <a:ea typeface="Calibri" pitchFamily="34" charset="-122"/>
                <a:cs typeface="Calibri" pitchFamily="34" charset="-120"/>
              </a:rPr>
              <a:t>Historical Data</a:t>
            </a:r>
            <a:endParaRPr lang="en-US" sz="1150" dirty="0"/>
          </a:p>
        </p:txBody>
      </p:sp>
      <p:sp>
        <p:nvSpPr>
          <p:cNvPr id="9" name="Text 7"/>
          <p:cNvSpPr txBox="1"/>
          <p:nvPr/>
        </p:nvSpPr>
        <p:spPr>
          <a:xfrm>
            <a:off x="621792" y="2715768"/>
            <a:ext cx="1371600" cy="475488"/>
          </a:xfrm>
          <a:prstGeom prst="rect">
            <a:avLst/>
          </a:prstGeom>
          <a:noFill/>
          <a:ln/>
        </p:spPr>
        <p:txBody>
          <a:bodyPr wrap="square" lIns="0" tIns="0" rIns="0" bIns="0" rtlCol="0" anchor="t"/>
          <a:lstStyle/>
          <a:p>
            <a:pPr marL="0" indent="0" algn="ctr">
              <a:buNone/>
            </a:pPr>
            <a:r>
              <a:rPr lang="en-US" sz="830" dirty="0">
                <a:solidFill>
                  <a:srgbClr val="5C6788"/>
                </a:solidFill>
                <a:latin typeface="Calibri" pitchFamily="34" charset="0"/>
                <a:ea typeface="Calibri" pitchFamily="34" charset="-122"/>
                <a:cs typeface="Calibri" pitchFamily="34" charset="-120"/>
              </a:rPr>
              <a:t>Monthly closing prices collected for all five companies and NIFTY 50</a:t>
            </a:r>
            <a:endParaRPr lang="en-US" sz="830" dirty="0"/>
          </a:p>
        </p:txBody>
      </p:sp>
      <p:sp>
        <p:nvSpPr>
          <p:cNvPr id="10" name="Text 8"/>
          <p:cNvSpPr txBox="1"/>
          <p:nvPr/>
        </p:nvSpPr>
        <p:spPr>
          <a:xfrm>
            <a:off x="2071116" y="2336292"/>
            <a:ext cx="105156" cy="402336"/>
          </a:xfrm>
          <a:prstGeom prst="rect">
            <a:avLst/>
          </a:prstGeom>
          <a:noFill/>
          <a:ln/>
        </p:spPr>
        <p:txBody>
          <a:bodyPr wrap="square" lIns="0" tIns="0" rIns="0" bIns="0" rtlCol="0" anchor="ctr"/>
          <a:lstStyle/>
          <a:p>
            <a:pPr marL="0" indent="0" algn="ctr">
              <a:buNone/>
            </a:pPr>
            <a:r>
              <a:rPr lang="en-US" sz="1800" b="1" dirty="0">
                <a:solidFill>
                  <a:srgbClr val="B8934A"/>
                </a:solidFill>
                <a:latin typeface="Calibri" pitchFamily="34" charset="0"/>
                <a:ea typeface="Calibri" pitchFamily="34" charset="-122"/>
                <a:cs typeface="Calibri" pitchFamily="34" charset="-120"/>
              </a:rPr>
              <a:t>›</a:t>
            </a:r>
            <a:endParaRPr lang="en-US" sz="1800" dirty="0"/>
          </a:p>
        </p:txBody>
      </p:sp>
      <p:sp>
        <p:nvSpPr>
          <p:cNvPr id="11" name="Shape 9"/>
          <p:cNvSpPr/>
          <p:nvPr/>
        </p:nvSpPr>
        <p:spPr>
          <a:xfrm>
            <a:off x="2171700" y="1828800"/>
            <a:ext cx="1517904" cy="1417320"/>
          </a:xfrm>
          <a:prstGeom prst="rect">
            <a:avLst/>
          </a:prstGeom>
          <a:solidFill>
            <a:srgbClr val="F5F7FB"/>
          </a:solidFill>
          <a:ln w="12700">
            <a:solidFill>
              <a:srgbClr val="D9DFEC"/>
            </a:solidFill>
            <a:prstDash val="solid"/>
          </a:ln>
        </p:spPr>
      </p:sp>
      <p:sp>
        <p:nvSpPr>
          <p:cNvPr id="12" name="Shape 10"/>
          <p:cNvSpPr/>
          <p:nvPr/>
        </p:nvSpPr>
        <p:spPr>
          <a:xfrm>
            <a:off x="2784348" y="1975104"/>
            <a:ext cx="292608" cy="292608"/>
          </a:xfrm>
          <a:prstGeom prst="ellipse">
            <a:avLst/>
          </a:prstGeom>
          <a:solidFill>
            <a:srgbClr val="1B2A57"/>
          </a:solidFill>
          <a:ln/>
        </p:spPr>
      </p:sp>
      <p:sp>
        <p:nvSpPr>
          <p:cNvPr id="13" name="Text 11"/>
          <p:cNvSpPr txBox="1"/>
          <p:nvPr/>
        </p:nvSpPr>
        <p:spPr>
          <a:xfrm>
            <a:off x="278434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4" name="Text 12"/>
          <p:cNvSpPr txBox="1"/>
          <p:nvPr/>
        </p:nvSpPr>
        <p:spPr>
          <a:xfrm>
            <a:off x="2244852" y="2340864"/>
            <a:ext cx="1371600" cy="384048"/>
          </a:xfrm>
          <a:prstGeom prst="rect">
            <a:avLst/>
          </a:prstGeom>
          <a:noFill/>
          <a:ln/>
        </p:spPr>
        <p:txBody>
          <a:bodyPr wrap="square" lIns="0" tIns="0" rIns="0" bIns="0" rtlCol="0" anchor="t"/>
          <a:lstStyle/>
          <a:p>
            <a:pPr marL="0" indent="0" algn="ctr">
              <a:buNone/>
            </a:pPr>
            <a:r>
              <a:rPr lang="en-US" sz="1150" b="1" dirty="0">
                <a:solidFill>
                  <a:srgbClr val="1B2A57"/>
                </a:solidFill>
                <a:latin typeface="Calibri" pitchFamily="34" charset="0"/>
                <a:ea typeface="Calibri" pitchFamily="34" charset="-122"/>
                <a:cs typeface="Calibri" pitchFamily="34" charset="-120"/>
              </a:rPr>
              <a:t>Return Calculation</a:t>
            </a:r>
            <a:endParaRPr lang="en-US" sz="1150" dirty="0"/>
          </a:p>
        </p:txBody>
      </p:sp>
      <p:sp>
        <p:nvSpPr>
          <p:cNvPr id="15" name="Text 13"/>
          <p:cNvSpPr txBox="1"/>
          <p:nvPr/>
        </p:nvSpPr>
        <p:spPr>
          <a:xfrm>
            <a:off x="2244852" y="2715768"/>
            <a:ext cx="1371600" cy="475488"/>
          </a:xfrm>
          <a:prstGeom prst="rect">
            <a:avLst/>
          </a:prstGeom>
          <a:noFill/>
          <a:ln/>
        </p:spPr>
        <p:txBody>
          <a:bodyPr wrap="square" lIns="0" tIns="0" rIns="0" bIns="0" rtlCol="0" anchor="t"/>
          <a:lstStyle/>
          <a:p>
            <a:pPr marL="0" indent="0" algn="ctr">
              <a:buNone/>
            </a:pPr>
            <a:r>
              <a:rPr lang="en-US" sz="830" dirty="0">
                <a:solidFill>
                  <a:srgbClr val="5C6788"/>
                </a:solidFill>
                <a:latin typeface="Calibri" pitchFamily="34" charset="0"/>
                <a:ea typeface="Calibri" pitchFamily="34" charset="-122"/>
                <a:cs typeface="Calibri" pitchFamily="34" charset="-120"/>
              </a:rPr>
              <a:t>Month-on-month percentage change computed for each series</a:t>
            </a:r>
            <a:endParaRPr lang="en-US" sz="830" dirty="0"/>
          </a:p>
        </p:txBody>
      </p:sp>
      <p:sp>
        <p:nvSpPr>
          <p:cNvPr id="16" name="Text 14"/>
          <p:cNvSpPr txBox="1"/>
          <p:nvPr/>
        </p:nvSpPr>
        <p:spPr>
          <a:xfrm>
            <a:off x="3694176" y="2336292"/>
            <a:ext cx="105156" cy="402336"/>
          </a:xfrm>
          <a:prstGeom prst="rect">
            <a:avLst/>
          </a:prstGeom>
          <a:noFill/>
          <a:ln/>
        </p:spPr>
        <p:txBody>
          <a:bodyPr wrap="square" lIns="0" tIns="0" rIns="0" bIns="0" rtlCol="0" anchor="ctr"/>
          <a:lstStyle/>
          <a:p>
            <a:pPr marL="0" indent="0" algn="ctr">
              <a:buNone/>
            </a:pPr>
            <a:r>
              <a:rPr lang="en-US" sz="1800" b="1" dirty="0">
                <a:solidFill>
                  <a:srgbClr val="B8934A"/>
                </a:solidFill>
                <a:latin typeface="Calibri" pitchFamily="34" charset="0"/>
                <a:ea typeface="Calibri" pitchFamily="34" charset="-122"/>
                <a:cs typeface="Calibri" pitchFamily="34" charset="-120"/>
              </a:rPr>
              <a:t>›</a:t>
            </a:r>
            <a:endParaRPr lang="en-US" sz="1800" dirty="0"/>
          </a:p>
        </p:txBody>
      </p:sp>
      <p:sp>
        <p:nvSpPr>
          <p:cNvPr id="17" name="Shape 15"/>
          <p:cNvSpPr/>
          <p:nvPr/>
        </p:nvSpPr>
        <p:spPr>
          <a:xfrm>
            <a:off x="3794760" y="1828800"/>
            <a:ext cx="1517904" cy="1417320"/>
          </a:xfrm>
          <a:prstGeom prst="rect">
            <a:avLst/>
          </a:prstGeom>
          <a:solidFill>
            <a:srgbClr val="F5F7FB"/>
          </a:solidFill>
          <a:ln w="12700">
            <a:solidFill>
              <a:srgbClr val="D9DFEC"/>
            </a:solidFill>
            <a:prstDash val="solid"/>
          </a:ln>
        </p:spPr>
      </p:sp>
      <p:sp>
        <p:nvSpPr>
          <p:cNvPr id="18" name="Shape 16"/>
          <p:cNvSpPr/>
          <p:nvPr/>
        </p:nvSpPr>
        <p:spPr>
          <a:xfrm>
            <a:off x="4407408" y="1975104"/>
            <a:ext cx="292608" cy="292608"/>
          </a:xfrm>
          <a:prstGeom prst="ellipse">
            <a:avLst/>
          </a:prstGeom>
          <a:solidFill>
            <a:srgbClr val="1B2A57"/>
          </a:solidFill>
          <a:ln/>
        </p:spPr>
      </p:sp>
      <p:sp>
        <p:nvSpPr>
          <p:cNvPr id="19" name="Text 17"/>
          <p:cNvSpPr txBox="1"/>
          <p:nvPr/>
        </p:nvSpPr>
        <p:spPr>
          <a:xfrm>
            <a:off x="440740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20" name="Text 18"/>
          <p:cNvSpPr txBox="1"/>
          <p:nvPr/>
        </p:nvSpPr>
        <p:spPr>
          <a:xfrm>
            <a:off x="3867912" y="2340864"/>
            <a:ext cx="1371600" cy="384048"/>
          </a:xfrm>
          <a:prstGeom prst="rect">
            <a:avLst/>
          </a:prstGeom>
          <a:noFill/>
          <a:ln/>
        </p:spPr>
        <p:txBody>
          <a:bodyPr wrap="square" lIns="0" tIns="0" rIns="0" bIns="0" rtlCol="0" anchor="t"/>
          <a:lstStyle/>
          <a:p>
            <a:pPr marL="0" indent="0" algn="ctr">
              <a:buNone/>
            </a:pPr>
            <a:r>
              <a:rPr lang="en-US" sz="1150" b="1" dirty="0">
                <a:solidFill>
                  <a:srgbClr val="1B2A57"/>
                </a:solidFill>
                <a:latin typeface="Calibri" pitchFamily="34" charset="0"/>
                <a:ea typeface="Calibri" pitchFamily="34" charset="-122"/>
                <a:cs typeface="Calibri" pitchFamily="34" charset="-120"/>
              </a:rPr>
              <a:t>Mean Return</a:t>
            </a:r>
            <a:endParaRPr lang="en-US" sz="1150" dirty="0"/>
          </a:p>
        </p:txBody>
      </p:sp>
      <p:sp>
        <p:nvSpPr>
          <p:cNvPr id="21" name="Text 19"/>
          <p:cNvSpPr txBox="1"/>
          <p:nvPr/>
        </p:nvSpPr>
        <p:spPr>
          <a:xfrm>
            <a:off x="3867912" y="2715768"/>
            <a:ext cx="1371600" cy="475488"/>
          </a:xfrm>
          <a:prstGeom prst="rect">
            <a:avLst/>
          </a:prstGeom>
          <a:noFill/>
          <a:ln/>
        </p:spPr>
        <p:txBody>
          <a:bodyPr wrap="square" lIns="0" tIns="0" rIns="0" bIns="0" rtlCol="0" anchor="t"/>
          <a:lstStyle/>
          <a:p>
            <a:pPr marL="0" indent="0" algn="ctr">
              <a:buNone/>
            </a:pPr>
            <a:r>
              <a:rPr lang="en-US" sz="830" dirty="0">
                <a:solidFill>
                  <a:srgbClr val="5C6788"/>
                </a:solidFill>
                <a:latin typeface="Calibri" pitchFamily="34" charset="0"/>
                <a:ea typeface="Calibri" pitchFamily="34" charset="-122"/>
                <a:cs typeface="Calibri" pitchFamily="34" charset="-120"/>
              </a:rPr>
              <a:t>Average monthly return calculated for each stock and the market</a:t>
            </a:r>
            <a:endParaRPr lang="en-US" sz="830" dirty="0"/>
          </a:p>
        </p:txBody>
      </p:sp>
      <p:sp>
        <p:nvSpPr>
          <p:cNvPr id="22" name="Text 20"/>
          <p:cNvSpPr txBox="1"/>
          <p:nvPr/>
        </p:nvSpPr>
        <p:spPr>
          <a:xfrm>
            <a:off x="5317236" y="2336292"/>
            <a:ext cx="105156" cy="402336"/>
          </a:xfrm>
          <a:prstGeom prst="rect">
            <a:avLst/>
          </a:prstGeom>
          <a:noFill/>
          <a:ln/>
        </p:spPr>
        <p:txBody>
          <a:bodyPr wrap="square" lIns="0" tIns="0" rIns="0" bIns="0" rtlCol="0" anchor="ctr"/>
          <a:lstStyle/>
          <a:p>
            <a:pPr marL="0" indent="0" algn="ctr">
              <a:buNone/>
            </a:pPr>
            <a:r>
              <a:rPr lang="en-US" sz="1800" b="1" dirty="0">
                <a:solidFill>
                  <a:srgbClr val="B8934A"/>
                </a:solidFill>
                <a:latin typeface="Calibri" pitchFamily="34" charset="0"/>
                <a:ea typeface="Calibri" pitchFamily="34" charset="-122"/>
                <a:cs typeface="Calibri" pitchFamily="34" charset="-120"/>
              </a:rPr>
              <a:t>›</a:t>
            </a:r>
            <a:endParaRPr lang="en-US" sz="1800" dirty="0"/>
          </a:p>
        </p:txBody>
      </p:sp>
      <p:sp>
        <p:nvSpPr>
          <p:cNvPr id="23" name="Shape 21"/>
          <p:cNvSpPr/>
          <p:nvPr/>
        </p:nvSpPr>
        <p:spPr>
          <a:xfrm>
            <a:off x="5417820" y="1828800"/>
            <a:ext cx="1517904" cy="1417320"/>
          </a:xfrm>
          <a:prstGeom prst="rect">
            <a:avLst/>
          </a:prstGeom>
          <a:solidFill>
            <a:srgbClr val="F5F7FB"/>
          </a:solidFill>
          <a:ln w="12700">
            <a:solidFill>
              <a:srgbClr val="D9DFEC"/>
            </a:solidFill>
            <a:prstDash val="solid"/>
          </a:ln>
        </p:spPr>
      </p:sp>
      <p:sp>
        <p:nvSpPr>
          <p:cNvPr id="24" name="Shape 22"/>
          <p:cNvSpPr/>
          <p:nvPr/>
        </p:nvSpPr>
        <p:spPr>
          <a:xfrm>
            <a:off x="6030468" y="1975104"/>
            <a:ext cx="292608" cy="292608"/>
          </a:xfrm>
          <a:prstGeom prst="ellipse">
            <a:avLst/>
          </a:prstGeom>
          <a:solidFill>
            <a:srgbClr val="1B2A57"/>
          </a:solidFill>
          <a:ln/>
        </p:spPr>
      </p:sp>
      <p:sp>
        <p:nvSpPr>
          <p:cNvPr id="25" name="Text 23"/>
          <p:cNvSpPr txBox="1"/>
          <p:nvPr/>
        </p:nvSpPr>
        <p:spPr>
          <a:xfrm>
            <a:off x="603046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4</a:t>
            </a:r>
            <a:endParaRPr lang="en-US" sz="1100" dirty="0"/>
          </a:p>
        </p:txBody>
      </p:sp>
      <p:sp>
        <p:nvSpPr>
          <p:cNvPr id="26" name="Text 24"/>
          <p:cNvSpPr txBox="1"/>
          <p:nvPr/>
        </p:nvSpPr>
        <p:spPr>
          <a:xfrm>
            <a:off x="5490972" y="2340864"/>
            <a:ext cx="1371600" cy="384048"/>
          </a:xfrm>
          <a:prstGeom prst="rect">
            <a:avLst/>
          </a:prstGeom>
          <a:noFill/>
          <a:ln/>
        </p:spPr>
        <p:txBody>
          <a:bodyPr wrap="square" lIns="0" tIns="0" rIns="0" bIns="0" rtlCol="0" anchor="t"/>
          <a:lstStyle/>
          <a:p>
            <a:pPr marL="0" indent="0" algn="ctr">
              <a:buNone/>
            </a:pPr>
            <a:r>
              <a:rPr lang="en-US" sz="1150" b="1" dirty="0">
                <a:solidFill>
                  <a:srgbClr val="1B2A57"/>
                </a:solidFill>
                <a:latin typeface="Calibri" pitchFamily="34" charset="0"/>
                <a:ea typeface="Calibri" pitchFamily="34" charset="-122"/>
                <a:cs typeface="Calibri" pitchFamily="34" charset="-120"/>
              </a:rPr>
              <a:t>Variance</a:t>
            </a:r>
            <a:endParaRPr lang="en-US" sz="1150" dirty="0"/>
          </a:p>
        </p:txBody>
      </p:sp>
      <p:sp>
        <p:nvSpPr>
          <p:cNvPr id="27" name="Text 25"/>
          <p:cNvSpPr txBox="1"/>
          <p:nvPr/>
        </p:nvSpPr>
        <p:spPr>
          <a:xfrm>
            <a:off x="5490972" y="2715768"/>
            <a:ext cx="1371600" cy="475488"/>
          </a:xfrm>
          <a:prstGeom prst="rect">
            <a:avLst/>
          </a:prstGeom>
          <a:noFill/>
          <a:ln/>
        </p:spPr>
        <p:txBody>
          <a:bodyPr wrap="square" lIns="0" tIns="0" rIns="0" bIns="0" rtlCol="0" anchor="t"/>
          <a:lstStyle/>
          <a:p>
            <a:pPr marL="0" indent="0" algn="ctr">
              <a:buNone/>
            </a:pPr>
            <a:r>
              <a:rPr lang="en-US" sz="830" dirty="0">
                <a:solidFill>
                  <a:srgbClr val="5C6788"/>
                </a:solidFill>
                <a:latin typeface="Calibri" pitchFamily="34" charset="0"/>
                <a:ea typeface="Calibri" pitchFamily="34" charset="-122"/>
                <a:cs typeface="Calibri" pitchFamily="34" charset="-120"/>
              </a:rPr>
              <a:t>Dispersion of market returns around the mean quantified</a:t>
            </a:r>
            <a:endParaRPr lang="en-US" sz="830" dirty="0"/>
          </a:p>
        </p:txBody>
      </p:sp>
      <p:sp>
        <p:nvSpPr>
          <p:cNvPr id="28" name="Text 26"/>
          <p:cNvSpPr txBox="1"/>
          <p:nvPr/>
        </p:nvSpPr>
        <p:spPr>
          <a:xfrm>
            <a:off x="6940296" y="2336292"/>
            <a:ext cx="105156" cy="402336"/>
          </a:xfrm>
          <a:prstGeom prst="rect">
            <a:avLst/>
          </a:prstGeom>
          <a:noFill/>
          <a:ln/>
        </p:spPr>
        <p:txBody>
          <a:bodyPr wrap="square" lIns="0" tIns="0" rIns="0" bIns="0" rtlCol="0" anchor="ctr"/>
          <a:lstStyle/>
          <a:p>
            <a:pPr marL="0" indent="0" algn="ctr">
              <a:buNone/>
            </a:pPr>
            <a:r>
              <a:rPr lang="en-US" sz="1800" b="1" dirty="0">
                <a:solidFill>
                  <a:srgbClr val="B8934A"/>
                </a:solidFill>
                <a:latin typeface="Calibri" pitchFamily="34" charset="0"/>
                <a:ea typeface="Calibri" pitchFamily="34" charset="-122"/>
                <a:cs typeface="Calibri" pitchFamily="34" charset="-120"/>
              </a:rPr>
              <a:t>›</a:t>
            </a:r>
            <a:endParaRPr lang="en-US" sz="1800" dirty="0"/>
          </a:p>
        </p:txBody>
      </p:sp>
      <p:sp>
        <p:nvSpPr>
          <p:cNvPr id="29" name="Shape 27"/>
          <p:cNvSpPr/>
          <p:nvPr/>
        </p:nvSpPr>
        <p:spPr>
          <a:xfrm>
            <a:off x="7040880" y="1828800"/>
            <a:ext cx="1517904" cy="1417320"/>
          </a:xfrm>
          <a:prstGeom prst="rect">
            <a:avLst/>
          </a:prstGeom>
          <a:solidFill>
            <a:srgbClr val="F5F7FB"/>
          </a:solidFill>
          <a:ln w="12700">
            <a:solidFill>
              <a:srgbClr val="D9DFEC"/>
            </a:solidFill>
            <a:prstDash val="solid"/>
          </a:ln>
        </p:spPr>
      </p:sp>
      <p:sp>
        <p:nvSpPr>
          <p:cNvPr id="30" name="Shape 28"/>
          <p:cNvSpPr/>
          <p:nvPr/>
        </p:nvSpPr>
        <p:spPr>
          <a:xfrm>
            <a:off x="7653528" y="1975104"/>
            <a:ext cx="292608" cy="292608"/>
          </a:xfrm>
          <a:prstGeom prst="ellipse">
            <a:avLst/>
          </a:prstGeom>
          <a:solidFill>
            <a:srgbClr val="1B2A57"/>
          </a:solidFill>
          <a:ln/>
        </p:spPr>
      </p:sp>
      <p:sp>
        <p:nvSpPr>
          <p:cNvPr id="31" name="Text 29"/>
          <p:cNvSpPr txBox="1"/>
          <p:nvPr/>
        </p:nvSpPr>
        <p:spPr>
          <a:xfrm>
            <a:off x="765352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5</a:t>
            </a:r>
            <a:endParaRPr lang="en-US" sz="1100" dirty="0"/>
          </a:p>
        </p:txBody>
      </p:sp>
      <p:sp>
        <p:nvSpPr>
          <p:cNvPr id="32" name="Text 30"/>
          <p:cNvSpPr txBox="1"/>
          <p:nvPr/>
        </p:nvSpPr>
        <p:spPr>
          <a:xfrm>
            <a:off x="7114032" y="2340864"/>
            <a:ext cx="1371600" cy="384048"/>
          </a:xfrm>
          <a:prstGeom prst="rect">
            <a:avLst/>
          </a:prstGeom>
          <a:noFill/>
          <a:ln/>
        </p:spPr>
        <p:txBody>
          <a:bodyPr wrap="square" lIns="0" tIns="0" rIns="0" bIns="0" rtlCol="0" anchor="t"/>
          <a:lstStyle/>
          <a:p>
            <a:pPr marL="0" indent="0" algn="ctr">
              <a:buNone/>
            </a:pPr>
            <a:r>
              <a:rPr lang="en-US" sz="1150" b="1" dirty="0">
                <a:solidFill>
                  <a:srgbClr val="1B2A57"/>
                </a:solidFill>
                <a:latin typeface="Calibri" pitchFamily="34" charset="0"/>
                <a:ea typeface="Calibri" pitchFamily="34" charset="-122"/>
                <a:cs typeface="Calibri" pitchFamily="34" charset="-120"/>
              </a:rPr>
              <a:t>Covariance</a:t>
            </a:r>
            <a:endParaRPr lang="en-US" sz="1150" dirty="0"/>
          </a:p>
        </p:txBody>
      </p:sp>
      <p:sp>
        <p:nvSpPr>
          <p:cNvPr id="33" name="Text 31"/>
          <p:cNvSpPr txBox="1"/>
          <p:nvPr/>
        </p:nvSpPr>
        <p:spPr>
          <a:xfrm>
            <a:off x="7114032" y="2715768"/>
            <a:ext cx="1371600" cy="475488"/>
          </a:xfrm>
          <a:prstGeom prst="rect">
            <a:avLst/>
          </a:prstGeom>
          <a:noFill/>
          <a:ln/>
        </p:spPr>
        <p:txBody>
          <a:bodyPr wrap="square" lIns="0" tIns="0" rIns="0" bIns="0" rtlCol="0" anchor="t"/>
          <a:lstStyle/>
          <a:p>
            <a:pPr marL="0" indent="0" algn="ctr">
              <a:buNone/>
            </a:pPr>
            <a:r>
              <a:rPr lang="en-US" sz="830" dirty="0">
                <a:solidFill>
                  <a:srgbClr val="5C6788"/>
                </a:solidFill>
                <a:latin typeface="Calibri" pitchFamily="34" charset="0"/>
                <a:ea typeface="Calibri" pitchFamily="34" charset="-122"/>
                <a:cs typeface="Calibri" pitchFamily="34" charset="-120"/>
              </a:rPr>
              <a:t>Co-movement of each stock's returns with market returns measured</a:t>
            </a:r>
            <a:endParaRPr lang="en-US" sz="830" dirty="0"/>
          </a:p>
        </p:txBody>
      </p:sp>
      <p:sp>
        <p:nvSpPr>
          <p:cNvPr id="34" name="Text 32"/>
          <p:cNvSpPr txBox="1"/>
          <p:nvPr/>
        </p:nvSpPr>
        <p:spPr>
          <a:xfrm>
            <a:off x="8563356" y="2336292"/>
            <a:ext cx="105156" cy="402336"/>
          </a:xfrm>
          <a:prstGeom prst="rect">
            <a:avLst/>
          </a:prstGeom>
          <a:noFill/>
          <a:ln/>
        </p:spPr>
        <p:txBody>
          <a:bodyPr wrap="square" lIns="0" tIns="0" rIns="0" bIns="0" rtlCol="0" anchor="ctr"/>
          <a:lstStyle/>
          <a:p>
            <a:pPr marL="0" indent="0" algn="ctr">
              <a:buNone/>
            </a:pPr>
            <a:r>
              <a:rPr lang="en-US" sz="1800" b="1" dirty="0">
                <a:solidFill>
                  <a:srgbClr val="B8934A"/>
                </a:solidFill>
                <a:latin typeface="Calibri" pitchFamily="34" charset="0"/>
                <a:ea typeface="Calibri" pitchFamily="34" charset="-122"/>
                <a:cs typeface="Calibri" pitchFamily="34" charset="-120"/>
              </a:rPr>
              <a:t>›</a:t>
            </a:r>
            <a:endParaRPr lang="en-US" sz="1800" dirty="0"/>
          </a:p>
        </p:txBody>
      </p:sp>
      <p:sp>
        <p:nvSpPr>
          <p:cNvPr id="35" name="Shape 33"/>
          <p:cNvSpPr/>
          <p:nvPr/>
        </p:nvSpPr>
        <p:spPr>
          <a:xfrm>
            <a:off x="8663940" y="1828800"/>
            <a:ext cx="1517904" cy="1417320"/>
          </a:xfrm>
          <a:prstGeom prst="rect">
            <a:avLst/>
          </a:prstGeom>
          <a:solidFill>
            <a:srgbClr val="F5F7FB"/>
          </a:solidFill>
          <a:ln w="12700">
            <a:solidFill>
              <a:srgbClr val="D9DFEC"/>
            </a:solidFill>
            <a:prstDash val="solid"/>
          </a:ln>
        </p:spPr>
      </p:sp>
      <p:sp>
        <p:nvSpPr>
          <p:cNvPr id="36" name="Shape 34"/>
          <p:cNvSpPr/>
          <p:nvPr/>
        </p:nvSpPr>
        <p:spPr>
          <a:xfrm>
            <a:off x="9276588" y="1975104"/>
            <a:ext cx="292608" cy="292608"/>
          </a:xfrm>
          <a:prstGeom prst="ellipse">
            <a:avLst/>
          </a:prstGeom>
          <a:solidFill>
            <a:srgbClr val="1B2A57"/>
          </a:solidFill>
          <a:ln/>
        </p:spPr>
      </p:sp>
      <p:sp>
        <p:nvSpPr>
          <p:cNvPr id="37" name="Text 35"/>
          <p:cNvSpPr txBox="1"/>
          <p:nvPr/>
        </p:nvSpPr>
        <p:spPr>
          <a:xfrm>
            <a:off x="927658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6</a:t>
            </a:r>
            <a:endParaRPr lang="en-US" sz="1100" dirty="0"/>
          </a:p>
        </p:txBody>
      </p:sp>
      <p:sp>
        <p:nvSpPr>
          <p:cNvPr id="38" name="Text 36"/>
          <p:cNvSpPr txBox="1"/>
          <p:nvPr/>
        </p:nvSpPr>
        <p:spPr>
          <a:xfrm>
            <a:off x="8737092" y="2340864"/>
            <a:ext cx="1371600" cy="384048"/>
          </a:xfrm>
          <a:prstGeom prst="rect">
            <a:avLst/>
          </a:prstGeom>
          <a:noFill/>
          <a:ln/>
        </p:spPr>
        <p:txBody>
          <a:bodyPr wrap="square" lIns="0" tIns="0" rIns="0" bIns="0" rtlCol="0" anchor="t"/>
          <a:lstStyle/>
          <a:p>
            <a:pPr marL="0" indent="0" algn="ctr">
              <a:buNone/>
            </a:pPr>
            <a:r>
              <a:rPr lang="en-US" sz="1150" b="1" dirty="0">
                <a:solidFill>
                  <a:srgbClr val="1B2A57"/>
                </a:solidFill>
                <a:latin typeface="Calibri" pitchFamily="34" charset="0"/>
                <a:ea typeface="Calibri" pitchFamily="34" charset="-122"/>
                <a:cs typeface="Calibri" pitchFamily="34" charset="-120"/>
              </a:rPr>
              <a:t>Beta</a:t>
            </a:r>
            <a:endParaRPr lang="en-US" sz="1150" dirty="0"/>
          </a:p>
        </p:txBody>
      </p:sp>
      <p:sp>
        <p:nvSpPr>
          <p:cNvPr id="39" name="Text 37"/>
          <p:cNvSpPr txBox="1"/>
          <p:nvPr/>
        </p:nvSpPr>
        <p:spPr>
          <a:xfrm>
            <a:off x="8737092" y="2715768"/>
            <a:ext cx="1371600" cy="475488"/>
          </a:xfrm>
          <a:prstGeom prst="rect">
            <a:avLst/>
          </a:prstGeom>
          <a:noFill/>
          <a:ln/>
        </p:spPr>
        <p:txBody>
          <a:bodyPr wrap="square" lIns="0" tIns="0" rIns="0" bIns="0" rtlCol="0" anchor="t"/>
          <a:lstStyle/>
          <a:p>
            <a:pPr marL="0" indent="0" algn="ctr">
              <a:buNone/>
            </a:pPr>
            <a:r>
              <a:rPr lang="en-US" sz="830" dirty="0">
                <a:solidFill>
                  <a:srgbClr val="5C6788"/>
                </a:solidFill>
                <a:latin typeface="Calibri" pitchFamily="34" charset="0"/>
                <a:ea typeface="Calibri" pitchFamily="34" charset="-122"/>
                <a:cs typeface="Calibri" pitchFamily="34" charset="-120"/>
              </a:rPr>
              <a:t>Covariance divided by market variance to gauge market sensitivity</a:t>
            </a:r>
            <a:endParaRPr lang="en-US" sz="830" dirty="0"/>
          </a:p>
        </p:txBody>
      </p:sp>
      <p:sp>
        <p:nvSpPr>
          <p:cNvPr id="40" name="Text 38"/>
          <p:cNvSpPr txBox="1"/>
          <p:nvPr/>
        </p:nvSpPr>
        <p:spPr>
          <a:xfrm>
            <a:off x="10186416" y="2336292"/>
            <a:ext cx="105156" cy="402336"/>
          </a:xfrm>
          <a:prstGeom prst="rect">
            <a:avLst/>
          </a:prstGeom>
          <a:noFill/>
          <a:ln/>
        </p:spPr>
        <p:txBody>
          <a:bodyPr wrap="square" lIns="0" tIns="0" rIns="0" bIns="0" rtlCol="0" anchor="ctr"/>
          <a:lstStyle/>
          <a:p>
            <a:pPr marL="0" indent="0" algn="ctr">
              <a:buNone/>
            </a:pPr>
            <a:r>
              <a:rPr lang="en-US" sz="1800" b="1" dirty="0">
                <a:solidFill>
                  <a:srgbClr val="B8934A"/>
                </a:solidFill>
                <a:latin typeface="Calibri" pitchFamily="34" charset="0"/>
                <a:ea typeface="Calibri" pitchFamily="34" charset="-122"/>
                <a:cs typeface="Calibri" pitchFamily="34" charset="-120"/>
              </a:rPr>
              <a:t>›</a:t>
            </a:r>
            <a:endParaRPr lang="en-US" sz="1800" dirty="0"/>
          </a:p>
        </p:txBody>
      </p:sp>
      <p:sp>
        <p:nvSpPr>
          <p:cNvPr id="41" name="Shape 39"/>
          <p:cNvSpPr/>
          <p:nvPr/>
        </p:nvSpPr>
        <p:spPr>
          <a:xfrm>
            <a:off x="10287000" y="1828800"/>
            <a:ext cx="1517904" cy="1417320"/>
          </a:xfrm>
          <a:prstGeom prst="rect">
            <a:avLst/>
          </a:prstGeom>
          <a:solidFill>
            <a:srgbClr val="1B2A57"/>
          </a:solidFill>
          <a:ln w="12700">
            <a:solidFill>
              <a:srgbClr val="1B2A57"/>
            </a:solidFill>
            <a:prstDash val="solid"/>
          </a:ln>
        </p:spPr>
      </p:sp>
      <p:sp>
        <p:nvSpPr>
          <p:cNvPr id="42" name="Shape 40"/>
          <p:cNvSpPr/>
          <p:nvPr/>
        </p:nvSpPr>
        <p:spPr>
          <a:xfrm>
            <a:off x="10899648" y="1975104"/>
            <a:ext cx="292608" cy="292608"/>
          </a:xfrm>
          <a:prstGeom prst="ellipse">
            <a:avLst/>
          </a:prstGeom>
          <a:solidFill>
            <a:srgbClr val="B8934A"/>
          </a:solidFill>
          <a:ln/>
        </p:spPr>
      </p:sp>
      <p:sp>
        <p:nvSpPr>
          <p:cNvPr id="43" name="Text 41"/>
          <p:cNvSpPr txBox="1"/>
          <p:nvPr/>
        </p:nvSpPr>
        <p:spPr>
          <a:xfrm>
            <a:off x="10899648" y="1975104"/>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7</a:t>
            </a:r>
            <a:endParaRPr lang="en-US" sz="1100" dirty="0"/>
          </a:p>
        </p:txBody>
      </p:sp>
      <p:sp>
        <p:nvSpPr>
          <p:cNvPr id="44" name="Text 42"/>
          <p:cNvSpPr txBox="1"/>
          <p:nvPr/>
        </p:nvSpPr>
        <p:spPr>
          <a:xfrm>
            <a:off x="10360152" y="2340864"/>
            <a:ext cx="1371600" cy="384048"/>
          </a:xfrm>
          <a:prstGeom prst="rect">
            <a:avLst/>
          </a:prstGeom>
          <a:noFill/>
          <a:ln/>
        </p:spPr>
        <p:txBody>
          <a:bodyPr wrap="square" lIns="0" tIns="0" rIns="0" bIns="0" rtlCol="0" anchor="t"/>
          <a:lstStyle/>
          <a:p>
            <a:pPr marL="0" indent="0" algn="ctr">
              <a:buNone/>
            </a:pPr>
            <a:r>
              <a:rPr lang="en-US" sz="1150" b="1" dirty="0">
                <a:solidFill>
                  <a:srgbClr val="FFFFFF"/>
                </a:solidFill>
                <a:latin typeface="Calibri" pitchFamily="34" charset="0"/>
                <a:ea typeface="Calibri" pitchFamily="34" charset="-122"/>
                <a:cs typeface="Calibri" pitchFamily="34" charset="-120"/>
              </a:rPr>
              <a:t>Risk–Return Comparison</a:t>
            </a:r>
            <a:endParaRPr lang="en-US" sz="1150" dirty="0"/>
          </a:p>
        </p:txBody>
      </p:sp>
      <p:sp>
        <p:nvSpPr>
          <p:cNvPr id="45" name="Text 43"/>
          <p:cNvSpPr txBox="1"/>
          <p:nvPr/>
        </p:nvSpPr>
        <p:spPr>
          <a:xfrm>
            <a:off x="10360152" y="2715768"/>
            <a:ext cx="1371600" cy="475488"/>
          </a:xfrm>
          <a:prstGeom prst="rect">
            <a:avLst/>
          </a:prstGeom>
          <a:noFill/>
          <a:ln/>
        </p:spPr>
        <p:txBody>
          <a:bodyPr wrap="square" lIns="0" tIns="0" rIns="0" bIns="0" rtlCol="0" anchor="t"/>
          <a:lstStyle/>
          <a:p>
            <a:pPr marL="0" indent="0" algn="ctr">
              <a:buNone/>
            </a:pPr>
            <a:r>
              <a:rPr lang="en-US" sz="830" dirty="0">
                <a:solidFill>
                  <a:srgbClr val="CADCFC"/>
                </a:solidFill>
                <a:latin typeface="Calibri" pitchFamily="34" charset="0"/>
                <a:ea typeface="Calibri" pitchFamily="34" charset="-122"/>
                <a:cs typeface="Calibri" pitchFamily="34" charset="-120"/>
              </a:rPr>
              <a:t>Findings consolidated to compare companies against the benchmark</a:t>
            </a:r>
            <a:endParaRPr lang="en-US" sz="830" dirty="0"/>
          </a:p>
        </p:txBody>
      </p:sp>
      <p:sp>
        <p:nvSpPr>
          <p:cNvPr id="46" name="Shape 44"/>
          <p:cNvSpPr/>
          <p:nvPr/>
        </p:nvSpPr>
        <p:spPr>
          <a:xfrm>
            <a:off x="548640" y="3703320"/>
            <a:ext cx="11091672" cy="566928"/>
          </a:xfrm>
          <a:prstGeom prst="rect">
            <a:avLst/>
          </a:prstGeom>
          <a:solidFill>
            <a:srgbClr val="F5F7FB"/>
          </a:solidFill>
          <a:ln w="12700">
            <a:solidFill>
              <a:srgbClr val="D9DFEC"/>
            </a:solidFill>
            <a:prstDash val="solid"/>
          </a:ln>
        </p:spPr>
      </p:sp>
      <p:sp>
        <p:nvSpPr>
          <p:cNvPr id="47" name="Text 45"/>
          <p:cNvSpPr txBox="1"/>
          <p:nvPr/>
        </p:nvSpPr>
        <p:spPr>
          <a:xfrm>
            <a:off x="777240" y="3703320"/>
            <a:ext cx="10607040" cy="566928"/>
          </a:xfrm>
          <a:prstGeom prst="rect">
            <a:avLst/>
          </a:prstGeom>
          <a:noFill/>
          <a:ln/>
        </p:spPr>
        <p:txBody>
          <a:bodyPr wrap="square" lIns="0" tIns="0" rIns="0" bIns="0" rtlCol="0" anchor="ctr"/>
          <a:lstStyle/>
          <a:p>
            <a:pPr marL="0" indent="0">
              <a:buNone/>
            </a:pPr>
            <a:r>
              <a:rPr lang="en-US" sz="1200" b="1" dirty="0">
                <a:solidFill>
                  <a:srgbClr val="1B2A57"/>
                </a:solidFill>
                <a:latin typeface="Calibri" pitchFamily="34" charset="0"/>
                <a:ea typeface="Calibri" pitchFamily="34" charset="-122"/>
                <a:cs typeface="Calibri" pitchFamily="34" charset="-120"/>
              </a:rPr>
              <a:t>TOOL USED:  </a:t>
            </a:r>
            <a:r>
              <a:rPr lang="en-US" sz="1200" dirty="0">
                <a:solidFill>
                  <a:srgbClr val="1B2A57"/>
                </a:solidFill>
                <a:latin typeface="Calibri" pitchFamily="34" charset="0"/>
                <a:ea typeface="Calibri" pitchFamily="34" charset="-122"/>
                <a:cs typeface="Calibri" pitchFamily="34" charset="-120"/>
              </a:rPr>
              <a:t>Microsoft Excel — used to compute mean return, variance, covariance and beta for each company relative to the NIFTY 50 benchmark.</a:t>
            </a:r>
            <a:endParaRPr lang="en-US" sz="1200" dirty="0"/>
          </a:p>
        </p:txBody>
      </p:sp>
      <p:sp>
        <p:nvSpPr>
          <p:cNvPr id="48" name="Text 46"/>
          <p:cNvSpPr txBox="1"/>
          <p:nvPr/>
        </p:nvSpPr>
        <p:spPr>
          <a:xfrm>
            <a:off x="548640" y="4526280"/>
            <a:ext cx="3657600" cy="274320"/>
          </a:xfrm>
          <a:prstGeom prst="rect">
            <a:avLst/>
          </a:prstGeom>
          <a:noFill/>
          <a:ln/>
        </p:spPr>
        <p:txBody>
          <a:bodyPr wrap="square" lIns="0" tIns="0" rIns="0" bIns="0" rtlCol="0" anchor="ctr"/>
          <a:lstStyle/>
          <a:p>
            <a:pPr marL="0" indent="0">
              <a:buNone/>
            </a:pPr>
            <a:r>
              <a:rPr lang="en-US" sz="1100" b="1" kern="0" spc="150" dirty="0">
                <a:solidFill>
                  <a:srgbClr val="B8934A"/>
                </a:solidFill>
                <a:latin typeface="Calibri" pitchFamily="34" charset="0"/>
                <a:ea typeface="Calibri" pitchFamily="34" charset="-122"/>
                <a:cs typeface="Calibri" pitchFamily="34" charset="-120"/>
              </a:rPr>
              <a:t>KEY FORMULAS</a:t>
            </a:r>
            <a:endParaRPr lang="en-US" sz="1100" dirty="0"/>
          </a:p>
        </p:txBody>
      </p:sp>
      <p:sp>
        <p:nvSpPr>
          <p:cNvPr id="49" name="Shape 47"/>
          <p:cNvSpPr/>
          <p:nvPr/>
        </p:nvSpPr>
        <p:spPr>
          <a:xfrm>
            <a:off x="548640" y="4846320"/>
            <a:ext cx="3611880" cy="868680"/>
          </a:xfrm>
          <a:prstGeom prst="rect">
            <a:avLst/>
          </a:prstGeom>
          <a:solidFill>
            <a:srgbClr val="FFFFFF"/>
          </a:solidFill>
          <a:ln w="12700">
            <a:solidFill>
              <a:srgbClr val="D9DFEC"/>
            </a:solidFill>
            <a:prstDash val="solid"/>
          </a:ln>
        </p:spPr>
      </p:sp>
      <p:sp>
        <p:nvSpPr>
          <p:cNvPr id="50" name="Text 48"/>
          <p:cNvSpPr txBox="1"/>
          <p:nvPr/>
        </p:nvSpPr>
        <p:spPr>
          <a:xfrm>
            <a:off x="713232" y="4937760"/>
            <a:ext cx="3282696" cy="256032"/>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VARIANCE</a:t>
            </a:r>
            <a:endParaRPr lang="en-US" sz="950" dirty="0"/>
          </a:p>
        </p:txBody>
      </p:sp>
      <p:sp>
        <p:nvSpPr>
          <p:cNvPr id="51" name="Text 49"/>
          <p:cNvSpPr txBox="1"/>
          <p:nvPr/>
        </p:nvSpPr>
        <p:spPr>
          <a:xfrm>
            <a:off x="713232" y="5193792"/>
            <a:ext cx="3282696" cy="457200"/>
          </a:xfrm>
          <a:prstGeom prst="rect">
            <a:avLst/>
          </a:prstGeom>
          <a:noFill/>
          <a:ln/>
        </p:spPr>
        <p:txBody>
          <a:bodyPr wrap="square" lIns="0" tIns="0" rIns="0" bIns="0" rtlCol="0" anchor="ctr"/>
          <a:lstStyle/>
          <a:p>
            <a:pPr marL="0" indent="0">
              <a:buNone/>
            </a:pPr>
            <a:r>
              <a:rPr lang="en-US" sz="1300" b="1" dirty="0">
                <a:solidFill>
                  <a:srgbClr val="1B2A57"/>
                </a:solidFill>
                <a:latin typeface="Cambria" pitchFamily="34" charset="0"/>
                <a:ea typeface="Cambria" pitchFamily="34" charset="-122"/>
                <a:cs typeface="Cambria" pitchFamily="34" charset="-120"/>
              </a:rPr>
              <a:t>σ² = Σ(x − x̄)² / N</a:t>
            </a:r>
            <a:endParaRPr lang="en-US" sz="1300" dirty="0"/>
          </a:p>
        </p:txBody>
      </p:sp>
      <p:sp>
        <p:nvSpPr>
          <p:cNvPr id="52" name="Shape 50"/>
          <p:cNvSpPr/>
          <p:nvPr/>
        </p:nvSpPr>
        <p:spPr>
          <a:xfrm>
            <a:off x="4283964" y="4846320"/>
            <a:ext cx="3611880" cy="868680"/>
          </a:xfrm>
          <a:prstGeom prst="rect">
            <a:avLst/>
          </a:prstGeom>
          <a:solidFill>
            <a:srgbClr val="FFFFFF"/>
          </a:solidFill>
          <a:ln w="12700">
            <a:solidFill>
              <a:srgbClr val="D9DFEC"/>
            </a:solidFill>
            <a:prstDash val="solid"/>
          </a:ln>
        </p:spPr>
      </p:sp>
      <p:sp>
        <p:nvSpPr>
          <p:cNvPr id="53" name="Text 51"/>
          <p:cNvSpPr txBox="1"/>
          <p:nvPr/>
        </p:nvSpPr>
        <p:spPr>
          <a:xfrm>
            <a:off x="4448556" y="4937760"/>
            <a:ext cx="3282696" cy="256032"/>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BETA</a:t>
            </a:r>
            <a:endParaRPr lang="en-US" sz="950" dirty="0"/>
          </a:p>
        </p:txBody>
      </p:sp>
      <p:sp>
        <p:nvSpPr>
          <p:cNvPr id="54" name="Text 52"/>
          <p:cNvSpPr txBox="1"/>
          <p:nvPr/>
        </p:nvSpPr>
        <p:spPr>
          <a:xfrm>
            <a:off x="4448556" y="5193792"/>
            <a:ext cx="3282696" cy="457200"/>
          </a:xfrm>
          <a:prstGeom prst="rect">
            <a:avLst/>
          </a:prstGeom>
          <a:noFill/>
          <a:ln/>
        </p:spPr>
        <p:txBody>
          <a:bodyPr wrap="square" lIns="0" tIns="0" rIns="0" bIns="0" rtlCol="0" anchor="ctr"/>
          <a:lstStyle/>
          <a:p>
            <a:pPr marL="0" indent="0">
              <a:buNone/>
            </a:pPr>
            <a:r>
              <a:rPr lang="en-US" sz="1300" b="1" dirty="0">
                <a:solidFill>
                  <a:srgbClr val="1B2A57"/>
                </a:solidFill>
                <a:latin typeface="Cambria" pitchFamily="34" charset="0"/>
                <a:ea typeface="Cambria" pitchFamily="34" charset="-122"/>
                <a:cs typeface="Cambria" pitchFamily="34" charset="-120"/>
              </a:rPr>
              <a:t>β = Cov(Ri, Rm) / Var(Rm)</a:t>
            </a:r>
            <a:endParaRPr lang="en-US" sz="1300" dirty="0"/>
          </a:p>
        </p:txBody>
      </p:sp>
      <p:sp>
        <p:nvSpPr>
          <p:cNvPr id="55" name="Shape 53"/>
          <p:cNvSpPr/>
          <p:nvPr/>
        </p:nvSpPr>
        <p:spPr>
          <a:xfrm>
            <a:off x="8019288" y="4846320"/>
            <a:ext cx="3611880" cy="868680"/>
          </a:xfrm>
          <a:prstGeom prst="rect">
            <a:avLst/>
          </a:prstGeom>
          <a:solidFill>
            <a:srgbClr val="FFFFFF"/>
          </a:solidFill>
          <a:ln w="12700">
            <a:solidFill>
              <a:srgbClr val="D9DFEC"/>
            </a:solidFill>
            <a:prstDash val="solid"/>
          </a:ln>
        </p:spPr>
      </p:sp>
      <p:sp>
        <p:nvSpPr>
          <p:cNvPr id="56" name="Text 54"/>
          <p:cNvSpPr txBox="1"/>
          <p:nvPr/>
        </p:nvSpPr>
        <p:spPr>
          <a:xfrm>
            <a:off x="8183880" y="4937760"/>
            <a:ext cx="3282696" cy="256032"/>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CORRELATION-BASED BETA</a:t>
            </a:r>
            <a:endParaRPr lang="en-US" sz="950" dirty="0"/>
          </a:p>
        </p:txBody>
      </p:sp>
      <p:sp>
        <p:nvSpPr>
          <p:cNvPr id="57" name="Text 55"/>
          <p:cNvSpPr txBox="1"/>
          <p:nvPr/>
        </p:nvSpPr>
        <p:spPr>
          <a:xfrm>
            <a:off x="8183880" y="5193792"/>
            <a:ext cx="3282696" cy="457200"/>
          </a:xfrm>
          <a:prstGeom prst="rect">
            <a:avLst/>
          </a:prstGeom>
          <a:noFill/>
          <a:ln/>
        </p:spPr>
        <p:txBody>
          <a:bodyPr wrap="square" lIns="0" tIns="0" rIns="0" bIns="0" rtlCol="0" anchor="ctr"/>
          <a:lstStyle/>
          <a:p>
            <a:pPr marL="0" indent="0">
              <a:buNone/>
            </a:pPr>
            <a:r>
              <a:rPr lang="en-US" sz="1300" b="1" dirty="0">
                <a:solidFill>
                  <a:srgbClr val="1B2A57"/>
                </a:solidFill>
                <a:latin typeface="Cambria" pitchFamily="34" charset="0"/>
                <a:ea typeface="Cambria" pitchFamily="34" charset="-122"/>
                <a:cs typeface="Cambria" pitchFamily="34" charset="-120"/>
              </a:rPr>
              <a:t>β = Corr(Ri, Rm) × SD(Ri) / SD(Rm)</a:t>
            </a:r>
            <a:endParaRPr lang="en-US" sz="1300" dirty="0"/>
          </a:p>
        </p:txBody>
      </p:sp>
      <p:sp>
        <p:nvSpPr>
          <p:cNvPr id="58" name="Text 56"/>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59" name="Text 5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3</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DATA UNIVERSE</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Companies &amp; Benchmark</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6720840" cy="3584448"/>
        </p:xfrm>
        <a:graphic>
          <a:graphicData uri="http://schemas.openxmlformats.org/drawingml/2006/table">
            <a:tbl>
              <a:tblPr/>
              <a:tblGrid>
                <a:gridCol w="246888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965960">
                  <a:extLst>
                    <a:ext uri="{9D8B030D-6E8A-4147-A177-3AD203B41FA5}">
                      <a16:colId xmlns:a16="http://schemas.microsoft.com/office/drawing/2014/main" val="20002"/>
                    </a:ext>
                  </a:extLst>
                </a:gridCol>
              </a:tblGrid>
              <a:tr h="51206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Company / Index</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Role in Analysis</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extLst>
                  <a:ext uri="{0D108BD9-81ED-4DB2-BD59-A6C34878D82A}">
                    <a16:rowId xmlns:a16="http://schemas.microsoft.com/office/drawing/2014/main" val="10000"/>
                  </a:ext>
                </a:extLst>
              </a:tr>
              <a:tr h="512064">
                <a:tc>
                  <a:txBody>
                    <a:bodyPr/>
                    <a:lstStyle/>
                    <a:p>
                      <a:pPr marL="0" indent="0" algn="l">
                        <a:buNone/>
                      </a:pPr>
                      <a:r>
                        <a:rPr lang="en-US" sz="1200" b="1" dirty="0">
                          <a:solidFill>
                            <a:srgbClr val="1B2A57"/>
                          </a:solidFill>
                          <a:latin typeface="Calibri" pitchFamily="34" charset="0"/>
                          <a:ea typeface="Calibri" pitchFamily="34" charset="-122"/>
                          <a:cs typeface="Calibri" pitchFamily="34" charset="-120"/>
                        </a:rPr>
                        <a:t>MRF</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Tyre manufacturing</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Selected constituent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512064">
                <a:tc>
                  <a:txBody>
                    <a:bodyPr/>
                    <a:lstStyle/>
                    <a:p>
                      <a:pPr marL="0" indent="0" algn="l">
                        <a:buNone/>
                      </a:pPr>
                      <a:r>
                        <a:rPr lang="en-US" sz="1200" b="1" dirty="0">
                          <a:solidFill>
                            <a:srgbClr val="1B2A57"/>
                          </a:solidFill>
                          <a:latin typeface="Calibri" pitchFamily="34" charset="0"/>
                          <a:ea typeface="Calibri" pitchFamily="34" charset="-122"/>
                          <a:cs typeface="Calibri" pitchFamily="34" charset="-120"/>
                        </a:rPr>
                        <a:t>CEAT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Tyre manufacturing</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Selected constituent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lgn="l">
                        <a:buNone/>
                      </a:pPr>
                      <a:r>
                        <a:rPr lang="en-US" sz="1200" b="1" dirty="0">
                          <a:solidFill>
                            <a:srgbClr val="1B2A57"/>
                          </a:solidFill>
                          <a:latin typeface="Calibri" pitchFamily="34" charset="0"/>
                          <a:ea typeface="Calibri" pitchFamily="34" charset="-122"/>
                          <a:cs typeface="Calibri" pitchFamily="34" charset="-120"/>
                        </a:rPr>
                        <a:t>Apollo Tyres</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Tyre manufacturing</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Selected constituent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512064">
                <a:tc>
                  <a:txBody>
                    <a:bodyPr/>
                    <a:lstStyle/>
                    <a:p>
                      <a:pPr marL="0" indent="0" algn="l">
                        <a:buNone/>
                      </a:pPr>
                      <a:r>
                        <a:rPr lang="en-US" sz="1200" b="1" dirty="0">
                          <a:solidFill>
                            <a:srgbClr val="1B2A57"/>
                          </a:solidFill>
                          <a:latin typeface="Calibri" pitchFamily="34" charset="0"/>
                          <a:ea typeface="Calibri" pitchFamily="34" charset="-122"/>
                          <a:cs typeface="Calibri" pitchFamily="34" charset="-120"/>
                        </a:rPr>
                        <a:t>BLKI Tyres</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Tyre manufacturing</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Selected constituent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lgn="l">
                        <a:buNone/>
                      </a:pPr>
                      <a:r>
                        <a:rPr lang="en-US" sz="1200" b="1" dirty="0">
                          <a:solidFill>
                            <a:srgbClr val="1B2A57"/>
                          </a:solidFill>
                          <a:latin typeface="Calibri" pitchFamily="34" charset="0"/>
                          <a:ea typeface="Calibri" pitchFamily="34" charset="-122"/>
                          <a:cs typeface="Calibri" pitchFamily="34" charset="-120"/>
                        </a:rPr>
                        <a:t>VIAZ Tyres</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Tyre manufacturing</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l">
                        <a:buNone/>
                      </a:pPr>
                      <a:r>
                        <a:rPr lang="en-US" sz="1200" dirty="0">
                          <a:solidFill>
                            <a:srgbClr val="1B2A57"/>
                          </a:solidFill>
                          <a:latin typeface="Calibri" pitchFamily="34" charset="0"/>
                          <a:ea typeface="Calibri" pitchFamily="34" charset="-122"/>
                          <a:cs typeface="Calibri" pitchFamily="34" charset="-120"/>
                        </a:rPr>
                        <a:t>Selected constituent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r h="51206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NIFTY 50</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Broad market index</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l">
                        <a:buNone/>
                      </a:pPr>
                      <a:r>
                        <a:rPr lang="en-US" sz="1200" dirty="0">
                          <a:solidFill>
                            <a:srgbClr val="FFFFFF"/>
                          </a:solidFill>
                          <a:latin typeface="Calibri" pitchFamily="34" charset="0"/>
                          <a:ea typeface="Calibri" pitchFamily="34" charset="-122"/>
                          <a:cs typeface="Calibri" pitchFamily="34" charset="-120"/>
                        </a:rPr>
                        <a:t>Market benchmark</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extLst>
                  <a:ext uri="{0D108BD9-81ED-4DB2-BD59-A6C34878D82A}">
                    <a16:rowId xmlns:a16="http://schemas.microsoft.com/office/drawing/2014/main" val="10006"/>
                  </a:ext>
                </a:extLst>
              </a:tr>
            </a:tbl>
          </a:graphicData>
        </a:graphic>
      </p:graphicFrame>
      <p:sp>
        <p:nvSpPr>
          <p:cNvPr id="6" name="Shape 3"/>
          <p:cNvSpPr/>
          <p:nvPr/>
        </p:nvSpPr>
        <p:spPr>
          <a:xfrm>
            <a:off x="7543800" y="1481328"/>
            <a:ext cx="4069080" cy="3794760"/>
          </a:xfrm>
          <a:prstGeom prst="rect">
            <a:avLst/>
          </a:prstGeom>
          <a:solidFill>
            <a:srgbClr val="F5F7FB"/>
          </a:solidFill>
          <a:ln w="12700">
            <a:solidFill>
              <a:srgbClr val="D9DFEC"/>
            </a:solidFill>
            <a:prstDash val="solid"/>
          </a:ln>
        </p:spPr>
      </p:sp>
      <p:sp>
        <p:nvSpPr>
          <p:cNvPr id="7" name="Text 4"/>
          <p:cNvSpPr txBox="1"/>
          <p:nvPr/>
        </p:nvSpPr>
        <p:spPr>
          <a:xfrm>
            <a:off x="7818120" y="1691640"/>
            <a:ext cx="356616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DATA PARAMETERS</a:t>
            </a:r>
            <a:endParaRPr lang="en-US" sz="1050" dirty="0"/>
          </a:p>
        </p:txBody>
      </p:sp>
      <p:sp>
        <p:nvSpPr>
          <p:cNvPr id="8" name="Text 5"/>
          <p:cNvSpPr txBox="1"/>
          <p:nvPr/>
        </p:nvSpPr>
        <p:spPr>
          <a:xfrm>
            <a:off x="7818120" y="2103120"/>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PERIOD</a:t>
            </a:r>
            <a:endParaRPr lang="en-US" sz="950" dirty="0"/>
          </a:p>
        </p:txBody>
      </p:sp>
      <p:sp>
        <p:nvSpPr>
          <p:cNvPr id="9" name="Text 6"/>
          <p:cNvSpPr txBox="1"/>
          <p:nvPr/>
        </p:nvSpPr>
        <p:spPr>
          <a:xfrm>
            <a:off x="7818120" y="2304288"/>
            <a:ext cx="3566160" cy="310896"/>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January 2024 – January 2025</a:t>
            </a:r>
            <a:endParaRPr lang="en-US" sz="1300" dirty="0"/>
          </a:p>
        </p:txBody>
      </p:sp>
      <p:sp>
        <p:nvSpPr>
          <p:cNvPr id="10" name="Text 7"/>
          <p:cNvSpPr txBox="1"/>
          <p:nvPr/>
        </p:nvSpPr>
        <p:spPr>
          <a:xfrm>
            <a:off x="7818120" y="2670048"/>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FREQUENCY</a:t>
            </a:r>
            <a:endParaRPr lang="en-US" sz="950" dirty="0"/>
          </a:p>
        </p:txBody>
      </p:sp>
      <p:sp>
        <p:nvSpPr>
          <p:cNvPr id="11" name="Text 8"/>
          <p:cNvSpPr txBox="1"/>
          <p:nvPr/>
        </p:nvSpPr>
        <p:spPr>
          <a:xfrm>
            <a:off x="7818120" y="2871216"/>
            <a:ext cx="3566160" cy="310896"/>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Monthly</a:t>
            </a:r>
            <a:endParaRPr lang="en-US" sz="1300" dirty="0"/>
          </a:p>
        </p:txBody>
      </p:sp>
      <p:sp>
        <p:nvSpPr>
          <p:cNvPr id="12" name="Text 9"/>
          <p:cNvSpPr txBox="1"/>
          <p:nvPr/>
        </p:nvSpPr>
        <p:spPr>
          <a:xfrm>
            <a:off x="7818120" y="3236976"/>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DATA POINTS</a:t>
            </a:r>
            <a:endParaRPr lang="en-US" sz="950" dirty="0"/>
          </a:p>
        </p:txBody>
      </p:sp>
      <p:sp>
        <p:nvSpPr>
          <p:cNvPr id="13" name="Text 10"/>
          <p:cNvSpPr txBox="1"/>
          <p:nvPr/>
        </p:nvSpPr>
        <p:spPr>
          <a:xfrm>
            <a:off x="7818120" y="3438144"/>
            <a:ext cx="3566160" cy="310896"/>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14 monthly prices (13 return observations)</a:t>
            </a:r>
            <a:endParaRPr lang="en-US" sz="1300" dirty="0"/>
          </a:p>
        </p:txBody>
      </p:sp>
      <p:sp>
        <p:nvSpPr>
          <p:cNvPr id="14" name="Text 11"/>
          <p:cNvSpPr txBox="1"/>
          <p:nvPr/>
        </p:nvSpPr>
        <p:spPr>
          <a:xfrm>
            <a:off x="7818120" y="3803904"/>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COMPANIES ANALYZED</a:t>
            </a:r>
            <a:endParaRPr lang="en-US" sz="950" dirty="0"/>
          </a:p>
        </p:txBody>
      </p:sp>
      <p:sp>
        <p:nvSpPr>
          <p:cNvPr id="15" name="Text 12"/>
          <p:cNvSpPr txBox="1"/>
          <p:nvPr/>
        </p:nvSpPr>
        <p:spPr>
          <a:xfrm>
            <a:off x="7818120" y="4005072"/>
            <a:ext cx="3566160" cy="310896"/>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5</a:t>
            </a:r>
            <a:endParaRPr lang="en-US" sz="1300" dirty="0"/>
          </a:p>
        </p:txBody>
      </p:sp>
      <p:sp>
        <p:nvSpPr>
          <p:cNvPr id="16" name="Text 13"/>
          <p:cNvSpPr txBox="1"/>
          <p:nvPr/>
        </p:nvSpPr>
        <p:spPr>
          <a:xfrm>
            <a:off x="7818120" y="4370832"/>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BENCHMARK</a:t>
            </a:r>
            <a:endParaRPr lang="en-US" sz="950" dirty="0"/>
          </a:p>
        </p:txBody>
      </p:sp>
      <p:sp>
        <p:nvSpPr>
          <p:cNvPr id="17" name="Text 14"/>
          <p:cNvSpPr txBox="1"/>
          <p:nvPr/>
        </p:nvSpPr>
        <p:spPr>
          <a:xfrm>
            <a:off x="7818120" y="4572000"/>
            <a:ext cx="3566160" cy="310896"/>
          </a:xfrm>
          <a:prstGeom prst="rect">
            <a:avLst/>
          </a:prstGeom>
          <a:noFill/>
          <a:ln/>
        </p:spPr>
        <p:txBody>
          <a:bodyPr wrap="square" lIns="0" tIns="0" rIns="0" bIns="0" rtlCol="0" anchor="ctr"/>
          <a:lstStyle/>
          <a:p>
            <a:pPr marL="0" indent="0">
              <a:buNone/>
            </a:pPr>
            <a:r>
              <a:rPr lang="en-US" sz="1300" b="1" dirty="0">
                <a:solidFill>
                  <a:srgbClr val="1B2A57"/>
                </a:solidFill>
                <a:latin typeface="Calibri" pitchFamily="34" charset="0"/>
                <a:ea typeface="Calibri" pitchFamily="34" charset="-122"/>
                <a:cs typeface="Calibri" pitchFamily="34" charset="-120"/>
              </a:rPr>
              <a:t>NIFTY 50</a:t>
            </a:r>
            <a:endParaRPr lang="en-US" sz="1300" dirty="0"/>
          </a:p>
        </p:txBody>
      </p:sp>
      <p:sp>
        <p:nvSpPr>
          <p:cNvPr id="18" name="Text 15"/>
          <p:cNvSpPr txBox="1"/>
          <p:nvPr/>
        </p:nvSpPr>
        <p:spPr>
          <a:xfrm>
            <a:off x="548640" y="5257800"/>
            <a:ext cx="11064240" cy="457200"/>
          </a:xfrm>
          <a:prstGeom prst="rect">
            <a:avLst/>
          </a:prstGeom>
          <a:noFill/>
          <a:ln/>
        </p:spPr>
        <p:txBody>
          <a:bodyPr wrap="square" lIns="0" tIns="0" rIns="0" bIns="0" rtlCol="0" anchor="ctr"/>
          <a:lstStyle/>
          <a:p>
            <a:pPr marL="0" indent="0">
              <a:buNone/>
            </a:pPr>
            <a:r>
              <a:rPr lang="en-US" sz="1150" i="1" dirty="0">
                <a:solidFill>
                  <a:srgbClr val="5C6788"/>
                </a:solidFill>
                <a:latin typeface="Calibri" pitchFamily="34" charset="0"/>
                <a:ea typeface="Calibri" pitchFamily="34" charset="-122"/>
                <a:cs typeface="Calibri" pitchFamily="34" charset="-120"/>
              </a:rPr>
              <a:t>Companies selected from the same industry (tyre manufacturing) to enable direct comparability of risk and return behaviour.</a:t>
            </a:r>
            <a:endParaRPr lang="en-US" sz="1150" dirty="0"/>
          </a:p>
        </p:txBody>
      </p:sp>
      <p:sp>
        <p:nvSpPr>
          <p:cNvPr id="19" name="Text 16"/>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20" name="Text 17"/>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4</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PERFORMANCE</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Return Analysis — Mean Monthly Return</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Chart 0"/>
          <p:cNvGraphicFramePr/>
          <p:nvPr/>
        </p:nvGraphicFramePr>
        <p:xfrm>
          <a:off x="548640" y="1463040"/>
          <a:ext cx="6903720" cy="416052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7635240" y="1463040"/>
            <a:ext cx="3977640" cy="4160520"/>
          </a:xfrm>
          <a:prstGeom prst="rect">
            <a:avLst/>
          </a:prstGeom>
          <a:solidFill>
            <a:srgbClr val="F5F7FB"/>
          </a:solidFill>
          <a:ln w="12700">
            <a:solidFill>
              <a:srgbClr val="D9DFEC"/>
            </a:solidFill>
            <a:prstDash val="solid"/>
          </a:ln>
        </p:spPr>
      </p:sp>
      <p:sp>
        <p:nvSpPr>
          <p:cNvPr id="7" name="Text 4"/>
          <p:cNvSpPr txBox="1"/>
          <p:nvPr/>
        </p:nvSpPr>
        <p:spPr>
          <a:xfrm>
            <a:off x="7863840" y="1664208"/>
            <a:ext cx="356616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KEY OBSERVATIONS</a:t>
            </a:r>
            <a:endParaRPr lang="en-US" sz="1050" dirty="0"/>
          </a:p>
        </p:txBody>
      </p:sp>
      <p:sp>
        <p:nvSpPr>
          <p:cNvPr id="8" name="Text 5"/>
          <p:cNvSpPr txBox="1"/>
          <p:nvPr/>
        </p:nvSpPr>
        <p:spPr>
          <a:xfrm>
            <a:off x="7863840" y="1920240"/>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HIGHEST RETURN — CEAT</a:t>
            </a:r>
            <a:endParaRPr lang="en-US" sz="950" dirty="0"/>
          </a:p>
        </p:txBody>
      </p:sp>
      <p:sp>
        <p:nvSpPr>
          <p:cNvPr id="9" name="Text 6"/>
          <p:cNvSpPr txBox="1"/>
          <p:nvPr/>
        </p:nvSpPr>
        <p:spPr>
          <a:xfrm>
            <a:off x="7863840" y="2139696"/>
            <a:ext cx="3566160" cy="411480"/>
          </a:xfrm>
          <a:prstGeom prst="rect">
            <a:avLst/>
          </a:prstGeom>
          <a:noFill/>
          <a:ln/>
        </p:spPr>
        <p:txBody>
          <a:bodyPr wrap="square" lIns="0" tIns="0" rIns="0" bIns="0" rtlCol="0" anchor="ctr"/>
          <a:lstStyle/>
          <a:p>
            <a:pPr marL="0" indent="0">
              <a:buNone/>
            </a:pPr>
            <a:r>
              <a:rPr lang="en-US" sz="2400" b="1" dirty="0">
                <a:solidFill>
                  <a:srgbClr val="1B2A57"/>
                </a:solidFill>
                <a:latin typeface="Cambria" pitchFamily="34" charset="0"/>
                <a:ea typeface="Cambria" pitchFamily="34" charset="-122"/>
                <a:cs typeface="Cambria" pitchFamily="34" charset="-120"/>
              </a:rPr>
              <a:t>+1.72%</a:t>
            </a:r>
            <a:endParaRPr lang="en-US" sz="2400" dirty="0"/>
          </a:p>
        </p:txBody>
      </p:sp>
      <p:sp>
        <p:nvSpPr>
          <p:cNvPr id="10" name="Text 7"/>
          <p:cNvSpPr txBox="1"/>
          <p:nvPr/>
        </p:nvSpPr>
        <p:spPr>
          <a:xfrm>
            <a:off x="7863840" y="2606040"/>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LOWEST RETURN — MRF</a:t>
            </a:r>
            <a:endParaRPr lang="en-US" sz="950" dirty="0"/>
          </a:p>
        </p:txBody>
      </p:sp>
      <p:sp>
        <p:nvSpPr>
          <p:cNvPr id="11" name="Text 8"/>
          <p:cNvSpPr txBox="1"/>
          <p:nvPr/>
        </p:nvSpPr>
        <p:spPr>
          <a:xfrm>
            <a:off x="7863840" y="2825496"/>
            <a:ext cx="3566160" cy="411480"/>
          </a:xfrm>
          <a:prstGeom prst="rect">
            <a:avLst/>
          </a:prstGeom>
          <a:noFill/>
          <a:ln/>
        </p:spPr>
        <p:txBody>
          <a:bodyPr wrap="square" lIns="0" tIns="0" rIns="0" bIns="0" rtlCol="0" anchor="ctr"/>
          <a:lstStyle/>
          <a:p>
            <a:pPr marL="0" indent="0">
              <a:buNone/>
            </a:pPr>
            <a:r>
              <a:rPr lang="en-US" sz="2400" b="1" dirty="0">
                <a:solidFill>
                  <a:srgbClr val="9B2C2C"/>
                </a:solidFill>
                <a:latin typeface="Cambria" pitchFamily="34" charset="0"/>
                <a:ea typeface="Cambria" pitchFamily="34" charset="-122"/>
                <a:cs typeface="Cambria" pitchFamily="34" charset="-120"/>
              </a:rPr>
              <a:t>-0.74%</a:t>
            </a:r>
            <a:endParaRPr lang="en-US" sz="2400" dirty="0"/>
          </a:p>
        </p:txBody>
      </p:sp>
      <p:sp>
        <p:nvSpPr>
          <p:cNvPr id="12" name="Text 9"/>
          <p:cNvSpPr txBox="1"/>
          <p:nvPr/>
        </p:nvSpPr>
        <p:spPr>
          <a:xfrm>
            <a:off x="7863840" y="3291840"/>
            <a:ext cx="3566160" cy="219456"/>
          </a:xfrm>
          <a:prstGeom prst="rect">
            <a:avLst/>
          </a:prstGeom>
          <a:noFill/>
          <a:ln/>
        </p:spPr>
        <p:txBody>
          <a:bodyPr wrap="square" lIns="0" tIns="0" rIns="0" bIns="0" rtlCol="0" anchor="ctr"/>
          <a:lstStyle/>
          <a:p>
            <a:pPr marL="0" indent="0">
              <a:buNone/>
            </a:pPr>
            <a:r>
              <a:rPr lang="en-US" sz="950" b="1" dirty="0">
                <a:solidFill>
                  <a:srgbClr val="5C6788"/>
                </a:solidFill>
                <a:latin typeface="Calibri" pitchFamily="34" charset="0"/>
                <a:ea typeface="Calibri" pitchFamily="34" charset="-122"/>
                <a:cs typeface="Calibri" pitchFamily="34" charset="-120"/>
              </a:rPr>
              <a:t>NIFTY 50 BENCHMARK</a:t>
            </a:r>
            <a:endParaRPr lang="en-US" sz="950" dirty="0"/>
          </a:p>
        </p:txBody>
      </p:sp>
      <p:sp>
        <p:nvSpPr>
          <p:cNvPr id="13" name="Text 10"/>
          <p:cNvSpPr txBox="1"/>
          <p:nvPr/>
        </p:nvSpPr>
        <p:spPr>
          <a:xfrm>
            <a:off x="7863840" y="3511296"/>
            <a:ext cx="3566160" cy="411480"/>
          </a:xfrm>
          <a:prstGeom prst="rect">
            <a:avLst/>
          </a:prstGeom>
          <a:noFill/>
          <a:ln/>
        </p:spPr>
        <p:txBody>
          <a:bodyPr wrap="square" lIns="0" tIns="0" rIns="0" bIns="0" rtlCol="0" anchor="ctr"/>
          <a:lstStyle/>
          <a:p>
            <a:pPr marL="0" indent="0">
              <a:buNone/>
            </a:pPr>
            <a:r>
              <a:rPr lang="en-US" sz="2400" b="1" dirty="0">
                <a:solidFill>
                  <a:srgbClr val="B8934A"/>
                </a:solidFill>
                <a:latin typeface="Cambria" pitchFamily="34" charset="0"/>
                <a:ea typeface="Cambria" pitchFamily="34" charset="-122"/>
                <a:cs typeface="Cambria" pitchFamily="34" charset="-120"/>
              </a:rPr>
              <a:t>+0.65%</a:t>
            </a:r>
            <a:endParaRPr lang="en-US" sz="2400" dirty="0"/>
          </a:p>
        </p:txBody>
      </p:sp>
      <p:sp>
        <p:nvSpPr>
          <p:cNvPr id="14" name="Shape 11"/>
          <p:cNvSpPr/>
          <p:nvPr/>
        </p:nvSpPr>
        <p:spPr>
          <a:xfrm>
            <a:off x="7863840" y="4041648"/>
            <a:ext cx="3520440" cy="0"/>
          </a:xfrm>
          <a:prstGeom prst="line">
            <a:avLst/>
          </a:prstGeom>
          <a:noFill/>
          <a:ln w="12700">
            <a:solidFill>
              <a:srgbClr val="D9DFEC"/>
            </a:solidFill>
            <a:prstDash val="solid"/>
          </a:ln>
        </p:spPr>
      </p:sp>
      <p:sp>
        <p:nvSpPr>
          <p:cNvPr id="15" name="Text 12"/>
          <p:cNvSpPr txBox="1"/>
          <p:nvPr/>
        </p:nvSpPr>
        <p:spPr>
          <a:xfrm>
            <a:off x="7863840" y="4187952"/>
            <a:ext cx="3566160" cy="1371600"/>
          </a:xfrm>
          <a:prstGeom prst="rect">
            <a:avLst/>
          </a:prstGeom>
          <a:noFill/>
          <a:ln/>
        </p:spPr>
        <p:txBody>
          <a:bodyPr wrap="square" lIns="0" tIns="0" rIns="0" bIns="0" rtlCol="0" anchor="ctr"/>
          <a:lstStyle/>
          <a:p>
            <a:pPr marL="0" indent="0">
              <a:lnSpc>
                <a:spcPct val="115000"/>
              </a:lnSpc>
              <a:buNone/>
            </a:pPr>
            <a:r>
              <a:rPr lang="en-US" sz="1050" dirty="0">
                <a:solidFill>
                  <a:srgbClr val="1B2A57"/>
                </a:solidFill>
                <a:latin typeface="Calibri" pitchFamily="34" charset="0"/>
                <a:ea typeface="Calibri" pitchFamily="34" charset="-122"/>
                <a:cs typeface="Calibri" pitchFamily="34" charset="-120"/>
              </a:rPr>
              <a:t>CEAT and BLKI outperformed the NIFTY 50 benchmark on average monthly return.
</a:t>
            </a:r>
            <a:endParaRPr lang="en-US" sz="1050" dirty="0"/>
          </a:p>
          <a:p>
            <a:pPr marL="0" indent="0">
              <a:lnSpc>
                <a:spcPct val="115000"/>
              </a:lnSpc>
              <a:buNone/>
            </a:pPr>
            <a:r>
              <a:rPr lang="en-US" sz="1050" dirty="0">
                <a:solidFill>
                  <a:srgbClr val="1B2A57"/>
                </a:solidFill>
                <a:latin typeface="Calibri" pitchFamily="34" charset="0"/>
                <a:ea typeface="Calibri" pitchFamily="34" charset="-122"/>
                <a:cs typeface="Calibri" pitchFamily="34" charset="-120"/>
              </a:rPr>
              <a:t>MRF was the only company with a negative mean return over the period.
</a:t>
            </a:r>
            <a:endParaRPr lang="en-US" sz="1050" dirty="0"/>
          </a:p>
          <a:p>
            <a:pPr marL="0" indent="0">
              <a:lnSpc>
                <a:spcPct val="115000"/>
              </a:lnSpc>
              <a:buNone/>
            </a:pPr>
            <a:r>
              <a:rPr lang="en-US" sz="1050" dirty="0">
                <a:solidFill>
                  <a:srgbClr val="1B2A57"/>
                </a:solidFill>
                <a:latin typeface="Calibri" pitchFamily="34" charset="0"/>
                <a:ea typeface="Calibri" pitchFamily="34" charset="-122"/>
                <a:cs typeface="Calibri" pitchFamily="34" charset="-120"/>
              </a:rPr>
              <a:t>Apollo and VIAZ delivered modest positive returns, trailing the benchmark.</a:t>
            </a:r>
            <a:endParaRPr lang="en-US" sz="1050" dirty="0"/>
          </a:p>
        </p:txBody>
      </p:sp>
      <p:sp>
        <p:nvSpPr>
          <p:cNvPr id="16" name="Text 13"/>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17" name="Text 1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5</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RISK ANALYSIS</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Market Variance</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sp>
        <p:nvSpPr>
          <p:cNvPr id="5" name="Shape 3"/>
          <p:cNvSpPr/>
          <p:nvPr/>
        </p:nvSpPr>
        <p:spPr>
          <a:xfrm>
            <a:off x="548640" y="1600200"/>
            <a:ext cx="4206240" cy="4023360"/>
          </a:xfrm>
          <a:prstGeom prst="rect">
            <a:avLst/>
          </a:prstGeom>
          <a:solidFill>
            <a:srgbClr val="1B2A57"/>
          </a:solidFill>
          <a:ln/>
        </p:spPr>
      </p:sp>
      <p:sp>
        <p:nvSpPr>
          <p:cNvPr id="6" name="Text 4"/>
          <p:cNvSpPr txBox="1"/>
          <p:nvPr/>
        </p:nvSpPr>
        <p:spPr>
          <a:xfrm>
            <a:off x="822960" y="1920240"/>
            <a:ext cx="3657600" cy="365760"/>
          </a:xfrm>
          <a:prstGeom prst="rect">
            <a:avLst/>
          </a:prstGeom>
          <a:noFill/>
          <a:ln/>
        </p:spPr>
        <p:txBody>
          <a:bodyPr wrap="square" lIns="0" tIns="0" rIns="0" bIns="0" rtlCol="0" anchor="ctr"/>
          <a:lstStyle/>
          <a:p>
            <a:pPr marL="0" indent="0">
              <a:buNone/>
            </a:pPr>
            <a:r>
              <a:rPr lang="en-US" sz="1150" b="1" kern="0" spc="100" dirty="0">
                <a:solidFill>
                  <a:srgbClr val="CADCFC"/>
                </a:solidFill>
                <a:latin typeface="Calibri" pitchFamily="34" charset="0"/>
                <a:ea typeface="Calibri" pitchFamily="34" charset="-122"/>
                <a:cs typeface="Calibri" pitchFamily="34" charset="-120"/>
              </a:rPr>
              <a:t>NIFTY 50 — MARKET VARIANCE</a:t>
            </a:r>
            <a:endParaRPr lang="en-US" sz="1150" dirty="0"/>
          </a:p>
        </p:txBody>
      </p:sp>
      <p:sp>
        <p:nvSpPr>
          <p:cNvPr id="7" name="Text 5"/>
          <p:cNvSpPr txBox="1"/>
          <p:nvPr/>
        </p:nvSpPr>
        <p:spPr>
          <a:xfrm>
            <a:off x="822960" y="2423160"/>
            <a:ext cx="3657600" cy="1005840"/>
          </a:xfrm>
          <a:prstGeom prst="rect">
            <a:avLst/>
          </a:prstGeom>
          <a:noFill/>
          <a:ln/>
        </p:spPr>
        <p:txBody>
          <a:bodyPr wrap="square" lIns="0" tIns="0" rIns="0" bIns="0" rtlCol="0" anchor="ctr"/>
          <a:lstStyle/>
          <a:p>
            <a:pPr marL="0" indent="0">
              <a:buNone/>
            </a:pPr>
            <a:r>
              <a:rPr lang="en-US" sz="5200" b="1" dirty="0">
                <a:solidFill>
                  <a:srgbClr val="FFFFFF"/>
                </a:solidFill>
                <a:latin typeface="Cambria" pitchFamily="34" charset="0"/>
                <a:ea typeface="Cambria" pitchFamily="34" charset="-122"/>
                <a:cs typeface="Cambria" pitchFamily="34" charset="-120"/>
              </a:rPr>
              <a:t>0.0833%</a:t>
            </a:r>
            <a:endParaRPr lang="en-US" sz="5200" dirty="0"/>
          </a:p>
        </p:txBody>
      </p:sp>
      <p:sp>
        <p:nvSpPr>
          <p:cNvPr id="8" name="Text 6"/>
          <p:cNvSpPr txBox="1"/>
          <p:nvPr/>
        </p:nvSpPr>
        <p:spPr>
          <a:xfrm>
            <a:off x="822960" y="3520440"/>
            <a:ext cx="3611880" cy="731520"/>
          </a:xfrm>
          <a:prstGeom prst="rect">
            <a:avLst/>
          </a:prstGeom>
          <a:noFill/>
          <a:ln/>
        </p:spPr>
        <p:txBody>
          <a:bodyPr wrap="square" lIns="0" tIns="0" rIns="0" bIns="0" rtlCol="0" anchor="ctr"/>
          <a:lstStyle/>
          <a:p>
            <a:pPr marL="0" indent="0">
              <a:buNone/>
            </a:pPr>
            <a:r>
              <a:rPr lang="en-US" sz="1100" i="1" dirty="0">
                <a:solidFill>
                  <a:srgbClr val="CADCFC"/>
                </a:solidFill>
                <a:latin typeface="Calibri" pitchFamily="34" charset="0"/>
                <a:ea typeface="Calibri" pitchFamily="34" charset="-122"/>
                <a:cs typeface="Calibri" pitchFamily="34" charset="-120"/>
              </a:rPr>
              <a:t>Variance of monthly market returns about the mean (σ² = Σ(Rm − R̄m)² / 13)</a:t>
            </a:r>
            <a:endParaRPr lang="en-US" sz="1100" dirty="0"/>
          </a:p>
        </p:txBody>
      </p:sp>
      <p:sp>
        <p:nvSpPr>
          <p:cNvPr id="9" name="Shape 7"/>
          <p:cNvSpPr/>
          <p:nvPr/>
        </p:nvSpPr>
        <p:spPr>
          <a:xfrm>
            <a:off x="822960" y="4434840"/>
            <a:ext cx="3566160" cy="0"/>
          </a:xfrm>
          <a:prstGeom prst="line">
            <a:avLst/>
          </a:prstGeom>
          <a:noFill/>
          <a:ln w="19050">
            <a:solidFill>
              <a:srgbClr val="2E3F73"/>
            </a:solidFill>
            <a:prstDash val="solid"/>
          </a:ln>
        </p:spPr>
      </p:sp>
      <p:sp>
        <p:nvSpPr>
          <p:cNvPr id="10" name="Text 8"/>
          <p:cNvSpPr txBox="1"/>
          <p:nvPr/>
        </p:nvSpPr>
        <p:spPr>
          <a:xfrm>
            <a:off x="822960" y="4617720"/>
            <a:ext cx="3611880" cy="91440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This is the sole variance figure computed in the source analysis. It quantifies the dispersion of NIFTY 50 monthly returns around their mean and forms the denominator used to calculate each company's beta.</a:t>
            </a:r>
            <a:endParaRPr lang="en-US" sz="1100" dirty="0"/>
          </a:p>
        </p:txBody>
      </p:sp>
      <p:sp>
        <p:nvSpPr>
          <p:cNvPr id="11" name="Text 9"/>
          <p:cNvSpPr txBox="1"/>
          <p:nvPr/>
        </p:nvSpPr>
        <p:spPr>
          <a:xfrm>
            <a:off x="5074920" y="1600200"/>
            <a:ext cx="6583680" cy="320040"/>
          </a:xfrm>
          <a:prstGeom prst="rect">
            <a:avLst/>
          </a:prstGeom>
          <a:noFill/>
          <a:ln/>
        </p:spPr>
        <p:txBody>
          <a:bodyPr wrap="square" lIns="0" tIns="0" rIns="0" bIns="0" rtlCol="0" anchor="ctr"/>
          <a:lstStyle/>
          <a:p>
            <a:pPr marL="0" indent="0">
              <a:buNone/>
            </a:pPr>
            <a:r>
              <a:rPr lang="en-US" sz="1600" b="1" dirty="0">
                <a:solidFill>
                  <a:srgbClr val="1B2A57"/>
                </a:solidFill>
                <a:latin typeface="Cambria" pitchFamily="34" charset="0"/>
                <a:ea typeface="Cambria" pitchFamily="34" charset="-122"/>
                <a:cs typeface="Cambria" pitchFamily="34" charset="-120"/>
              </a:rPr>
              <a:t>What Variance Indicates</a:t>
            </a:r>
            <a:endParaRPr lang="en-US" sz="1600" dirty="0"/>
          </a:p>
        </p:txBody>
      </p:sp>
      <p:sp>
        <p:nvSpPr>
          <p:cNvPr id="12" name="Text 10"/>
          <p:cNvSpPr txBox="1"/>
          <p:nvPr/>
        </p:nvSpPr>
        <p:spPr>
          <a:xfrm>
            <a:off x="5074920" y="2057400"/>
            <a:ext cx="6583680" cy="2926080"/>
          </a:xfrm>
          <a:prstGeom prst="rect">
            <a:avLst/>
          </a:prstGeom>
          <a:noFill/>
          <a:ln/>
        </p:spPr>
        <p:txBody>
          <a:bodyPr wrap="square" lIns="0" tIns="0" rIns="0" bIns="0" rtlCol="0" anchor="ctr"/>
          <a:lstStyle/>
          <a:p>
            <a:pPr marL="177800" indent="-177800">
              <a:lnSpc>
                <a:spcPct val="120000"/>
              </a:lnSpc>
              <a:spcAft>
                <a:spcPts val="1400"/>
              </a:spcAft>
              <a:buSzPct val="100000"/>
              <a:buChar char="•"/>
            </a:pPr>
            <a:r>
              <a:rPr lang="en-US" sz="1300" dirty="0">
                <a:solidFill>
                  <a:srgbClr val="1B2A57"/>
                </a:solidFill>
                <a:latin typeface="Calibri" pitchFamily="34" charset="0"/>
                <a:ea typeface="Calibri" pitchFamily="34" charset="-122"/>
                <a:cs typeface="Calibri" pitchFamily="34" charset="-120"/>
              </a:rPr>
              <a:t>Variance measures how far monthly returns fluctuate from their average — a higher value signals greater unpredictability in returns.</a:t>
            </a:r>
            <a:endParaRPr lang="en-US" sz="1300" dirty="0"/>
          </a:p>
          <a:p>
            <a:pPr marL="177800" indent="-177800">
              <a:lnSpc>
                <a:spcPct val="120000"/>
              </a:lnSpc>
              <a:spcAft>
                <a:spcPts val="1400"/>
              </a:spcAft>
              <a:buSzPct val="100000"/>
              <a:buChar char="•"/>
            </a:pPr>
            <a:r>
              <a:rPr lang="en-US" sz="1300" dirty="0">
                <a:solidFill>
                  <a:srgbClr val="1B2A57"/>
                </a:solidFill>
                <a:latin typeface="Calibri" pitchFamily="34" charset="0"/>
                <a:ea typeface="Calibri" pitchFamily="34" charset="-122"/>
                <a:cs typeface="Calibri" pitchFamily="34" charset="-120"/>
              </a:rPr>
              <a:t>The NIFTY 50 monthly variance of 0.0833% reflects the degree of fluctuation inherent in the broad market over the study period.</a:t>
            </a:r>
            <a:endParaRPr lang="en-US" sz="1300" dirty="0"/>
          </a:p>
          <a:p>
            <a:pPr marL="177800" indent="-177800">
              <a:lnSpc>
                <a:spcPct val="120000"/>
              </a:lnSpc>
              <a:spcAft>
                <a:spcPts val="1400"/>
              </a:spcAft>
              <a:buSzPct val="100000"/>
              <a:buChar char="•"/>
            </a:pPr>
            <a:r>
              <a:rPr lang="en-US" sz="1300" dirty="0">
                <a:solidFill>
                  <a:srgbClr val="1B2A57"/>
                </a:solidFill>
                <a:latin typeface="Calibri" pitchFamily="34" charset="0"/>
                <a:ea typeface="Calibri" pitchFamily="34" charset="-122"/>
                <a:cs typeface="Calibri" pitchFamily="34" charset="-120"/>
              </a:rPr>
              <a:t>This benchmark dispersion is the reference point against which each company's covariance is scaled to derive beta.</a:t>
            </a:r>
            <a:endParaRPr lang="en-US" sz="1300" dirty="0"/>
          </a:p>
          <a:p>
            <a:pPr marL="177800" indent="-177800">
              <a:lnSpc>
                <a:spcPct val="120000"/>
              </a:lnSpc>
              <a:spcAft>
                <a:spcPts val="1400"/>
              </a:spcAft>
              <a:buSzPct val="100000"/>
              <a:buChar char="•"/>
            </a:pPr>
            <a:r>
              <a:rPr lang="en-US" sz="1300" dirty="0">
                <a:solidFill>
                  <a:srgbClr val="1B2A57"/>
                </a:solidFill>
                <a:latin typeface="Calibri" pitchFamily="34" charset="0"/>
                <a:ea typeface="Calibri" pitchFamily="34" charset="-122"/>
                <a:cs typeface="Calibri" pitchFamily="34" charset="-120"/>
              </a:rPr>
              <a:t>A market with low variance provides a more stable baseline, making any company's beta a cleaner read on relative volatility.</a:t>
            </a:r>
            <a:endParaRPr lang="en-US" sz="1300" dirty="0"/>
          </a:p>
        </p:txBody>
      </p:sp>
      <p:sp>
        <p:nvSpPr>
          <p:cNvPr id="13" name="Shape 11"/>
          <p:cNvSpPr/>
          <p:nvPr/>
        </p:nvSpPr>
        <p:spPr>
          <a:xfrm>
            <a:off x="5074920" y="5120640"/>
            <a:ext cx="6583680" cy="566928"/>
          </a:xfrm>
          <a:prstGeom prst="rect">
            <a:avLst/>
          </a:prstGeom>
          <a:solidFill>
            <a:srgbClr val="F5F7FB"/>
          </a:solidFill>
          <a:ln w="12700">
            <a:solidFill>
              <a:srgbClr val="D9DFEC"/>
            </a:solidFill>
            <a:prstDash val="solid"/>
          </a:ln>
        </p:spPr>
      </p:sp>
      <p:sp>
        <p:nvSpPr>
          <p:cNvPr id="14" name="Text 12"/>
          <p:cNvSpPr txBox="1"/>
          <p:nvPr/>
        </p:nvSpPr>
        <p:spPr>
          <a:xfrm>
            <a:off x="5303520" y="5120640"/>
            <a:ext cx="6172200" cy="566928"/>
          </a:xfrm>
          <a:prstGeom prst="rect">
            <a:avLst/>
          </a:prstGeom>
          <a:noFill/>
          <a:ln/>
        </p:spPr>
        <p:txBody>
          <a:bodyPr wrap="square" lIns="0" tIns="0" rIns="0" bIns="0" rtlCol="0" anchor="ctr"/>
          <a:lstStyle/>
          <a:p>
            <a:pPr marL="0" indent="0">
              <a:buNone/>
            </a:pPr>
            <a:r>
              <a:rPr lang="en-US" sz="1050" b="1" dirty="0">
                <a:solidFill>
                  <a:srgbClr val="1B2A57"/>
                </a:solidFill>
                <a:latin typeface="Calibri" pitchFamily="34" charset="0"/>
                <a:ea typeface="Calibri" pitchFamily="34" charset="-122"/>
                <a:cs typeface="Calibri" pitchFamily="34" charset="-120"/>
              </a:rPr>
              <a:t>NOTE:  </a:t>
            </a:r>
            <a:r>
              <a:rPr lang="en-US" sz="1050" dirty="0">
                <a:solidFill>
                  <a:srgbClr val="1B2A57"/>
                </a:solidFill>
                <a:latin typeface="Calibri" pitchFamily="34" charset="0"/>
                <a:ea typeface="Calibri" pitchFamily="34" charset="-122"/>
                <a:cs typeface="Calibri" pitchFamily="34" charset="-120"/>
              </a:rPr>
              <a:t>Individual company-level variance figures are not computed in the Part A source; the analysis relies on covariance and beta to characterize each stock's risk relative to the market.</a:t>
            </a:r>
            <a:endParaRPr lang="en-US" sz="1050" dirty="0"/>
          </a:p>
        </p:txBody>
      </p:sp>
      <p:sp>
        <p:nvSpPr>
          <p:cNvPr id="15" name="Text 13"/>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16" name="Text 14"/>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6</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CO-MOVEMENT</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Covariance Analysis</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5989320" cy="3072384"/>
        </p:xfrm>
        <a:graphic>
          <a:graphicData uri="http://schemas.openxmlformats.org/drawingml/2006/table">
            <a:tbl>
              <a:tblPr/>
              <a:tblGrid>
                <a:gridCol w="187452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tblGrid>
              <a:tr h="512064">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Company</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Covariance with NIFTY 50</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Correlation Coefficient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extLst>
                  <a:ext uri="{0D108BD9-81ED-4DB2-BD59-A6C34878D82A}">
                    <a16:rowId xmlns:a16="http://schemas.microsoft.com/office/drawing/2014/main" val="10000"/>
                  </a:ext>
                </a:extLst>
              </a:tr>
              <a:tr h="512064">
                <a:tc>
                  <a:txBody>
                    <a:bodyPr/>
                    <a:lstStyle/>
                    <a:p>
                      <a:pPr marL="0" indent="0">
                        <a:buNone/>
                      </a:pPr>
                      <a:r>
                        <a:rPr lang="en-US" sz="1200" b="1" dirty="0">
                          <a:solidFill>
                            <a:srgbClr val="1B2A57"/>
                          </a:solidFill>
                          <a:latin typeface="Calibri" pitchFamily="34" charset="0"/>
                          <a:ea typeface="Calibri" pitchFamily="34" charset="-122"/>
                          <a:cs typeface="Calibri" pitchFamily="34" charset="-120"/>
                        </a:rPr>
                        <a:t>CEAT</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0.001471</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0.5243</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1"/>
                  </a:ext>
                </a:extLst>
              </a:tr>
              <a:tr h="512064">
                <a:tc>
                  <a:txBody>
                    <a:bodyPr/>
                    <a:lstStyle/>
                    <a:p>
                      <a:pPr marL="0" indent="0">
                        <a:buNone/>
                      </a:pPr>
                      <a:r>
                        <a:rPr lang="en-US" sz="1200" b="1" dirty="0">
                          <a:solidFill>
                            <a:srgbClr val="1B2A57"/>
                          </a:solidFill>
                          <a:latin typeface="Calibri" pitchFamily="34" charset="0"/>
                          <a:ea typeface="Calibri" pitchFamily="34" charset="-122"/>
                          <a:cs typeface="Calibri" pitchFamily="34" charset="-120"/>
                        </a:rPr>
                        <a:t>BLKI</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0.000612</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0.2624</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512064">
                <a:tc>
                  <a:txBody>
                    <a:bodyPr/>
                    <a:lstStyle/>
                    <a:p>
                      <a:pPr marL="0" indent="0">
                        <a:buNone/>
                      </a:pPr>
                      <a:r>
                        <a:rPr lang="en-US" sz="1200" b="1" dirty="0">
                          <a:solidFill>
                            <a:srgbClr val="1B2A57"/>
                          </a:solidFill>
                          <a:latin typeface="Calibri" pitchFamily="34" charset="0"/>
                          <a:ea typeface="Calibri" pitchFamily="34" charset="-122"/>
                          <a:cs typeface="Calibri" pitchFamily="34" charset="-120"/>
                        </a:rPr>
                        <a:t>MRF</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0.000974</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0.4698</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3"/>
                  </a:ext>
                </a:extLst>
              </a:tr>
              <a:tr h="512064">
                <a:tc>
                  <a:txBody>
                    <a:bodyPr/>
                    <a:lstStyle/>
                    <a:p>
                      <a:pPr marL="0" indent="0">
                        <a:buNone/>
                      </a:pPr>
                      <a:r>
                        <a:rPr lang="en-US" sz="1200" b="1" dirty="0">
                          <a:solidFill>
                            <a:srgbClr val="1B2A57"/>
                          </a:solidFill>
                          <a:latin typeface="Calibri" pitchFamily="34" charset="0"/>
                          <a:ea typeface="Calibri" pitchFamily="34" charset="-122"/>
                          <a:cs typeface="Calibri" pitchFamily="34" charset="-120"/>
                        </a:rPr>
                        <a:t>Apollo</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0.001348</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0.3019</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512064">
                <a:tc>
                  <a:txBody>
                    <a:bodyPr/>
                    <a:lstStyle/>
                    <a:p>
                      <a:pPr marL="0" indent="0">
                        <a:buNone/>
                      </a:pPr>
                      <a:r>
                        <a:rPr lang="en-US" sz="1200" b="1" dirty="0">
                          <a:solidFill>
                            <a:srgbClr val="1B2A57"/>
                          </a:solidFill>
                          <a:latin typeface="Calibri" pitchFamily="34" charset="0"/>
                          <a:ea typeface="Calibri" pitchFamily="34" charset="-122"/>
                          <a:cs typeface="Calibri" pitchFamily="34" charset="-120"/>
                        </a:rPr>
                        <a:t>VIAZ</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0.000726</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buNone/>
                      </a:pPr>
                      <a:r>
                        <a:rPr lang="en-US" sz="1200" dirty="0">
                          <a:solidFill>
                            <a:srgbClr val="1B2A57"/>
                          </a:solidFill>
                          <a:latin typeface="Calibri" pitchFamily="34" charset="0"/>
                          <a:ea typeface="Calibri" pitchFamily="34" charset="-122"/>
                          <a:cs typeface="Calibri" pitchFamily="34" charset="-120"/>
                        </a:rPr>
                        <a:t>0.2989</a:t>
                      </a:r>
                      <a:endParaRPr lang="en-US" sz="12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extLst>
                  <a:ext uri="{0D108BD9-81ED-4DB2-BD59-A6C34878D82A}">
                    <a16:rowId xmlns:a16="http://schemas.microsoft.com/office/drawing/2014/main" val="10005"/>
                  </a:ext>
                </a:extLst>
              </a:tr>
            </a:tbl>
          </a:graphicData>
        </a:graphic>
      </p:graphicFrame>
      <p:graphicFrame>
        <p:nvGraphicFramePr>
          <p:cNvPr id="6" name="Chart 0"/>
          <p:cNvGraphicFramePr/>
          <p:nvPr/>
        </p:nvGraphicFramePr>
        <p:xfrm>
          <a:off x="6720840" y="1481328"/>
          <a:ext cx="4937760" cy="310896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 3"/>
          <p:cNvSpPr txBox="1"/>
          <p:nvPr/>
        </p:nvSpPr>
        <p:spPr>
          <a:xfrm>
            <a:off x="548640" y="4754880"/>
            <a:ext cx="11064240" cy="292608"/>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Interpretation</a:t>
            </a:r>
            <a:endParaRPr lang="en-US" sz="1500" dirty="0"/>
          </a:p>
        </p:txBody>
      </p:sp>
      <p:sp>
        <p:nvSpPr>
          <p:cNvPr id="5" name="Text 4"/>
          <p:cNvSpPr txBox="1"/>
          <p:nvPr/>
        </p:nvSpPr>
        <p:spPr>
          <a:xfrm>
            <a:off x="548640" y="5074920"/>
            <a:ext cx="11064240" cy="1097280"/>
          </a:xfrm>
          <a:prstGeom prst="rect">
            <a:avLst/>
          </a:prstGeom>
          <a:noFill/>
          <a:ln/>
        </p:spPr>
        <p:txBody>
          <a:bodyPr wrap="square" lIns="0" tIns="0" rIns="0" bIns="0" rtlCol="0" anchor="ctr"/>
          <a:lstStyle/>
          <a:p>
            <a:pPr marL="0" indent="0">
              <a:lnSpc>
                <a:spcPct val="120000"/>
              </a:lnSpc>
              <a:buNone/>
            </a:pPr>
            <a:r>
              <a:rPr lang="en-US" sz="1200" dirty="0">
                <a:solidFill>
                  <a:srgbClr val="1B2A57"/>
                </a:solidFill>
                <a:latin typeface="Calibri" pitchFamily="34" charset="0"/>
                <a:ea typeface="Calibri" pitchFamily="34" charset="-122"/>
                <a:cs typeface="Calibri" pitchFamily="34" charset="-120"/>
              </a:rPr>
              <a:t>All five companies show positive covariance and correlation with NIFTY 50, meaning their returns tend to move in the same direction as the market. CEAT shows the strongest co-movement (correlation of 0.5243), a moderate relationship, while BLKI and VIAZ show the weakest (0.2624 and 0.2989), indicating returns driven more by company-specific factors than by broad market trends.</a:t>
            </a:r>
            <a:endParaRPr lang="en-US" sz="1200" dirty="0"/>
          </a:p>
        </p:txBody>
      </p:sp>
      <p:sp>
        <p:nvSpPr>
          <p:cNvPr id="9" name="Text 5"/>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10" name="Text 6"/>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SYSTEMATIC RISK</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Market Sensitivity — Beta</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5" name="Chart 0"/>
          <p:cNvGraphicFramePr/>
          <p:nvPr/>
        </p:nvGraphicFramePr>
        <p:xfrm>
          <a:off x="548640" y="1463040"/>
          <a:ext cx="6903720" cy="40233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txBox="1"/>
          <p:nvPr/>
        </p:nvSpPr>
        <p:spPr>
          <a:xfrm>
            <a:off x="548640" y="5532120"/>
            <a:ext cx="6903720" cy="274320"/>
          </a:xfrm>
          <a:prstGeom prst="rect">
            <a:avLst/>
          </a:prstGeom>
          <a:noFill/>
          <a:ln/>
        </p:spPr>
        <p:txBody>
          <a:bodyPr wrap="square" lIns="0" tIns="0" rIns="0" bIns="0" rtlCol="0" anchor="ctr"/>
          <a:lstStyle/>
          <a:p>
            <a:pPr marL="0" indent="0">
              <a:buNone/>
            </a:pPr>
            <a:r>
              <a:rPr lang="en-US" sz="950" i="1" dirty="0">
                <a:solidFill>
                  <a:srgbClr val="5C6788"/>
                </a:solidFill>
                <a:latin typeface="Calibri" pitchFamily="34" charset="0"/>
                <a:ea typeface="Calibri" pitchFamily="34" charset="-122"/>
                <a:cs typeface="Calibri" pitchFamily="34" charset="-120"/>
              </a:rPr>
              <a:t>Reference: β = 1.0 indicates a stock that moves in line with the market</a:t>
            </a:r>
            <a:endParaRPr lang="en-US" sz="950" dirty="0"/>
          </a:p>
        </p:txBody>
      </p:sp>
      <p:sp>
        <p:nvSpPr>
          <p:cNvPr id="7" name="Shape 4"/>
          <p:cNvSpPr/>
          <p:nvPr/>
        </p:nvSpPr>
        <p:spPr>
          <a:xfrm>
            <a:off x="7635240" y="1463040"/>
            <a:ext cx="3977640" cy="4343400"/>
          </a:xfrm>
          <a:prstGeom prst="rect">
            <a:avLst/>
          </a:prstGeom>
          <a:solidFill>
            <a:srgbClr val="F5F7FB"/>
          </a:solidFill>
          <a:ln w="12700">
            <a:solidFill>
              <a:srgbClr val="D9DFEC"/>
            </a:solidFill>
            <a:prstDash val="solid"/>
          </a:ln>
        </p:spPr>
      </p:sp>
      <p:sp>
        <p:nvSpPr>
          <p:cNvPr id="8" name="Text 5"/>
          <p:cNvSpPr txBox="1"/>
          <p:nvPr/>
        </p:nvSpPr>
        <p:spPr>
          <a:xfrm>
            <a:off x="7863840" y="1664208"/>
            <a:ext cx="3566160" cy="274320"/>
          </a:xfrm>
          <a:prstGeom prst="rect">
            <a:avLst/>
          </a:prstGeom>
          <a:noFill/>
          <a:ln/>
        </p:spPr>
        <p:txBody>
          <a:bodyPr wrap="square" lIns="0" tIns="0" rIns="0" bIns="0" rtlCol="0" anchor="ctr"/>
          <a:lstStyle/>
          <a:p>
            <a:pPr marL="0" indent="0">
              <a:buNone/>
            </a:pPr>
            <a:r>
              <a:rPr lang="en-US" sz="1050" b="1" kern="0" spc="150" dirty="0">
                <a:solidFill>
                  <a:srgbClr val="B8934A"/>
                </a:solidFill>
                <a:latin typeface="Calibri" pitchFamily="34" charset="0"/>
                <a:ea typeface="Calibri" pitchFamily="34" charset="-122"/>
                <a:cs typeface="Calibri" pitchFamily="34" charset="-120"/>
              </a:rPr>
              <a:t>READING BETA</a:t>
            </a:r>
            <a:endParaRPr lang="en-US" sz="1050" dirty="0"/>
          </a:p>
        </p:txBody>
      </p:sp>
      <p:sp>
        <p:nvSpPr>
          <p:cNvPr id="9" name="Shape 6"/>
          <p:cNvSpPr/>
          <p:nvPr/>
        </p:nvSpPr>
        <p:spPr>
          <a:xfrm>
            <a:off x="7863840" y="2011680"/>
            <a:ext cx="73152" cy="658368"/>
          </a:xfrm>
          <a:prstGeom prst="rect">
            <a:avLst/>
          </a:prstGeom>
          <a:solidFill>
            <a:srgbClr val="27407A"/>
          </a:solidFill>
          <a:ln/>
        </p:spPr>
      </p:sp>
      <p:sp>
        <p:nvSpPr>
          <p:cNvPr id="10" name="Text 7"/>
          <p:cNvSpPr txBox="1"/>
          <p:nvPr/>
        </p:nvSpPr>
        <p:spPr>
          <a:xfrm>
            <a:off x="8046720" y="2011680"/>
            <a:ext cx="3291840" cy="256032"/>
          </a:xfrm>
          <a:prstGeom prst="rect">
            <a:avLst/>
          </a:prstGeom>
          <a:noFill/>
          <a:ln/>
        </p:spPr>
        <p:txBody>
          <a:bodyPr wrap="square" lIns="0" tIns="0" rIns="0" bIns="0" rtlCol="0" anchor="ctr"/>
          <a:lstStyle/>
          <a:p>
            <a:pPr marL="0" indent="0">
              <a:buNone/>
            </a:pPr>
            <a:r>
              <a:rPr lang="en-US" sz="1400" b="1" dirty="0">
                <a:solidFill>
                  <a:srgbClr val="1B2A57"/>
                </a:solidFill>
                <a:latin typeface="Cambria" pitchFamily="34" charset="0"/>
                <a:ea typeface="Cambria" pitchFamily="34" charset="-122"/>
                <a:cs typeface="Cambria" pitchFamily="34" charset="-120"/>
              </a:rPr>
              <a:t>β &gt; 1</a:t>
            </a:r>
            <a:endParaRPr lang="en-US" sz="1400" dirty="0"/>
          </a:p>
        </p:txBody>
      </p:sp>
      <p:sp>
        <p:nvSpPr>
          <p:cNvPr id="11" name="Text 8"/>
          <p:cNvSpPr txBox="1"/>
          <p:nvPr/>
        </p:nvSpPr>
        <p:spPr>
          <a:xfrm>
            <a:off x="8046720" y="2258568"/>
            <a:ext cx="3291840" cy="457200"/>
          </a:xfrm>
          <a:prstGeom prst="rect">
            <a:avLst/>
          </a:prstGeom>
          <a:noFill/>
          <a:ln/>
        </p:spPr>
        <p:txBody>
          <a:bodyPr wrap="square" lIns="0" tIns="0" rIns="0" bIns="0" rtlCol="0" anchor="ctr"/>
          <a:lstStyle/>
          <a:p>
            <a:pPr marL="0" indent="0">
              <a:buNone/>
            </a:pPr>
            <a:r>
              <a:rPr lang="en-US" sz="1000" dirty="0">
                <a:solidFill>
                  <a:srgbClr val="1B2A57"/>
                </a:solidFill>
                <a:latin typeface="Calibri" pitchFamily="34" charset="0"/>
                <a:ea typeface="Calibri" pitchFamily="34" charset="-122"/>
                <a:cs typeface="Calibri" pitchFamily="34" charset="-120"/>
              </a:rPr>
              <a:t>More volatile than the market — higher risk, higher potential return</a:t>
            </a:r>
            <a:endParaRPr lang="en-US" sz="1000" dirty="0"/>
          </a:p>
        </p:txBody>
      </p:sp>
      <p:sp>
        <p:nvSpPr>
          <p:cNvPr id="12" name="Shape 9"/>
          <p:cNvSpPr/>
          <p:nvPr/>
        </p:nvSpPr>
        <p:spPr>
          <a:xfrm>
            <a:off x="7863840" y="2880360"/>
            <a:ext cx="73152" cy="658368"/>
          </a:xfrm>
          <a:prstGeom prst="rect">
            <a:avLst/>
          </a:prstGeom>
          <a:solidFill>
            <a:srgbClr val="1B2A57"/>
          </a:solidFill>
          <a:ln/>
        </p:spPr>
      </p:sp>
      <p:sp>
        <p:nvSpPr>
          <p:cNvPr id="13" name="Text 10"/>
          <p:cNvSpPr txBox="1"/>
          <p:nvPr/>
        </p:nvSpPr>
        <p:spPr>
          <a:xfrm>
            <a:off x="8046720" y="2880360"/>
            <a:ext cx="3291840" cy="256032"/>
          </a:xfrm>
          <a:prstGeom prst="rect">
            <a:avLst/>
          </a:prstGeom>
          <a:noFill/>
          <a:ln/>
        </p:spPr>
        <p:txBody>
          <a:bodyPr wrap="square" lIns="0" tIns="0" rIns="0" bIns="0" rtlCol="0" anchor="ctr"/>
          <a:lstStyle/>
          <a:p>
            <a:pPr marL="0" indent="0">
              <a:buNone/>
            </a:pPr>
            <a:r>
              <a:rPr lang="en-US" sz="1400" b="1" dirty="0">
                <a:solidFill>
                  <a:srgbClr val="1B2A57"/>
                </a:solidFill>
                <a:latin typeface="Cambria" pitchFamily="34" charset="0"/>
                <a:ea typeface="Cambria" pitchFamily="34" charset="-122"/>
                <a:cs typeface="Cambria" pitchFamily="34" charset="-120"/>
              </a:rPr>
              <a:t>β ≈ 1</a:t>
            </a:r>
            <a:endParaRPr lang="en-US" sz="1400" dirty="0"/>
          </a:p>
        </p:txBody>
      </p:sp>
      <p:sp>
        <p:nvSpPr>
          <p:cNvPr id="14" name="Text 11"/>
          <p:cNvSpPr txBox="1"/>
          <p:nvPr/>
        </p:nvSpPr>
        <p:spPr>
          <a:xfrm>
            <a:off x="8046720" y="3127248"/>
            <a:ext cx="3291840" cy="457200"/>
          </a:xfrm>
          <a:prstGeom prst="rect">
            <a:avLst/>
          </a:prstGeom>
          <a:noFill/>
          <a:ln/>
        </p:spPr>
        <p:txBody>
          <a:bodyPr wrap="square" lIns="0" tIns="0" rIns="0" bIns="0" rtlCol="0" anchor="ctr"/>
          <a:lstStyle/>
          <a:p>
            <a:pPr marL="0" indent="0">
              <a:buNone/>
            </a:pPr>
            <a:r>
              <a:rPr lang="en-US" sz="1000" dirty="0">
                <a:solidFill>
                  <a:srgbClr val="1B2A57"/>
                </a:solidFill>
                <a:latin typeface="Calibri" pitchFamily="34" charset="0"/>
                <a:ea typeface="Calibri" pitchFamily="34" charset="-122"/>
                <a:cs typeface="Calibri" pitchFamily="34" charset="-120"/>
              </a:rPr>
              <a:t>Moves broadly in line with the market</a:t>
            </a:r>
            <a:endParaRPr lang="en-US" sz="1000" dirty="0"/>
          </a:p>
        </p:txBody>
      </p:sp>
      <p:sp>
        <p:nvSpPr>
          <p:cNvPr id="15" name="Shape 12"/>
          <p:cNvSpPr/>
          <p:nvPr/>
        </p:nvSpPr>
        <p:spPr>
          <a:xfrm>
            <a:off x="7863840" y="3749040"/>
            <a:ext cx="73152" cy="658368"/>
          </a:xfrm>
          <a:prstGeom prst="rect">
            <a:avLst/>
          </a:prstGeom>
          <a:solidFill>
            <a:srgbClr val="9AACD6"/>
          </a:solidFill>
          <a:ln/>
        </p:spPr>
      </p:sp>
      <p:sp>
        <p:nvSpPr>
          <p:cNvPr id="16" name="Text 13"/>
          <p:cNvSpPr txBox="1"/>
          <p:nvPr/>
        </p:nvSpPr>
        <p:spPr>
          <a:xfrm>
            <a:off x="8046720" y="3749040"/>
            <a:ext cx="3291840" cy="256032"/>
          </a:xfrm>
          <a:prstGeom prst="rect">
            <a:avLst/>
          </a:prstGeom>
          <a:noFill/>
          <a:ln/>
        </p:spPr>
        <p:txBody>
          <a:bodyPr wrap="square" lIns="0" tIns="0" rIns="0" bIns="0" rtlCol="0" anchor="ctr"/>
          <a:lstStyle/>
          <a:p>
            <a:pPr marL="0" indent="0">
              <a:buNone/>
            </a:pPr>
            <a:r>
              <a:rPr lang="en-US" sz="1400" b="1" dirty="0">
                <a:solidFill>
                  <a:srgbClr val="1B2A57"/>
                </a:solidFill>
                <a:latin typeface="Cambria" pitchFamily="34" charset="0"/>
                <a:ea typeface="Cambria" pitchFamily="34" charset="-122"/>
                <a:cs typeface="Cambria" pitchFamily="34" charset="-120"/>
              </a:rPr>
              <a:t>β &lt; 1</a:t>
            </a:r>
            <a:endParaRPr lang="en-US" sz="1400" dirty="0"/>
          </a:p>
        </p:txBody>
      </p:sp>
      <p:sp>
        <p:nvSpPr>
          <p:cNvPr id="17" name="Text 14"/>
          <p:cNvSpPr txBox="1"/>
          <p:nvPr/>
        </p:nvSpPr>
        <p:spPr>
          <a:xfrm>
            <a:off x="8046720" y="3995928"/>
            <a:ext cx="3291840" cy="457200"/>
          </a:xfrm>
          <a:prstGeom prst="rect">
            <a:avLst/>
          </a:prstGeom>
          <a:noFill/>
          <a:ln/>
        </p:spPr>
        <p:txBody>
          <a:bodyPr wrap="square" lIns="0" tIns="0" rIns="0" bIns="0" rtlCol="0" anchor="ctr"/>
          <a:lstStyle/>
          <a:p>
            <a:pPr marL="0" indent="0">
              <a:buNone/>
            </a:pPr>
            <a:r>
              <a:rPr lang="en-US" sz="1000" dirty="0">
                <a:solidFill>
                  <a:srgbClr val="1B2A57"/>
                </a:solidFill>
                <a:latin typeface="Calibri" pitchFamily="34" charset="0"/>
                <a:ea typeface="Calibri" pitchFamily="34" charset="-122"/>
                <a:cs typeface="Calibri" pitchFamily="34" charset="-120"/>
              </a:rPr>
              <a:t>Less volatile than the market — more defensive, lower risk</a:t>
            </a:r>
            <a:endParaRPr lang="en-US" sz="1000" dirty="0"/>
          </a:p>
        </p:txBody>
      </p:sp>
      <p:sp>
        <p:nvSpPr>
          <p:cNvPr id="18" name="Shape 15"/>
          <p:cNvSpPr/>
          <p:nvPr/>
        </p:nvSpPr>
        <p:spPr>
          <a:xfrm>
            <a:off x="7863840" y="4636008"/>
            <a:ext cx="3520440" cy="0"/>
          </a:xfrm>
          <a:prstGeom prst="line">
            <a:avLst/>
          </a:prstGeom>
          <a:noFill/>
          <a:ln w="12700">
            <a:solidFill>
              <a:srgbClr val="D9DFEC"/>
            </a:solidFill>
            <a:prstDash val="solid"/>
          </a:ln>
        </p:spPr>
      </p:sp>
      <p:sp>
        <p:nvSpPr>
          <p:cNvPr id="19" name="Text 16"/>
          <p:cNvSpPr txBox="1"/>
          <p:nvPr/>
        </p:nvSpPr>
        <p:spPr>
          <a:xfrm>
            <a:off x="7863840" y="4782312"/>
            <a:ext cx="3566160" cy="1371600"/>
          </a:xfrm>
          <a:prstGeom prst="rect">
            <a:avLst/>
          </a:prstGeom>
          <a:noFill/>
          <a:ln/>
        </p:spPr>
        <p:txBody>
          <a:bodyPr wrap="square" lIns="0" tIns="0" rIns="0" bIns="0" rtlCol="0" anchor="ctr"/>
          <a:lstStyle/>
          <a:p>
            <a:pPr marL="0" indent="0">
              <a:lnSpc>
                <a:spcPct val="120000"/>
              </a:lnSpc>
              <a:buNone/>
            </a:pPr>
            <a:r>
              <a:rPr lang="en-US" sz="1050" dirty="0">
                <a:solidFill>
                  <a:srgbClr val="1B2A57"/>
                </a:solidFill>
                <a:latin typeface="Calibri" pitchFamily="34" charset="0"/>
                <a:ea typeface="Calibri" pitchFamily="34" charset="-122"/>
                <a:cs typeface="Calibri" pitchFamily="34" charset="-120"/>
              </a:rPr>
              <a:t>CEAT (1.766) and Apollo (1.618) are the most market-sensitive, high-risk names. BLKI (0.735) and VIAZ (0.871) are the most defensive. MRF (1.169) sits just above the market.</a:t>
            </a:r>
            <a:endParaRPr lang="en-US" sz="1050" dirty="0"/>
          </a:p>
        </p:txBody>
      </p:sp>
      <p:sp>
        <p:nvSpPr>
          <p:cNvPr id="20" name="Text 17"/>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21" name="Text 18"/>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8</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105156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SYNTHESIS</a:t>
            </a:r>
            <a:endParaRPr lang="en-US" sz="1100" dirty="0"/>
          </a:p>
        </p:txBody>
      </p:sp>
      <p:sp>
        <p:nvSpPr>
          <p:cNvPr id="3" name="Text 1"/>
          <p:cNvSpPr txBox="1"/>
          <p:nvPr/>
        </p:nvSpPr>
        <p:spPr>
          <a:xfrm>
            <a:off x="548640" y="603504"/>
            <a:ext cx="10789920" cy="566928"/>
          </a:xfrm>
          <a:prstGeom prst="rect">
            <a:avLst/>
          </a:prstGeom>
          <a:noFill/>
          <a:ln/>
        </p:spPr>
        <p:txBody>
          <a:bodyPr wrap="square" lIns="0" tIns="0" rIns="0" bIns="0" rtlCol="0" anchor="ctr"/>
          <a:lstStyle/>
          <a:p>
            <a:pPr marL="0" indent="0">
              <a:buNone/>
            </a:pPr>
            <a:r>
              <a:rPr lang="en-US" sz="2800" b="1" dirty="0">
                <a:solidFill>
                  <a:srgbClr val="1B2A57"/>
                </a:solidFill>
                <a:latin typeface="Cambria" pitchFamily="34" charset="0"/>
                <a:ea typeface="Cambria" pitchFamily="34" charset="-122"/>
                <a:cs typeface="Cambria" pitchFamily="34" charset="-120"/>
              </a:rPr>
              <a:t>Risk–Return Comparison</a:t>
            </a:r>
            <a:endParaRPr lang="en-US" sz="2800" dirty="0"/>
          </a:p>
        </p:txBody>
      </p:sp>
      <p:sp>
        <p:nvSpPr>
          <p:cNvPr id="4" name="Shape 2"/>
          <p:cNvSpPr/>
          <p:nvPr/>
        </p:nvSpPr>
        <p:spPr>
          <a:xfrm>
            <a:off x="548640" y="1225296"/>
            <a:ext cx="11091672" cy="0"/>
          </a:xfrm>
          <a:prstGeom prst="line">
            <a:avLst/>
          </a:prstGeom>
          <a:noFill/>
          <a:ln w="12700">
            <a:solidFill>
              <a:srgbClr val="D9DFEC"/>
            </a:solidFill>
            <a:prstDash val="solid"/>
          </a:ln>
        </p:spPr>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548640" y="1481328"/>
          <a:ext cx="11091672" cy="3072384"/>
        </p:xfrm>
        <a:graphic>
          <a:graphicData uri="http://schemas.openxmlformats.org/drawingml/2006/table">
            <a:tbl>
              <a:tblPr/>
              <a:tblGrid>
                <a:gridCol w="17373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2148840">
                  <a:extLst>
                    <a:ext uri="{9D8B030D-6E8A-4147-A177-3AD203B41FA5}">
                      <a16:colId xmlns:a16="http://schemas.microsoft.com/office/drawing/2014/main" val="20002"/>
                    </a:ext>
                  </a:extLst>
                </a:gridCol>
                <a:gridCol w="1554480">
                  <a:extLst>
                    <a:ext uri="{9D8B030D-6E8A-4147-A177-3AD203B41FA5}">
                      <a16:colId xmlns:a16="http://schemas.microsoft.com/office/drawing/2014/main" val="20003"/>
                    </a:ext>
                  </a:extLst>
                </a:gridCol>
                <a:gridCol w="1737360">
                  <a:extLst>
                    <a:ext uri="{9D8B030D-6E8A-4147-A177-3AD203B41FA5}">
                      <a16:colId xmlns:a16="http://schemas.microsoft.com/office/drawing/2014/main" val="20004"/>
                    </a:ext>
                  </a:extLst>
                </a:gridCol>
                <a:gridCol w="2176272">
                  <a:extLst>
                    <a:ext uri="{9D8B030D-6E8A-4147-A177-3AD203B41FA5}">
                      <a16:colId xmlns:a16="http://schemas.microsoft.com/office/drawing/2014/main" val="20005"/>
                    </a:ext>
                  </a:extLst>
                </a:gridCol>
              </a:tblGrid>
              <a:tr h="438912">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Company</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Mean Return</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Covariance</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Beta</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Correlation</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tc>
                  <a:txBody>
                    <a:bodyPr/>
                    <a:lstStyle/>
                    <a:p>
                      <a:pPr marL="0" indent="0" algn="ctr">
                        <a:buNone/>
                      </a:pPr>
                      <a:r>
                        <a:rPr lang="en-US" sz="1050" b="1" dirty="0">
                          <a:solidFill>
                            <a:srgbClr val="FFFFFF"/>
                          </a:solidFill>
                          <a:latin typeface="Calibri" pitchFamily="34" charset="0"/>
                          <a:ea typeface="Calibri" pitchFamily="34" charset="-122"/>
                          <a:cs typeface="Calibri" pitchFamily="34" charset="-120"/>
                        </a:rPr>
                        <a:t>Risk Profile</a:t>
                      </a:r>
                      <a:endParaRPr lang="en-US" sz="10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1B2A57"/>
                    </a:solidFill>
                  </a:tcPr>
                </a:tc>
                <a:extLst>
                  <a:ext uri="{0D108BD9-81ED-4DB2-BD59-A6C34878D82A}">
                    <a16:rowId xmlns:a16="http://schemas.microsoft.com/office/drawing/2014/main" val="10000"/>
                  </a:ext>
                </a:extLst>
              </a:tr>
              <a:tr h="438912">
                <a:tc>
                  <a:txBody>
                    <a:bodyPr/>
                    <a:lstStyle/>
                    <a:p>
                      <a:pPr marL="0" indent="0" algn="l">
                        <a:buNone/>
                      </a:pPr>
                      <a:r>
                        <a:rPr lang="en-US" sz="1100" b="1" dirty="0">
                          <a:solidFill>
                            <a:srgbClr val="1B2A57"/>
                          </a:solidFill>
                          <a:latin typeface="Calibri" pitchFamily="34" charset="0"/>
                          <a:ea typeface="Calibri" pitchFamily="34" charset="-122"/>
                          <a:cs typeface="Calibri" pitchFamily="34" charset="-120"/>
                        </a:rPr>
                        <a:t>CEAT</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+1.72%</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0.001471</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b="1" dirty="0">
                          <a:solidFill>
                            <a:srgbClr val="1B2A57"/>
                          </a:solidFill>
                          <a:latin typeface="Calibri" pitchFamily="34" charset="0"/>
                          <a:ea typeface="Calibri" pitchFamily="34" charset="-122"/>
                          <a:cs typeface="Calibri" pitchFamily="34" charset="-120"/>
                        </a:rPr>
                        <a:t>1.7660</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0.5243</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High risk / High return</a:t>
                      </a:r>
                      <a:endParaRPr lang="en-US" sz="9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27407A"/>
                    </a:solidFill>
                  </a:tcPr>
                </a:tc>
                <a:extLst>
                  <a:ext uri="{0D108BD9-81ED-4DB2-BD59-A6C34878D82A}">
                    <a16:rowId xmlns:a16="http://schemas.microsoft.com/office/drawing/2014/main" val="10001"/>
                  </a:ext>
                </a:extLst>
              </a:tr>
              <a:tr h="438912">
                <a:tc>
                  <a:txBody>
                    <a:bodyPr/>
                    <a:lstStyle/>
                    <a:p>
                      <a:pPr marL="0" indent="0" algn="l">
                        <a:buNone/>
                      </a:pPr>
                      <a:r>
                        <a:rPr lang="en-US" sz="1100" b="1" dirty="0">
                          <a:solidFill>
                            <a:srgbClr val="1B2A57"/>
                          </a:solidFill>
                          <a:latin typeface="Calibri" pitchFamily="34" charset="0"/>
                          <a:ea typeface="Calibri" pitchFamily="34" charset="-122"/>
                          <a:cs typeface="Calibri" pitchFamily="34" charset="-120"/>
                        </a:rPr>
                        <a:t>BLKI</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+1.01%</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0.000612</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2A57"/>
                          </a:solidFill>
                          <a:latin typeface="Calibri" pitchFamily="34" charset="0"/>
                          <a:ea typeface="Calibri" pitchFamily="34" charset="-122"/>
                          <a:cs typeface="Calibri" pitchFamily="34" charset="-120"/>
                        </a:rPr>
                        <a:t>0.7349</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0.2624</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 risk / Defensive</a:t>
                      </a:r>
                      <a:endParaRPr lang="en-US" sz="9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2E3F73"/>
                    </a:solidFill>
                  </a:tcPr>
                </a:tc>
                <a:extLst>
                  <a:ext uri="{0D108BD9-81ED-4DB2-BD59-A6C34878D82A}">
                    <a16:rowId xmlns:a16="http://schemas.microsoft.com/office/drawing/2014/main" val="10002"/>
                  </a:ext>
                </a:extLst>
              </a:tr>
              <a:tr h="438912">
                <a:tc>
                  <a:txBody>
                    <a:bodyPr/>
                    <a:lstStyle/>
                    <a:p>
                      <a:pPr marL="0" indent="0" algn="l">
                        <a:buNone/>
                      </a:pPr>
                      <a:r>
                        <a:rPr lang="en-US" sz="1100" b="1" dirty="0">
                          <a:solidFill>
                            <a:srgbClr val="1B2A57"/>
                          </a:solidFill>
                          <a:latin typeface="Calibri" pitchFamily="34" charset="0"/>
                          <a:ea typeface="Calibri" pitchFamily="34" charset="-122"/>
                          <a:cs typeface="Calibri" pitchFamily="34" charset="-120"/>
                        </a:rPr>
                        <a:t>MRF</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9B2C2C"/>
                          </a:solidFill>
                          <a:latin typeface="Calibri" pitchFamily="34" charset="0"/>
                          <a:ea typeface="Calibri" pitchFamily="34" charset="-122"/>
                          <a:cs typeface="Calibri" pitchFamily="34" charset="-120"/>
                        </a:rPr>
                        <a:t>-0.74%</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0.000974</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b="1" dirty="0">
                          <a:solidFill>
                            <a:srgbClr val="1B2A57"/>
                          </a:solidFill>
                          <a:latin typeface="Calibri" pitchFamily="34" charset="0"/>
                          <a:ea typeface="Calibri" pitchFamily="34" charset="-122"/>
                          <a:cs typeface="Calibri" pitchFamily="34" charset="-120"/>
                        </a:rPr>
                        <a:t>1.1689</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0.4698</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Moderate risk</a:t>
                      </a:r>
                      <a:endParaRPr lang="en-US" sz="9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27407A"/>
                    </a:solidFill>
                  </a:tcPr>
                </a:tc>
                <a:extLst>
                  <a:ext uri="{0D108BD9-81ED-4DB2-BD59-A6C34878D82A}">
                    <a16:rowId xmlns:a16="http://schemas.microsoft.com/office/drawing/2014/main" val="10003"/>
                  </a:ext>
                </a:extLst>
              </a:tr>
              <a:tr h="438912">
                <a:tc>
                  <a:txBody>
                    <a:bodyPr/>
                    <a:lstStyle/>
                    <a:p>
                      <a:pPr marL="0" indent="0" algn="l">
                        <a:buNone/>
                      </a:pPr>
                      <a:r>
                        <a:rPr lang="en-US" sz="1100" b="1" dirty="0">
                          <a:solidFill>
                            <a:srgbClr val="1B2A57"/>
                          </a:solidFill>
                          <a:latin typeface="Calibri" pitchFamily="34" charset="0"/>
                          <a:ea typeface="Calibri" pitchFamily="34" charset="-122"/>
                          <a:cs typeface="Calibri" pitchFamily="34" charset="-120"/>
                        </a:rPr>
                        <a:t>Apollo</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+0.31%</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0.001348</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1B2A57"/>
                          </a:solidFill>
                          <a:latin typeface="Calibri" pitchFamily="34" charset="0"/>
                          <a:ea typeface="Calibri" pitchFamily="34" charset="-122"/>
                          <a:cs typeface="Calibri" pitchFamily="34" charset="-120"/>
                        </a:rPr>
                        <a:t>1.6176</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0.3019</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FFFFF"/>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High risk / High return</a:t>
                      </a:r>
                      <a:endParaRPr lang="en-US" sz="9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27407A"/>
                    </a:solidFill>
                  </a:tcPr>
                </a:tc>
                <a:extLst>
                  <a:ext uri="{0D108BD9-81ED-4DB2-BD59-A6C34878D82A}">
                    <a16:rowId xmlns:a16="http://schemas.microsoft.com/office/drawing/2014/main" val="10004"/>
                  </a:ext>
                </a:extLst>
              </a:tr>
              <a:tr h="438912">
                <a:tc>
                  <a:txBody>
                    <a:bodyPr/>
                    <a:lstStyle/>
                    <a:p>
                      <a:pPr marL="0" indent="0" algn="l">
                        <a:buNone/>
                      </a:pPr>
                      <a:r>
                        <a:rPr lang="en-US" sz="1100" b="1" dirty="0">
                          <a:solidFill>
                            <a:srgbClr val="1B2A57"/>
                          </a:solidFill>
                          <a:latin typeface="Calibri" pitchFamily="34" charset="0"/>
                          <a:ea typeface="Calibri" pitchFamily="34" charset="-122"/>
                          <a:cs typeface="Calibri" pitchFamily="34" charset="-120"/>
                        </a:rPr>
                        <a:t>VIAZ</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+0.13%</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0.000726</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b="1" dirty="0">
                          <a:solidFill>
                            <a:srgbClr val="1B2A57"/>
                          </a:solidFill>
                          <a:latin typeface="Calibri" pitchFamily="34" charset="0"/>
                          <a:ea typeface="Calibri" pitchFamily="34" charset="-122"/>
                          <a:cs typeface="Calibri" pitchFamily="34" charset="-120"/>
                        </a:rPr>
                        <a:t>0.8714</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1100" dirty="0">
                          <a:solidFill>
                            <a:srgbClr val="1B2A57"/>
                          </a:solidFill>
                          <a:latin typeface="Calibri" pitchFamily="34" charset="0"/>
                          <a:ea typeface="Calibri" pitchFamily="34" charset="-122"/>
                          <a:cs typeface="Calibri" pitchFamily="34" charset="-120"/>
                        </a:rPr>
                        <a:t>0.2989</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F5F7FB"/>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Low risk / Defensive</a:t>
                      </a:r>
                      <a:endParaRPr lang="en-US" sz="9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2E3F73"/>
                    </a:solidFill>
                  </a:tcPr>
                </a:tc>
                <a:extLst>
                  <a:ext uri="{0D108BD9-81ED-4DB2-BD59-A6C34878D82A}">
                    <a16:rowId xmlns:a16="http://schemas.microsoft.com/office/drawing/2014/main" val="10005"/>
                  </a:ext>
                </a:extLst>
              </a:tr>
              <a:tr h="438912">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NIFTY 50</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+0.65%</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ctr">
                        <a:buNone/>
                      </a:pPr>
                      <a:r>
                        <a:rPr lang="en-US" sz="1100" dirty="0">
                          <a:solidFill>
                            <a:srgbClr val="FFFFFF"/>
                          </a:solidFill>
                          <a:latin typeface="Calibri" pitchFamily="34" charset="0"/>
                          <a:ea typeface="Calibri" pitchFamily="34" charset="-122"/>
                          <a:cs typeface="Calibri" pitchFamily="34" charset="-120"/>
                        </a:rPr>
                        <a:t>1.0000</a:t>
                      </a:r>
                      <a:endParaRPr lang="en-US" sz="110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tc>
                  <a:txBody>
                    <a:bodyPr/>
                    <a:lstStyle/>
                    <a:p>
                      <a:pPr marL="0" indent="0" algn="ctr">
                        <a:buNone/>
                      </a:pPr>
                      <a:r>
                        <a:rPr lang="en-US" sz="950" b="1" dirty="0">
                          <a:solidFill>
                            <a:srgbClr val="FFFFFF"/>
                          </a:solidFill>
                          <a:latin typeface="Calibri" pitchFamily="34" charset="0"/>
                          <a:ea typeface="Calibri" pitchFamily="34" charset="-122"/>
                          <a:cs typeface="Calibri" pitchFamily="34" charset="-120"/>
                        </a:rPr>
                        <a:t>Benchmark</a:t>
                      </a:r>
                      <a:endParaRPr lang="en-US" sz="950" dirty="0">
                        <a:latin typeface="Calibri" charset="0"/>
                        <a:ea typeface="Calibri" charset="0"/>
                        <a:cs typeface="Calibri" charset="0"/>
                      </a:endParaRPr>
                    </a:p>
                  </a:txBody>
                  <a:tcPr anchor="ctr">
                    <a:lnL w="9525" cap="flat" cmpd="sng" algn="ctr">
                      <a:solidFill>
                        <a:srgbClr val="D9DFEC"/>
                      </a:solidFill>
                      <a:prstDash val="solid"/>
                      <a:round/>
                      <a:headEnd type="none" w="med" len="med"/>
                      <a:tailEnd type="none" w="med" len="med"/>
                    </a:lnL>
                    <a:lnR w="9525" cap="flat" cmpd="sng" algn="ctr">
                      <a:solidFill>
                        <a:srgbClr val="D9DFEC"/>
                      </a:solidFill>
                      <a:prstDash val="solid"/>
                      <a:round/>
                      <a:headEnd type="none" w="med" len="med"/>
                      <a:tailEnd type="none" w="med" len="med"/>
                    </a:lnR>
                    <a:lnT w="9525" cap="flat" cmpd="sng" algn="ctr">
                      <a:solidFill>
                        <a:srgbClr val="D9DFEC"/>
                      </a:solidFill>
                      <a:prstDash val="solid"/>
                      <a:round/>
                      <a:headEnd type="none" w="med" len="med"/>
                      <a:tailEnd type="none" w="med" len="med"/>
                    </a:lnT>
                    <a:lnB w="9525" cap="flat" cmpd="sng" algn="ctr">
                      <a:solidFill>
                        <a:srgbClr val="D9DFEC"/>
                      </a:solidFill>
                      <a:prstDash val="solid"/>
                      <a:round/>
                      <a:headEnd type="none" w="med" len="med"/>
                      <a:tailEnd type="none" w="med" len="med"/>
                    </a:lnB>
                    <a:solidFill>
                      <a:srgbClr val="B8934A"/>
                    </a:solidFill>
                  </a:tcPr>
                </a:tc>
                <a:extLst>
                  <a:ext uri="{0D108BD9-81ED-4DB2-BD59-A6C34878D82A}">
                    <a16:rowId xmlns:a16="http://schemas.microsoft.com/office/drawing/2014/main" val="10006"/>
                  </a:ext>
                </a:extLst>
              </a:tr>
            </a:tbl>
          </a:graphicData>
        </a:graphic>
      </p:graphicFrame>
      <p:sp>
        <p:nvSpPr>
          <p:cNvPr id="6" name="Text 3"/>
          <p:cNvSpPr txBox="1"/>
          <p:nvPr/>
        </p:nvSpPr>
        <p:spPr>
          <a:xfrm>
            <a:off x="548640" y="4526280"/>
            <a:ext cx="5303520" cy="292608"/>
          </a:xfrm>
          <a:prstGeom prst="rect">
            <a:avLst/>
          </a:prstGeom>
          <a:noFill/>
          <a:ln/>
        </p:spPr>
        <p:txBody>
          <a:bodyPr wrap="square" lIns="0" tIns="0" rIns="0" bIns="0" rtlCol="0" anchor="ctr"/>
          <a:lstStyle/>
          <a:p>
            <a:pPr marL="0" indent="0">
              <a:buNone/>
            </a:pPr>
            <a:r>
              <a:rPr lang="en-US" sz="1500" b="1" dirty="0">
                <a:solidFill>
                  <a:srgbClr val="1B2A57"/>
                </a:solidFill>
                <a:latin typeface="Cambria" pitchFamily="34" charset="0"/>
                <a:ea typeface="Cambria" pitchFamily="34" charset="-122"/>
                <a:cs typeface="Cambria" pitchFamily="34" charset="-120"/>
              </a:rPr>
              <a:t>Positioning</a:t>
            </a:r>
            <a:endParaRPr lang="en-US" sz="1500" dirty="0"/>
          </a:p>
        </p:txBody>
      </p:sp>
      <p:sp>
        <p:nvSpPr>
          <p:cNvPr id="7" name="Text 4"/>
          <p:cNvSpPr txBox="1"/>
          <p:nvPr/>
        </p:nvSpPr>
        <p:spPr>
          <a:xfrm>
            <a:off x="548640" y="4846320"/>
            <a:ext cx="11064240" cy="1554480"/>
          </a:xfrm>
          <a:prstGeom prst="rect">
            <a:avLst/>
          </a:prstGeom>
          <a:noFill/>
          <a:ln/>
        </p:spPr>
        <p:txBody>
          <a:bodyPr wrap="square" lIns="0" tIns="0" rIns="0" bIns="0" rtlCol="0" anchor="ctr"/>
          <a:lstStyle/>
          <a:p>
            <a:pPr marL="177800" indent="-177800">
              <a:lnSpc>
                <a:spcPct val="120000"/>
              </a:lnSpc>
              <a:spcAft>
                <a:spcPts val="1000"/>
              </a:spcAft>
              <a:buSzPct val="100000"/>
              <a:buChar char="•"/>
            </a:pPr>
            <a:r>
              <a:rPr lang="en-US" sz="1200" dirty="0">
                <a:solidFill>
                  <a:srgbClr val="1B2A57"/>
                </a:solidFill>
                <a:latin typeface="Calibri" pitchFamily="34" charset="0"/>
                <a:ea typeface="Calibri" pitchFamily="34" charset="-122"/>
                <a:cs typeface="Calibri" pitchFamily="34" charset="-120"/>
              </a:rPr>
              <a:t>CEAT combines the highest mean return (1.72%) with the highest beta (1.766) — the strongest but riskiest performer.</a:t>
            </a:r>
            <a:endParaRPr lang="en-US" sz="1200" dirty="0"/>
          </a:p>
          <a:p>
            <a:pPr marL="177800" indent="-177800">
              <a:lnSpc>
                <a:spcPct val="120000"/>
              </a:lnSpc>
              <a:spcAft>
                <a:spcPts val="1000"/>
              </a:spcAft>
              <a:buSzPct val="100000"/>
              <a:buChar char="•"/>
            </a:pPr>
            <a:r>
              <a:rPr lang="en-US" sz="1200" dirty="0">
                <a:solidFill>
                  <a:srgbClr val="1B2A57"/>
                </a:solidFill>
                <a:latin typeface="Calibri" pitchFamily="34" charset="0"/>
                <a:ea typeface="Calibri" pitchFamily="34" charset="-122"/>
                <a:cs typeface="Calibri" pitchFamily="34" charset="-120"/>
              </a:rPr>
              <a:t>BLKI pairs a solidly positive return (1.01%) with the lowest beta (0.735) — the most balanced, defensive option.</a:t>
            </a:r>
            <a:endParaRPr lang="en-US" sz="1200" dirty="0"/>
          </a:p>
          <a:p>
            <a:pPr marL="177800" indent="-177800">
              <a:lnSpc>
                <a:spcPct val="120000"/>
              </a:lnSpc>
              <a:spcAft>
                <a:spcPts val="1000"/>
              </a:spcAft>
              <a:buSzPct val="100000"/>
              <a:buChar char="•"/>
            </a:pPr>
            <a:r>
              <a:rPr lang="en-US" sz="1200" dirty="0">
                <a:solidFill>
                  <a:srgbClr val="1B2A57"/>
                </a:solidFill>
                <a:latin typeface="Calibri" pitchFamily="34" charset="0"/>
                <a:ea typeface="Calibri" pitchFamily="34" charset="-122"/>
                <a:cs typeface="Calibri" pitchFamily="34" charset="-120"/>
              </a:rPr>
              <a:t>MRF is the outlier: a negative mean return (-0.74%) despite above-market beta (1.169) — added risk without reward.</a:t>
            </a:r>
            <a:endParaRPr lang="en-US" sz="1200" dirty="0"/>
          </a:p>
        </p:txBody>
      </p:sp>
      <p:sp>
        <p:nvSpPr>
          <p:cNvPr id="8" name="Text 5"/>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9" name="Text 6"/>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9</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21D3E"/>
        </a:solidFill>
        <a:effectLst/>
      </p:bgPr>
    </p:bg>
    <p:spTree>
      <p:nvGrpSpPr>
        <p:cNvPr id="1" name=""/>
        <p:cNvGrpSpPr/>
        <p:nvPr/>
      </p:nvGrpSpPr>
      <p:grpSpPr>
        <a:xfrm>
          <a:off x="0" y="0"/>
          <a:ext cx="0" cy="0"/>
          <a:chOff x="0" y="0"/>
          <a:chExt cx="0" cy="0"/>
        </a:xfrm>
      </p:grpSpPr>
      <p:sp>
        <p:nvSpPr>
          <p:cNvPr id="2" name="Text 0"/>
          <p:cNvSpPr txBox="1"/>
          <p:nvPr/>
        </p:nvSpPr>
        <p:spPr>
          <a:xfrm>
            <a:off x="548640" y="457200"/>
            <a:ext cx="5486400" cy="274320"/>
          </a:xfrm>
          <a:prstGeom prst="rect">
            <a:avLst/>
          </a:prstGeom>
          <a:noFill/>
          <a:ln/>
        </p:spPr>
        <p:txBody>
          <a:bodyPr wrap="square" lIns="0" tIns="0" rIns="0" bIns="0" rtlCol="0" anchor="ctr"/>
          <a:lstStyle/>
          <a:p>
            <a:pPr marL="0" indent="0">
              <a:buNone/>
            </a:pPr>
            <a:r>
              <a:rPr lang="en-US" sz="1100" b="1" kern="0" spc="200" dirty="0">
                <a:solidFill>
                  <a:srgbClr val="B8934A"/>
                </a:solidFill>
                <a:latin typeface="Calibri" pitchFamily="34" charset="0"/>
                <a:ea typeface="Calibri" pitchFamily="34" charset="-122"/>
                <a:cs typeface="Calibri" pitchFamily="34" charset="-120"/>
              </a:rPr>
              <a:t>KEY FINDINGS</a:t>
            </a:r>
            <a:endParaRPr lang="en-US" sz="1100" dirty="0"/>
          </a:p>
        </p:txBody>
      </p:sp>
      <p:sp>
        <p:nvSpPr>
          <p:cNvPr id="3" name="Text 1"/>
          <p:cNvSpPr txBox="1"/>
          <p:nvPr/>
        </p:nvSpPr>
        <p:spPr>
          <a:xfrm>
            <a:off x="548640" y="713232"/>
            <a:ext cx="9144000" cy="566928"/>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Findings &amp; Conclusion</a:t>
            </a:r>
            <a:endParaRPr lang="en-US" sz="3000" dirty="0"/>
          </a:p>
        </p:txBody>
      </p:sp>
      <p:sp>
        <p:nvSpPr>
          <p:cNvPr id="4" name="Shape 2"/>
          <p:cNvSpPr/>
          <p:nvPr/>
        </p:nvSpPr>
        <p:spPr>
          <a:xfrm>
            <a:off x="548640" y="1508760"/>
            <a:ext cx="2606040" cy="2103120"/>
          </a:xfrm>
          <a:prstGeom prst="rect">
            <a:avLst/>
          </a:prstGeom>
          <a:solidFill>
            <a:srgbClr val="2E3F73"/>
          </a:solidFill>
          <a:ln/>
        </p:spPr>
      </p:sp>
      <p:sp>
        <p:nvSpPr>
          <p:cNvPr id="5" name="Shape 3"/>
          <p:cNvSpPr/>
          <p:nvPr/>
        </p:nvSpPr>
        <p:spPr>
          <a:xfrm>
            <a:off x="548640" y="1508760"/>
            <a:ext cx="2606040" cy="54864"/>
          </a:xfrm>
          <a:prstGeom prst="rect">
            <a:avLst/>
          </a:prstGeom>
          <a:solidFill>
            <a:srgbClr val="B8934A"/>
          </a:solidFill>
          <a:ln/>
        </p:spPr>
      </p:sp>
      <p:sp>
        <p:nvSpPr>
          <p:cNvPr id="6" name="Text 4"/>
          <p:cNvSpPr txBox="1"/>
          <p:nvPr/>
        </p:nvSpPr>
        <p:spPr>
          <a:xfrm>
            <a:off x="731520" y="1737360"/>
            <a:ext cx="2240280" cy="320040"/>
          </a:xfrm>
          <a:prstGeom prst="rect">
            <a:avLst/>
          </a:prstGeom>
          <a:noFill/>
          <a:ln/>
        </p:spPr>
        <p:txBody>
          <a:bodyPr wrap="square" lIns="0" tIns="0" rIns="0" bIns="0" rtlCol="0" anchor="ctr"/>
          <a:lstStyle/>
          <a:p>
            <a:pPr marL="0" indent="0">
              <a:buNone/>
            </a:pPr>
            <a:r>
              <a:rPr lang="en-US" sz="1150" b="1" kern="0" spc="100" dirty="0">
                <a:solidFill>
                  <a:srgbClr val="B8934A"/>
                </a:solidFill>
                <a:latin typeface="Calibri" pitchFamily="34" charset="0"/>
                <a:ea typeface="Calibri" pitchFamily="34" charset="-122"/>
                <a:cs typeface="Calibri" pitchFamily="34" charset="-120"/>
              </a:rPr>
              <a:t>RETURN</a:t>
            </a:r>
            <a:endParaRPr lang="en-US" sz="1150" dirty="0"/>
          </a:p>
        </p:txBody>
      </p:sp>
      <p:sp>
        <p:nvSpPr>
          <p:cNvPr id="7" name="Text 5"/>
          <p:cNvSpPr txBox="1"/>
          <p:nvPr/>
        </p:nvSpPr>
        <p:spPr>
          <a:xfrm>
            <a:off x="731520" y="2103120"/>
            <a:ext cx="2240280" cy="137160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CEAT led with +1.72% mean return; MRF was the only stock with a negative mean return (-0.74%).</a:t>
            </a:r>
            <a:endParaRPr lang="en-US" sz="1100" dirty="0"/>
          </a:p>
        </p:txBody>
      </p:sp>
      <p:sp>
        <p:nvSpPr>
          <p:cNvPr id="8" name="Shape 6"/>
          <p:cNvSpPr/>
          <p:nvPr/>
        </p:nvSpPr>
        <p:spPr>
          <a:xfrm>
            <a:off x="3337560" y="1508760"/>
            <a:ext cx="2606040" cy="2103120"/>
          </a:xfrm>
          <a:prstGeom prst="rect">
            <a:avLst/>
          </a:prstGeom>
          <a:solidFill>
            <a:srgbClr val="2E3F73"/>
          </a:solidFill>
          <a:ln/>
        </p:spPr>
      </p:sp>
      <p:sp>
        <p:nvSpPr>
          <p:cNvPr id="9" name="Shape 7"/>
          <p:cNvSpPr/>
          <p:nvPr/>
        </p:nvSpPr>
        <p:spPr>
          <a:xfrm>
            <a:off x="3337560" y="1508760"/>
            <a:ext cx="2606040" cy="54864"/>
          </a:xfrm>
          <a:prstGeom prst="rect">
            <a:avLst/>
          </a:prstGeom>
          <a:solidFill>
            <a:srgbClr val="B8934A"/>
          </a:solidFill>
          <a:ln/>
        </p:spPr>
      </p:sp>
      <p:sp>
        <p:nvSpPr>
          <p:cNvPr id="10" name="Text 8"/>
          <p:cNvSpPr txBox="1"/>
          <p:nvPr/>
        </p:nvSpPr>
        <p:spPr>
          <a:xfrm>
            <a:off x="3520440" y="1737360"/>
            <a:ext cx="2240280" cy="320040"/>
          </a:xfrm>
          <a:prstGeom prst="rect">
            <a:avLst/>
          </a:prstGeom>
          <a:noFill/>
          <a:ln/>
        </p:spPr>
        <p:txBody>
          <a:bodyPr wrap="square" lIns="0" tIns="0" rIns="0" bIns="0" rtlCol="0" anchor="ctr"/>
          <a:lstStyle/>
          <a:p>
            <a:pPr marL="0" indent="0">
              <a:buNone/>
            </a:pPr>
            <a:r>
              <a:rPr lang="en-US" sz="1150" b="1" kern="0" spc="100" dirty="0">
                <a:solidFill>
                  <a:srgbClr val="B8934A"/>
                </a:solidFill>
                <a:latin typeface="Calibri" pitchFamily="34" charset="0"/>
                <a:ea typeface="Calibri" pitchFamily="34" charset="-122"/>
                <a:cs typeface="Calibri" pitchFamily="34" charset="-120"/>
              </a:rPr>
              <a:t>RISK (VARIANCE)</a:t>
            </a:r>
            <a:endParaRPr lang="en-US" sz="1150" dirty="0"/>
          </a:p>
        </p:txBody>
      </p:sp>
      <p:sp>
        <p:nvSpPr>
          <p:cNvPr id="11" name="Text 9"/>
          <p:cNvSpPr txBox="1"/>
          <p:nvPr/>
        </p:nvSpPr>
        <p:spPr>
          <a:xfrm>
            <a:off x="3520440" y="2103120"/>
            <a:ext cx="2240280" cy="137160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NIFTY 50's monthly variance of 0.0833% quantifies market-wide return dispersion, the base used for beta.</a:t>
            </a:r>
            <a:endParaRPr lang="en-US" sz="1100" dirty="0"/>
          </a:p>
        </p:txBody>
      </p:sp>
      <p:sp>
        <p:nvSpPr>
          <p:cNvPr id="12" name="Shape 10"/>
          <p:cNvSpPr/>
          <p:nvPr/>
        </p:nvSpPr>
        <p:spPr>
          <a:xfrm>
            <a:off x="6126480" y="1508760"/>
            <a:ext cx="2606040" cy="2103120"/>
          </a:xfrm>
          <a:prstGeom prst="rect">
            <a:avLst/>
          </a:prstGeom>
          <a:solidFill>
            <a:srgbClr val="2E3F73"/>
          </a:solidFill>
          <a:ln/>
        </p:spPr>
      </p:sp>
      <p:sp>
        <p:nvSpPr>
          <p:cNvPr id="13" name="Shape 11"/>
          <p:cNvSpPr/>
          <p:nvPr/>
        </p:nvSpPr>
        <p:spPr>
          <a:xfrm>
            <a:off x="6126480" y="1508760"/>
            <a:ext cx="2606040" cy="54864"/>
          </a:xfrm>
          <a:prstGeom prst="rect">
            <a:avLst/>
          </a:prstGeom>
          <a:solidFill>
            <a:srgbClr val="B8934A"/>
          </a:solidFill>
          <a:ln/>
        </p:spPr>
      </p:sp>
      <p:sp>
        <p:nvSpPr>
          <p:cNvPr id="14" name="Text 12"/>
          <p:cNvSpPr txBox="1"/>
          <p:nvPr/>
        </p:nvSpPr>
        <p:spPr>
          <a:xfrm>
            <a:off x="6309360" y="1737360"/>
            <a:ext cx="2240280" cy="320040"/>
          </a:xfrm>
          <a:prstGeom prst="rect">
            <a:avLst/>
          </a:prstGeom>
          <a:noFill/>
          <a:ln/>
        </p:spPr>
        <p:txBody>
          <a:bodyPr wrap="square" lIns="0" tIns="0" rIns="0" bIns="0" rtlCol="0" anchor="ctr"/>
          <a:lstStyle/>
          <a:p>
            <a:pPr marL="0" indent="0">
              <a:buNone/>
            </a:pPr>
            <a:r>
              <a:rPr lang="en-US" sz="1150" b="1" kern="0" spc="100" dirty="0">
                <a:solidFill>
                  <a:srgbClr val="B8934A"/>
                </a:solidFill>
                <a:latin typeface="Calibri" pitchFamily="34" charset="0"/>
                <a:ea typeface="Calibri" pitchFamily="34" charset="-122"/>
                <a:cs typeface="Calibri" pitchFamily="34" charset="-120"/>
              </a:rPr>
              <a:t>COVARIANCE</a:t>
            </a:r>
            <a:endParaRPr lang="en-US" sz="1150" dirty="0"/>
          </a:p>
        </p:txBody>
      </p:sp>
      <p:sp>
        <p:nvSpPr>
          <p:cNvPr id="15" name="Text 13"/>
          <p:cNvSpPr txBox="1"/>
          <p:nvPr/>
        </p:nvSpPr>
        <p:spPr>
          <a:xfrm>
            <a:off x="6309360" y="2103120"/>
            <a:ext cx="2240280" cy="137160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All five stocks move positively with the market; CEAT shows the strongest co-movement (r = 0.5243).</a:t>
            </a:r>
            <a:endParaRPr lang="en-US" sz="1100" dirty="0"/>
          </a:p>
        </p:txBody>
      </p:sp>
      <p:sp>
        <p:nvSpPr>
          <p:cNvPr id="16" name="Shape 14"/>
          <p:cNvSpPr/>
          <p:nvPr/>
        </p:nvSpPr>
        <p:spPr>
          <a:xfrm>
            <a:off x="8915400" y="1508760"/>
            <a:ext cx="2606040" cy="2103120"/>
          </a:xfrm>
          <a:prstGeom prst="rect">
            <a:avLst/>
          </a:prstGeom>
          <a:solidFill>
            <a:srgbClr val="2E3F73"/>
          </a:solidFill>
          <a:ln/>
        </p:spPr>
      </p:sp>
      <p:sp>
        <p:nvSpPr>
          <p:cNvPr id="17" name="Shape 15"/>
          <p:cNvSpPr/>
          <p:nvPr/>
        </p:nvSpPr>
        <p:spPr>
          <a:xfrm>
            <a:off x="8915400" y="1508760"/>
            <a:ext cx="2606040" cy="54864"/>
          </a:xfrm>
          <a:prstGeom prst="rect">
            <a:avLst/>
          </a:prstGeom>
          <a:solidFill>
            <a:srgbClr val="B8934A"/>
          </a:solidFill>
          <a:ln/>
        </p:spPr>
      </p:sp>
      <p:sp>
        <p:nvSpPr>
          <p:cNvPr id="18" name="Text 16"/>
          <p:cNvSpPr txBox="1"/>
          <p:nvPr/>
        </p:nvSpPr>
        <p:spPr>
          <a:xfrm>
            <a:off x="9098280" y="1737360"/>
            <a:ext cx="2240280" cy="320040"/>
          </a:xfrm>
          <a:prstGeom prst="rect">
            <a:avLst/>
          </a:prstGeom>
          <a:noFill/>
          <a:ln/>
        </p:spPr>
        <p:txBody>
          <a:bodyPr wrap="square" lIns="0" tIns="0" rIns="0" bIns="0" rtlCol="0" anchor="ctr"/>
          <a:lstStyle/>
          <a:p>
            <a:pPr marL="0" indent="0">
              <a:buNone/>
            </a:pPr>
            <a:r>
              <a:rPr lang="en-US" sz="1150" b="1" kern="0" spc="100" dirty="0">
                <a:solidFill>
                  <a:srgbClr val="B8934A"/>
                </a:solidFill>
                <a:latin typeface="Calibri" pitchFamily="34" charset="0"/>
                <a:ea typeface="Calibri" pitchFamily="34" charset="-122"/>
                <a:cs typeface="Calibri" pitchFamily="34" charset="-120"/>
              </a:rPr>
              <a:t>BETA</a:t>
            </a:r>
            <a:endParaRPr lang="en-US" sz="1150" dirty="0"/>
          </a:p>
        </p:txBody>
      </p:sp>
      <p:sp>
        <p:nvSpPr>
          <p:cNvPr id="19" name="Text 17"/>
          <p:cNvSpPr txBox="1"/>
          <p:nvPr/>
        </p:nvSpPr>
        <p:spPr>
          <a:xfrm>
            <a:off x="9098280" y="2103120"/>
            <a:ext cx="2240280" cy="1371600"/>
          </a:xfrm>
          <a:prstGeom prst="rect">
            <a:avLst/>
          </a:prstGeom>
          <a:noFill/>
          <a:ln/>
        </p:spPr>
        <p:txBody>
          <a:bodyPr wrap="square" lIns="0" tIns="0" rIns="0" bIns="0" rtlCol="0" anchor="ctr"/>
          <a:lstStyle/>
          <a:p>
            <a:pPr marL="0" indent="0">
              <a:lnSpc>
                <a:spcPct val="120000"/>
              </a:lnSpc>
              <a:buNone/>
            </a:pPr>
            <a:r>
              <a:rPr lang="en-US" sz="1100" dirty="0">
                <a:solidFill>
                  <a:srgbClr val="CADCFC"/>
                </a:solidFill>
                <a:latin typeface="Calibri" pitchFamily="34" charset="0"/>
                <a:ea typeface="Calibri" pitchFamily="34" charset="-122"/>
                <a:cs typeface="Calibri" pitchFamily="34" charset="-120"/>
              </a:rPr>
              <a:t>CEAT (1.766) and Apollo (1.618) are most volatile; BLKI (0.735) and VIAZ (0.871) are most defensive.</a:t>
            </a:r>
            <a:endParaRPr lang="en-US" sz="1100" dirty="0"/>
          </a:p>
        </p:txBody>
      </p:sp>
      <p:sp>
        <p:nvSpPr>
          <p:cNvPr id="20" name="Shape 18"/>
          <p:cNvSpPr/>
          <p:nvPr/>
        </p:nvSpPr>
        <p:spPr>
          <a:xfrm>
            <a:off x="548640" y="3840480"/>
            <a:ext cx="11091672" cy="1965960"/>
          </a:xfrm>
          <a:prstGeom prst="rect">
            <a:avLst/>
          </a:prstGeom>
          <a:solidFill>
            <a:srgbClr val="FFFFFF"/>
          </a:solidFill>
          <a:ln/>
        </p:spPr>
      </p:sp>
      <p:sp>
        <p:nvSpPr>
          <p:cNvPr id="21" name="Shape 19"/>
          <p:cNvSpPr/>
          <p:nvPr/>
        </p:nvSpPr>
        <p:spPr>
          <a:xfrm>
            <a:off x="548640" y="3840480"/>
            <a:ext cx="73152" cy="1965960"/>
          </a:xfrm>
          <a:prstGeom prst="rect">
            <a:avLst/>
          </a:prstGeom>
          <a:solidFill>
            <a:srgbClr val="B8934A"/>
          </a:solidFill>
          <a:ln/>
        </p:spPr>
      </p:sp>
      <p:sp>
        <p:nvSpPr>
          <p:cNvPr id="22" name="Text 20"/>
          <p:cNvSpPr txBox="1"/>
          <p:nvPr/>
        </p:nvSpPr>
        <p:spPr>
          <a:xfrm>
            <a:off x="868680" y="4041648"/>
            <a:ext cx="10424160" cy="292608"/>
          </a:xfrm>
          <a:prstGeom prst="rect">
            <a:avLst/>
          </a:prstGeom>
          <a:noFill/>
          <a:ln/>
        </p:spPr>
        <p:txBody>
          <a:bodyPr wrap="square" lIns="0" tIns="0" rIns="0" bIns="0" rtlCol="0" anchor="ctr"/>
          <a:lstStyle/>
          <a:p>
            <a:pPr marL="0" indent="0">
              <a:buNone/>
            </a:pPr>
            <a:r>
              <a:rPr lang="en-US" sz="1200" b="1" kern="0" spc="150" dirty="0">
                <a:solidFill>
                  <a:srgbClr val="B8934A"/>
                </a:solidFill>
                <a:latin typeface="Calibri" pitchFamily="34" charset="0"/>
                <a:ea typeface="Calibri" pitchFamily="34" charset="-122"/>
                <a:cs typeface="Calibri" pitchFamily="34" charset="-120"/>
              </a:rPr>
              <a:t>OVERALL CONCLUSION</a:t>
            </a:r>
            <a:endParaRPr lang="en-US" sz="1200" dirty="0"/>
          </a:p>
        </p:txBody>
      </p:sp>
      <p:sp>
        <p:nvSpPr>
          <p:cNvPr id="23" name="Text 21"/>
          <p:cNvSpPr txBox="1"/>
          <p:nvPr/>
        </p:nvSpPr>
        <p:spPr>
          <a:xfrm>
            <a:off x="868680" y="4370832"/>
            <a:ext cx="10424160" cy="1371600"/>
          </a:xfrm>
          <a:prstGeom prst="rect">
            <a:avLst/>
          </a:prstGeom>
          <a:noFill/>
          <a:ln/>
        </p:spPr>
        <p:txBody>
          <a:bodyPr wrap="square" lIns="0" tIns="0" rIns="0" bIns="0" rtlCol="0" anchor="ctr"/>
          <a:lstStyle/>
          <a:p>
            <a:pPr marL="0" indent="0">
              <a:lnSpc>
                <a:spcPct val="125000"/>
              </a:lnSpc>
              <a:buNone/>
            </a:pPr>
            <a:r>
              <a:rPr lang="en-US" sz="1250" dirty="0">
                <a:solidFill>
                  <a:srgbClr val="1B2A57"/>
                </a:solidFill>
                <a:latin typeface="Calibri" pitchFamily="34" charset="0"/>
                <a:ea typeface="Calibri" pitchFamily="34" charset="-122"/>
                <a:cs typeface="Calibri" pitchFamily="34" charset="-120"/>
              </a:rPr>
              <a:t>The comparative analysis indicates that CEAT and Apollo Tyres offer the highest return potential but carry the greatest market risk, suited to aggressive investors. BLKI Tyres and VIAZ Tyres behave defensively, with betas below 1 and steadier, lower returns, making them appropriate for risk-averse investors seeking stability. MRF presents a moderate-to-high risk profile without a corresponding positive return over the period studied, and warrants caution. Across all five companies, correlation with NIFTY 50 remains positive but moderate-to-low, suggesting company-specific factors play a meaningful role alongside broad market movement in driving returns.</a:t>
            </a:r>
            <a:endParaRPr lang="en-US" sz="1250" dirty="0"/>
          </a:p>
        </p:txBody>
      </p:sp>
      <p:sp>
        <p:nvSpPr>
          <p:cNvPr id="24" name="Text 22"/>
          <p:cNvSpPr txBox="1"/>
          <p:nvPr/>
        </p:nvSpPr>
        <p:spPr>
          <a:xfrm>
            <a:off x="457200" y="6547104"/>
            <a:ext cx="8229600" cy="256032"/>
          </a:xfrm>
          <a:prstGeom prst="rect">
            <a:avLst/>
          </a:prstGeom>
          <a:noFill/>
          <a:ln/>
        </p:spPr>
        <p:txBody>
          <a:bodyPr wrap="square" lIns="0" tIns="0" rIns="0" bIns="0" rtlCol="0" anchor="ctr"/>
          <a:lstStyle/>
          <a:p>
            <a:pPr marL="0" indent="0">
              <a:buNone/>
            </a:pPr>
            <a:r>
              <a:rPr lang="en-US" sz="800" dirty="0">
                <a:solidFill>
                  <a:srgbClr val="5C6788"/>
                </a:solidFill>
                <a:latin typeface="Calibri" pitchFamily="34" charset="0"/>
                <a:ea typeface="Calibri" pitchFamily="34" charset="-122"/>
                <a:cs typeface="Calibri" pitchFamily="34" charset="-120"/>
              </a:rPr>
              <a:t>STRATEGIC INVESTMENT MANAGEMENT  |  PART A: RISK &amp; RETURN ANALYSIS</a:t>
            </a:r>
            <a:endParaRPr lang="en-US" sz="800" dirty="0"/>
          </a:p>
        </p:txBody>
      </p:sp>
      <p:sp>
        <p:nvSpPr>
          <p:cNvPr id="25" name="Text 23"/>
          <p:cNvSpPr txBox="1"/>
          <p:nvPr/>
        </p:nvSpPr>
        <p:spPr>
          <a:xfrm>
            <a:off x="11430000" y="6547104"/>
            <a:ext cx="457200" cy="256032"/>
          </a:xfrm>
          <a:prstGeom prst="rect">
            <a:avLst/>
          </a:prstGeom>
          <a:noFill/>
          <a:ln/>
        </p:spPr>
        <p:txBody>
          <a:bodyPr wrap="square" lIns="0" tIns="0" rIns="0" bIns="0" rtlCol="0" anchor="ctr"/>
          <a:lstStyle/>
          <a:p>
            <a:pPr marL="0" indent="0" algn="r">
              <a:buNone/>
            </a:pPr>
            <a:r>
              <a:rPr lang="en-US" sz="800" dirty="0">
                <a:solidFill>
                  <a:srgbClr val="5C6788"/>
                </a:solidFill>
                <a:latin typeface="Calibri" pitchFamily="34" charset="0"/>
                <a:ea typeface="Calibri" pitchFamily="34" charset="-122"/>
                <a:cs typeface="Calibri" pitchFamily="34" charset="-120"/>
              </a:rPr>
              <a:t>10</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1288</Words>
  <Application>Microsoft Office PowerPoint</Application>
  <PresentationFormat>Widescreen</PresentationFormat>
  <Paragraphs>246</Paragraphs>
  <Slides>10</Slides>
  <Notes>10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10</vt:i4>
      </vt:variant>
    </vt:vector>
  </HeadingPairs>
  <TitlesOfParts>
    <vt:vector size="14"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Dell</cp:lastModifiedBy>
  <cp:revision>2</cp:revision>
  <dcterms:created xsi:type="dcterms:W3CDTF">2026-09-07T06:10:30Z</dcterms:created>
  <dcterms:modified xsi:type="dcterms:W3CDTF">2026-09-07T06:13:30Z</dcterms:modified>
</cp:coreProperties>
</file>